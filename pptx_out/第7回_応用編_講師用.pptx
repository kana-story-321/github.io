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【オープニング】中級者向け：リマインドメール自動化。基礎組向け：商談ログをデータベース的に分析する体験。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【話す内容】「無理しない」を強調。中級コースを選んでもエラー連発で進まない場合は途中で基礎組に切替OK。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【ポイント】中級者向けの演習。エラーは Gemini との往復で解消。
【時間配分】20分。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【ポイント】「自動化したシステムが、いつ動かなくなるか分からない」を体感。エラー通知は実務必須。
【時間配分】15分。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【ポイント】「コードを書かなくてもこれだけできる」を体感。GASは万能ではなく、ピボットだけで十分なことも多い。
【時間配分】20分。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【締めトーク】GAS編はここまで。次回は別テーマに進む。
【講師補足】業務で実際に運用する際は社内ルール（自動送信メールの取扱い、データ連携の範囲など）を必ず確認、と一言。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468880"/>
            <a:ext cx="12191695" cy="109728"/>
          </a:xfrm>
          <a:prstGeom prst="rect">
            <a:avLst/>
          </a:prstGeom>
          <a:solidFill>
            <a:srgbClr val="1F3A5F"/>
          </a:solidFill>
          <a:ln w="12700">
            <a:solidFill>
              <a:srgbClr val="1F3A5F"/>
            </a:solidFill>
            <a:prstDash val="solid"/>
          </a:ln>
        </p:spPr>
        <p:txBody>
          <a:bodyPr/>
          <a:p/>
        </p:txBody>
      </p:sp>
      <p:sp>
        <p:nvSpPr>
          <p:cNvPr id="3" name="Shape 1"/>
          <p:cNvSpPr/>
          <p:nvPr/>
        </p:nvSpPr>
        <p:spPr>
          <a:xfrm>
            <a:off x="0" y="2578608"/>
            <a:ext cx="12191695" cy="36576"/>
          </a:xfrm>
          <a:prstGeom prst="rect">
            <a:avLst/>
          </a:prstGeom>
          <a:solidFill>
            <a:srgbClr val="F39C12"/>
          </a:solidFill>
          <a:ln w="12700">
            <a:solidFill>
              <a:srgbClr val="F39C12"/>
            </a:solidFill>
            <a:prstDash val="solid"/>
          </a:ln>
        </p:spPr>
        <p:txBody>
          <a:bodyPr/>
          <a:p/>
        </p:txBody>
      </p:sp>
      <p:sp>
        <p:nvSpPr>
          <p:cNvPr id="4" name="Text 2"/>
          <p:cNvSpPr/>
          <p:nvPr/>
        </p:nvSpPr>
        <p:spPr>
          <a:xfrm>
            <a:off x="457200" y="822960"/>
            <a:ext cx="11247120" cy="731520"/>
          </a:xfrm>
          <a:prstGeom prst="rect">
            <a:avLst/>
          </a:prstGeom>
          <a:noFill/>
          <a:ln/>
        </p:spPr>
        <p:txBody>
          <a:bodyPr wrap="square" rtlCol="0" anchor="ctr"/>
          <a:lstStyle/>
          <a:p>
            <a:pPr algn="ctr" indent="0" marL="0">
              <a:buNone/>
            </a:pPr>
            <a:r>
              <a:rPr lang="en-US" sz="2800" b="1" dirty="0">
                <a:solidFill>
                  <a:srgbClr val="F39C12"/>
                </a:solidFill>
                <a:latin typeface="Yu Gothic UI" pitchFamily="34" charset="0"/>
                <a:ea typeface="Yu Gothic UI" pitchFamily="34" charset="-122"/>
                <a:cs typeface="Yu Gothic UI" pitchFamily="34" charset="-120"/>
              </a:rPr>
              <a:t>第 7 回</a:t>
            </a:r>
            <a:endParaRPr lang="en-US" sz="2800" dirty="0"/>
          </a:p>
        </p:txBody>
      </p:sp>
      <p:sp>
        <p:nvSpPr>
          <p:cNvPr id="5" name="Text 3"/>
          <p:cNvSpPr/>
          <p:nvPr/>
        </p:nvSpPr>
        <p:spPr>
          <a:xfrm>
            <a:off x="457200" y="1463040"/>
            <a:ext cx="11247120" cy="1005840"/>
          </a:xfrm>
          <a:prstGeom prst="rect">
            <a:avLst/>
          </a:prstGeom>
          <a:noFill/>
          <a:ln/>
        </p:spPr>
        <p:txBody>
          <a:bodyPr wrap="square" rtlCol="0" anchor="ctr"/>
          <a:lstStyle/>
          <a:p>
            <a:pPr algn="ctr" indent="0" marL="0">
              <a:buNone/>
            </a:pPr>
            <a:r>
              <a:rPr lang="en-US" sz="4400" b="1" dirty="0">
                <a:solidFill>
                  <a:srgbClr val="1F3A5F"/>
                </a:solidFill>
                <a:latin typeface="Yu Gothic UI" pitchFamily="34" charset="0"/>
                <a:ea typeface="Yu Gothic UI" pitchFamily="34" charset="-122"/>
                <a:cs typeface="Yu Gothic UI" pitchFamily="34" charset="-120"/>
              </a:rPr>
              <a:t>GASを使いこなす</a:t>
            </a:r>
            <a:endParaRPr lang="en-US" sz="4400" dirty="0"/>
          </a:p>
        </p:txBody>
      </p:sp>
      <p:sp>
        <p:nvSpPr>
          <p:cNvPr id="6" name="Text 4"/>
          <p:cNvSpPr/>
          <p:nvPr/>
        </p:nvSpPr>
        <p:spPr>
          <a:xfrm>
            <a:off x="457200" y="2834640"/>
            <a:ext cx="11247120" cy="822960"/>
          </a:xfrm>
          <a:prstGeom prst="rect">
            <a:avLst/>
          </a:prstGeom>
          <a:noFill/>
          <a:ln/>
        </p:spPr>
        <p:txBody>
          <a:bodyPr wrap="square" rtlCol="0" anchor="ctr"/>
          <a:lstStyle/>
          <a:p>
            <a:pPr algn="ctr" indent="0" marL="0">
              <a:buNone/>
            </a:pPr>
            <a:r>
              <a:rPr lang="en-US" sz="2400" dirty="0">
                <a:solidFill>
                  <a:srgbClr val="4A6FA5"/>
                </a:solidFill>
                <a:latin typeface="Yu Gothic UI" pitchFamily="34" charset="0"/>
                <a:ea typeface="Yu Gothic UI" pitchFamily="34" charset="-122"/>
                <a:cs typeface="Yu Gothic UI" pitchFamily="34" charset="-120"/>
              </a:rPr>
              <a:t>〜 議事録から顧客情報シートへ自動反映 〜</a:t>
            </a:r>
            <a:endParaRPr lang="en-US" sz="2400" dirty="0"/>
          </a:p>
        </p:txBody>
      </p:sp>
      <p:sp>
        <p:nvSpPr>
          <p:cNvPr id="7" name="Text 5"/>
          <p:cNvSpPr/>
          <p:nvPr/>
        </p:nvSpPr>
        <p:spPr>
          <a:xfrm>
            <a:off x="457200" y="4023360"/>
            <a:ext cx="11247120" cy="640080"/>
          </a:xfrm>
          <a:prstGeom prst="rect">
            <a:avLst/>
          </a:prstGeom>
          <a:noFill/>
          <a:ln/>
        </p:spPr>
        <p:txBody>
          <a:bodyPr wrap="square" rtlCol="0" anchor="ctr"/>
          <a:lstStyle/>
          <a:p>
            <a:pPr algn="ctr" indent="0" marL="0">
              <a:buNone/>
            </a:pPr>
            <a:r>
              <a:rPr lang="en-US" sz="2200" i="1" dirty="0">
                <a:solidFill>
                  <a:srgbClr val="555555"/>
                </a:solidFill>
                <a:latin typeface="Yu Gothic UI" pitchFamily="34" charset="0"/>
                <a:ea typeface="Yu Gothic UI" pitchFamily="34" charset="-122"/>
                <a:cs typeface="Yu Gothic UI" pitchFamily="34" charset="-120"/>
              </a:rPr>
              <a:t>応用編（02）</a:t>
            </a:r>
            <a:endParaRPr lang="en-US" sz="2200" dirty="0"/>
          </a:p>
        </p:txBody>
      </p:sp>
      <p:sp>
        <p:nvSpPr>
          <p:cNvPr id="8" name="Shape 6"/>
          <p:cNvSpPr/>
          <p:nvPr/>
        </p:nvSpPr>
        <p:spPr>
          <a:xfrm>
            <a:off x="4572000" y="5029200"/>
            <a:ext cx="3047695" cy="640080"/>
          </a:xfrm>
          <a:prstGeom prst="roundRect">
            <a:avLst>
              <a:gd name="adj" fmla="val 11429"/>
            </a:avLst>
          </a:prstGeom>
          <a:solidFill>
            <a:srgbClr val="F39C12"/>
          </a:solidFill>
          <a:ln w="12700">
            <a:solidFill>
              <a:srgbClr val="F39C12"/>
            </a:solidFill>
            <a:prstDash val="solid"/>
          </a:ln>
        </p:spPr>
        <p:txBody>
          <a:bodyPr/>
          <a:p/>
        </p:txBody>
      </p:sp>
      <p:sp>
        <p:nvSpPr>
          <p:cNvPr id="9" name="Text 7"/>
          <p:cNvSpPr/>
          <p:nvPr/>
        </p:nvSpPr>
        <p:spPr>
          <a:xfrm>
            <a:off x="4572000" y="5029200"/>
            <a:ext cx="3047695" cy="640080"/>
          </a:xfrm>
          <a:prstGeom prst="rect">
            <a:avLst/>
          </a:prstGeom>
          <a:noFill/>
          <a:ln/>
        </p:spPr>
        <p:txBody>
          <a:bodyPr wrap="square" rtlCol="0" anchor="ctr"/>
          <a:lstStyle/>
          <a:p>
            <a:pPr algn="ctr" indent="0" marL="0">
              <a:buNone/>
            </a:pPr>
            <a:r>
              <a:rPr lang="en-US" sz="2200" b="1" dirty="0">
                <a:solidFill>
                  <a:srgbClr val="FFFFFF"/>
                </a:solidFill>
                <a:latin typeface="Yu Gothic UI" pitchFamily="34" charset="0"/>
                <a:ea typeface="Yu Gothic UI" pitchFamily="34" charset="-122"/>
                <a:cs typeface="Yu Gothic UI" pitchFamily="34" charset="-120"/>
              </a:rPr>
              <a:t>講師用</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3A5F"/>
          </a:solidFill>
          <a:ln w="12700">
            <a:solidFill>
              <a:srgbClr val="1F3A5F"/>
            </a:solidFill>
            <a:prstDash val="solid"/>
          </a:ln>
        </p:spPr>
        <p:txBody>
          <a:bodyPr/>
          <a:p/>
        </p:txBody>
      </p:sp>
      <p:sp>
        <p:nvSpPr>
          <p:cNvPr id="3" name="Shape 1"/>
          <p:cNvSpPr/>
          <p:nvPr/>
        </p:nvSpPr>
        <p:spPr>
          <a:xfrm>
            <a:off x="0" y="777240"/>
            <a:ext cx="12191695" cy="73152"/>
          </a:xfrm>
          <a:prstGeom prst="rect">
            <a:avLst/>
          </a:prstGeom>
          <a:solidFill>
            <a:srgbClr val="F39C12"/>
          </a:solidFill>
          <a:ln w="12700">
            <a:solidFill>
              <a:srgbClr val="F39C12"/>
            </a:solidFill>
            <a:prstDash val="solid"/>
          </a:ln>
        </p:spPr>
        <p:txBody>
          <a:bodyPr/>
          <a:p/>
        </p:txBody>
      </p:sp>
      <p:sp>
        <p:nvSpPr>
          <p:cNvPr id="4" name="Text 2"/>
          <p:cNvSpPr/>
          <p:nvPr/>
        </p:nvSpPr>
        <p:spPr>
          <a:xfrm>
            <a:off x="365760" y="91440"/>
            <a:ext cx="1143000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今日のゴール</a:t>
            </a:r>
            <a:endParaRPr lang="en-US" sz="2600" dirty="0"/>
          </a:p>
        </p:txBody>
      </p:sp>
      <p:sp>
        <p:nvSpPr>
          <p:cNvPr id="5" name="Text 3"/>
          <p:cNvSpPr/>
          <p:nvPr/>
        </p:nvSpPr>
        <p:spPr>
          <a:xfrm>
            <a:off x="457200" y="1051560"/>
            <a:ext cx="11247120" cy="548640"/>
          </a:xfrm>
          <a:prstGeom prst="rect">
            <a:avLst/>
          </a:prstGeom>
          <a:noFill/>
          <a:ln/>
        </p:spPr>
        <p:txBody>
          <a:bodyPr wrap="square" rtlCol="0" anchor="ctr"/>
          <a:lstStyle/>
          <a:p>
            <a:pPr indent="0" marL="0">
              <a:buNone/>
            </a:pPr>
            <a:r>
              <a:rPr lang="en-US" sz="2000" dirty="0">
                <a:solidFill>
                  <a:srgbClr val="555555"/>
                </a:solidFill>
                <a:latin typeface="Yu Gothic UI" pitchFamily="34" charset="0"/>
                <a:ea typeface="Yu Gothic UI" pitchFamily="34" charset="-122"/>
                <a:cs typeface="Yu Gothic UI" pitchFamily="34" charset="-120"/>
              </a:rPr>
              <a:t>応用編は「議事録→顧客情報シート更新」と「コードなしでAI抽出体験」の2本立て。自分のレベルに合わせて選んでください。</a:t>
            </a:r>
            <a:endParaRPr lang="en-US" sz="2000" dirty="0"/>
          </a:p>
        </p:txBody>
      </p:sp>
      <p:sp>
        <p:nvSpPr>
          <p:cNvPr id="6" name="Shape 4"/>
          <p:cNvSpPr/>
          <p:nvPr/>
        </p:nvSpPr>
        <p:spPr>
          <a:xfrm>
            <a:off x="457200" y="1828800"/>
            <a:ext cx="11247120" cy="1280160"/>
          </a:xfrm>
          <a:prstGeom prst="roundRect">
            <a:avLst>
              <a:gd name="adj" fmla="val 4286"/>
            </a:avLst>
          </a:prstGeom>
          <a:solidFill>
            <a:srgbClr val="F4F8FC"/>
          </a:solidFill>
          <a:ln w="12700">
            <a:solidFill>
              <a:srgbClr val="4A6FA5"/>
            </a:solidFill>
            <a:prstDash val="solid"/>
          </a:ln>
        </p:spPr>
        <p:txBody>
          <a:bodyPr/>
          <a:p/>
        </p:txBody>
      </p:sp>
      <p:sp>
        <p:nvSpPr>
          <p:cNvPr id="7" name="Text 5"/>
          <p:cNvSpPr/>
          <p:nvPr/>
        </p:nvSpPr>
        <p:spPr>
          <a:xfrm>
            <a:off x="640080" y="2011680"/>
            <a:ext cx="822960" cy="914400"/>
          </a:xfrm>
          <a:prstGeom prst="rect">
            <a:avLst/>
          </a:prstGeom>
          <a:noFill/>
          <a:ln/>
        </p:spPr>
        <p:txBody>
          <a:bodyPr wrap="square" rtlCol="0" anchor="ctr"/>
          <a:lstStyle/>
          <a:p>
            <a:pPr indent="0" marL="0">
              <a:buNone/>
            </a:pPr>
            <a:r>
              <a:rPr lang="en-US" sz="4400" b="1" dirty="0">
                <a:solidFill>
                  <a:srgbClr val="F39C12"/>
                </a:solidFill>
                <a:latin typeface="Yu Gothic UI" pitchFamily="34" charset="0"/>
                <a:ea typeface="Yu Gothic UI" pitchFamily="34" charset="-122"/>
                <a:cs typeface="Yu Gothic UI" pitchFamily="34" charset="-120"/>
              </a:rPr>
              <a:t>①</a:t>
            </a:r>
            <a:endParaRPr lang="en-US" sz="4400" dirty="0"/>
          </a:p>
        </p:txBody>
      </p:sp>
      <p:sp>
        <p:nvSpPr>
          <p:cNvPr id="8" name="Text 6"/>
          <p:cNvSpPr/>
          <p:nvPr/>
        </p:nvSpPr>
        <p:spPr>
          <a:xfrm>
            <a:off x="1691640" y="1965960"/>
            <a:ext cx="9555480" cy="502920"/>
          </a:xfrm>
          <a:prstGeom prst="rect">
            <a:avLst/>
          </a:prstGeom>
          <a:noFill/>
          <a:ln/>
        </p:spPr>
        <p:txBody>
          <a:bodyPr wrap="square" rtlCol="0" anchor="ctr"/>
          <a:lstStyle/>
          <a:p>
            <a:pPr indent="0" marL="0">
              <a:buNone/>
            </a:pPr>
            <a:r>
              <a:rPr lang="en-US" sz="2400" b="1" dirty="0">
                <a:solidFill>
                  <a:srgbClr val="1F3A5F"/>
                </a:solidFill>
                <a:latin typeface="Yu Gothic UI" pitchFamily="34" charset="0"/>
                <a:ea typeface="Yu Gothic UI" pitchFamily="34" charset="-122"/>
                <a:cs typeface="Yu Gothic UI" pitchFamily="34" charset="-120"/>
              </a:rPr>
              <a:t>中級：議事録→顧客情報シート自動更新</a:t>
            </a:r>
            <a:endParaRPr lang="en-US" sz="2400" dirty="0"/>
          </a:p>
        </p:txBody>
      </p:sp>
      <p:sp>
        <p:nvSpPr>
          <p:cNvPr id="9" name="Text 7"/>
          <p:cNvSpPr/>
          <p:nvPr/>
        </p:nvSpPr>
        <p:spPr>
          <a:xfrm>
            <a:off x="1691640" y="2514600"/>
            <a:ext cx="9555480" cy="50292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議事録から顧客情報を抽出して反映するGASを自作</a:t>
            </a:r>
            <a:endParaRPr lang="en-US" sz="2000" dirty="0"/>
          </a:p>
        </p:txBody>
      </p:sp>
      <p:sp>
        <p:nvSpPr>
          <p:cNvPr id="10" name="Shape 8"/>
          <p:cNvSpPr/>
          <p:nvPr/>
        </p:nvSpPr>
        <p:spPr>
          <a:xfrm>
            <a:off x="457200" y="3246120"/>
            <a:ext cx="11247120" cy="1280160"/>
          </a:xfrm>
          <a:prstGeom prst="roundRect">
            <a:avLst>
              <a:gd name="adj" fmla="val 4286"/>
            </a:avLst>
          </a:prstGeom>
          <a:solidFill>
            <a:srgbClr val="F4F8FC"/>
          </a:solidFill>
          <a:ln w="12700">
            <a:solidFill>
              <a:srgbClr val="4A6FA5"/>
            </a:solidFill>
            <a:prstDash val="solid"/>
          </a:ln>
        </p:spPr>
        <p:txBody>
          <a:bodyPr/>
          <a:p/>
        </p:txBody>
      </p:sp>
      <p:sp>
        <p:nvSpPr>
          <p:cNvPr id="11" name="Text 9"/>
          <p:cNvSpPr/>
          <p:nvPr/>
        </p:nvSpPr>
        <p:spPr>
          <a:xfrm>
            <a:off x="640080" y="3429000"/>
            <a:ext cx="822960" cy="914400"/>
          </a:xfrm>
          <a:prstGeom prst="rect">
            <a:avLst/>
          </a:prstGeom>
          <a:noFill/>
          <a:ln/>
        </p:spPr>
        <p:txBody>
          <a:bodyPr wrap="square" rtlCol="0" anchor="ctr"/>
          <a:lstStyle/>
          <a:p>
            <a:pPr indent="0" marL="0">
              <a:buNone/>
            </a:pPr>
            <a:r>
              <a:rPr lang="en-US" sz="4400" b="1" dirty="0">
                <a:solidFill>
                  <a:srgbClr val="F39C12"/>
                </a:solidFill>
                <a:latin typeface="Yu Gothic UI" pitchFamily="34" charset="0"/>
                <a:ea typeface="Yu Gothic UI" pitchFamily="34" charset="-122"/>
                <a:cs typeface="Yu Gothic UI" pitchFamily="34" charset="-120"/>
              </a:rPr>
              <a:t>②</a:t>
            </a:r>
            <a:endParaRPr lang="en-US" sz="4400" dirty="0"/>
          </a:p>
        </p:txBody>
      </p:sp>
      <p:sp>
        <p:nvSpPr>
          <p:cNvPr id="12" name="Text 10"/>
          <p:cNvSpPr/>
          <p:nvPr/>
        </p:nvSpPr>
        <p:spPr>
          <a:xfrm>
            <a:off x="1691640" y="3383280"/>
            <a:ext cx="9555480" cy="502920"/>
          </a:xfrm>
          <a:prstGeom prst="rect">
            <a:avLst/>
          </a:prstGeom>
          <a:noFill/>
          <a:ln/>
        </p:spPr>
        <p:txBody>
          <a:bodyPr wrap="square" rtlCol="0" anchor="ctr"/>
          <a:lstStyle/>
          <a:p>
            <a:pPr indent="0" marL="0">
              <a:buNone/>
            </a:pPr>
            <a:r>
              <a:rPr lang="en-US" sz="2400" b="1" dirty="0">
                <a:solidFill>
                  <a:srgbClr val="1F3A5F"/>
                </a:solidFill>
                <a:latin typeface="Yu Gothic UI" pitchFamily="34" charset="0"/>
                <a:ea typeface="Yu Gothic UI" pitchFamily="34" charset="-122"/>
                <a:cs typeface="Yu Gothic UI" pitchFamily="34" charset="-120"/>
              </a:rPr>
              <a:t>基礎：チャットで顧客情報を抽出</a:t>
            </a:r>
            <a:endParaRPr lang="en-US" sz="2400" dirty="0"/>
          </a:p>
        </p:txBody>
      </p:sp>
      <p:sp>
        <p:nvSpPr>
          <p:cNvPr id="13" name="Text 11"/>
          <p:cNvSpPr/>
          <p:nvPr/>
        </p:nvSpPr>
        <p:spPr>
          <a:xfrm>
            <a:off x="1691640" y="3931920"/>
            <a:ext cx="9555480" cy="50292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コードを書かず Gemini チャットだけで体験</a:t>
            </a:r>
            <a:endParaRPr lang="en-US" sz="2000" dirty="0"/>
          </a:p>
        </p:txBody>
      </p:sp>
      <p:sp>
        <p:nvSpPr>
          <p:cNvPr id="14" name="Shape 12"/>
          <p:cNvSpPr/>
          <p:nvPr/>
        </p:nvSpPr>
        <p:spPr>
          <a:xfrm>
            <a:off x="457200" y="4663440"/>
            <a:ext cx="11247120" cy="1280160"/>
          </a:xfrm>
          <a:prstGeom prst="roundRect">
            <a:avLst>
              <a:gd name="adj" fmla="val 4286"/>
            </a:avLst>
          </a:prstGeom>
          <a:solidFill>
            <a:srgbClr val="F4F8FC"/>
          </a:solidFill>
          <a:ln w="12700">
            <a:solidFill>
              <a:srgbClr val="4A6FA5"/>
            </a:solidFill>
            <a:prstDash val="solid"/>
          </a:ln>
        </p:spPr>
        <p:txBody>
          <a:bodyPr/>
          <a:p/>
        </p:txBody>
      </p:sp>
      <p:sp>
        <p:nvSpPr>
          <p:cNvPr id="15" name="Text 13"/>
          <p:cNvSpPr/>
          <p:nvPr/>
        </p:nvSpPr>
        <p:spPr>
          <a:xfrm>
            <a:off x="640080" y="4846320"/>
            <a:ext cx="822960" cy="914400"/>
          </a:xfrm>
          <a:prstGeom prst="rect">
            <a:avLst/>
          </a:prstGeom>
          <a:noFill/>
          <a:ln/>
        </p:spPr>
        <p:txBody>
          <a:bodyPr wrap="square" rtlCol="0" anchor="ctr"/>
          <a:lstStyle/>
          <a:p>
            <a:pPr indent="0" marL="0">
              <a:buNone/>
            </a:pPr>
            <a:r>
              <a:rPr lang="en-US" sz="4400" b="1" dirty="0">
                <a:solidFill>
                  <a:srgbClr val="F39C12"/>
                </a:solidFill>
                <a:latin typeface="Yu Gothic UI" pitchFamily="34" charset="0"/>
                <a:ea typeface="Yu Gothic UI" pitchFamily="34" charset="-122"/>
                <a:cs typeface="Yu Gothic UI" pitchFamily="34" charset="-120"/>
              </a:rPr>
              <a:t>③</a:t>
            </a:r>
            <a:endParaRPr lang="en-US" sz="4400" dirty="0"/>
          </a:p>
        </p:txBody>
      </p:sp>
      <p:sp>
        <p:nvSpPr>
          <p:cNvPr id="16" name="Text 14"/>
          <p:cNvSpPr/>
          <p:nvPr/>
        </p:nvSpPr>
        <p:spPr>
          <a:xfrm>
            <a:off x="1691640" y="4800600"/>
            <a:ext cx="9555480" cy="502920"/>
          </a:xfrm>
          <a:prstGeom prst="rect">
            <a:avLst/>
          </a:prstGeom>
          <a:noFill/>
          <a:ln/>
        </p:spPr>
        <p:txBody>
          <a:bodyPr wrap="square" rtlCol="0" anchor="ctr"/>
          <a:lstStyle/>
          <a:p>
            <a:pPr indent="0" marL="0">
              <a:buNone/>
            </a:pPr>
            <a:r>
              <a:rPr lang="en-US" sz="2400" b="1" dirty="0">
                <a:solidFill>
                  <a:srgbClr val="1F3A5F"/>
                </a:solidFill>
                <a:latin typeface="Yu Gothic UI" pitchFamily="34" charset="0"/>
                <a:ea typeface="Yu Gothic UI" pitchFamily="34" charset="-122"/>
                <a:cs typeface="Yu Gothic UI" pitchFamily="34" charset="-120"/>
              </a:rPr>
              <a:t>両者共通：自分のペースで</a:t>
            </a:r>
            <a:endParaRPr lang="en-US" sz="2400" dirty="0"/>
          </a:p>
        </p:txBody>
      </p:sp>
      <p:sp>
        <p:nvSpPr>
          <p:cNvPr id="17" name="Text 15"/>
          <p:cNvSpPr/>
          <p:nvPr/>
        </p:nvSpPr>
        <p:spPr>
          <a:xfrm>
            <a:off x="1691640" y="5349240"/>
            <a:ext cx="9555480" cy="50292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無理せず、できる範囲で完成させる</a:t>
            </a:r>
            <a:endParaRPr lang="en-US" sz="2000" dirty="0"/>
          </a:p>
        </p:txBody>
      </p:sp>
      <p:sp>
        <p:nvSpPr>
          <p:cNvPr id="18" name="Text 16"/>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2 / 8</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3A5F"/>
          </a:solidFill>
          <a:ln w="12700">
            <a:solidFill>
              <a:srgbClr val="1F3A5F"/>
            </a:solidFill>
            <a:prstDash val="solid"/>
          </a:ln>
        </p:spPr>
        <p:txBody>
          <a:bodyPr/>
          <a:p/>
        </p:txBody>
      </p:sp>
      <p:sp>
        <p:nvSpPr>
          <p:cNvPr id="3" name="Shape 1"/>
          <p:cNvSpPr/>
          <p:nvPr/>
        </p:nvSpPr>
        <p:spPr>
          <a:xfrm>
            <a:off x="0" y="777240"/>
            <a:ext cx="12191695" cy="73152"/>
          </a:xfrm>
          <a:prstGeom prst="rect">
            <a:avLst/>
          </a:prstGeom>
          <a:solidFill>
            <a:srgbClr val="F39C12"/>
          </a:solidFill>
          <a:ln w="12700">
            <a:solidFill>
              <a:srgbClr val="F39C12"/>
            </a:solidFill>
            <a:prstDash val="solid"/>
          </a:ln>
        </p:spPr>
        <p:txBody>
          <a:bodyPr/>
          <a:p/>
        </p:txBody>
      </p:sp>
      <p:sp>
        <p:nvSpPr>
          <p:cNvPr id="4" name="Text 2"/>
          <p:cNvSpPr/>
          <p:nvPr/>
        </p:nvSpPr>
        <p:spPr>
          <a:xfrm>
            <a:off x="365760" y="91440"/>
            <a:ext cx="1143000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今日の流れ</a:t>
            </a:r>
            <a:endParaRPr lang="en-US" sz="2600" dirty="0"/>
          </a:p>
        </p:txBody>
      </p:sp>
      <p:sp>
        <p:nvSpPr>
          <p:cNvPr id="5" name="Text 3"/>
          <p:cNvSpPr/>
          <p:nvPr/>
        </p:nvSpPr>
        <p:spPr>
          <a:xfrm>
            <a:off x="457200" y="1051560"/>
            <a:ext cx="11247120" cy="457200"/>
          </a:xfrm>
          <a:prstGeom prst="rect">
            <a:avLst/>
          </a:prstGeom>
          <a:noFill/>
          <a:ln/>
        </p:spPr>
        <p:txBody>
          <a:bodyPr wrap="square" rtlCol="0" anchor="ctr"/>
          <a:lstStyle/>
          <a:p>
            <a:pPr indent="0" marL="0">
              <a:buNone/>
            </a:pPr>
            <a:r>
              <a:rPr lang="en-US" sz="2000" dirty="0">
                <a:solidFill>
                  <a:srgbClr val="555555"/>
                </a:solidFill>
                <a:latin typeface="Yu Gothic UI" pitchFamily="34" charset="0"/>
                <a:ea typeface="Yu Gothic UI" pitchFamily="34" charset="-122"/>
                <a:cs typeface="Yu Gothic UI" pitchFamily="34" charset="-120"/>
              </a:rPr>
              <a:t>スライドの色で「解説」と「演習」を分けています。</a:t>
            </a:r>
            <a:endParaRPr lang="en-US" sz="2000" dirty="0"/>
          </a:p>
        </p:txBody>
      </p:sp>
      <p:sp>
        <p:nvSpPr>
          <p:cNvPr id="6" name="Shape 4"/>
          <p:cNvSpPr/>
          <p:nvPr/>
        </p:nvSpPr>
        <p:spPr>
          <a:xfrm>
            <a:off x="457200" y="1691640"/>
            <a:ext cx="5486400" cy="868680"/>
          </a:xfrm>
          <a:prstGeom prst="rect">
            <a:avLst/>
          </a:prstGeom>
          <a:solidFill>
            <a:srgbClr val="1F3A5F"/>
          </a:solidFill>
          <a:ln w="12700">
            <a:solidFill>
              <a:srgbClr val="1F3A5F"/>
            </a:solidFill>
            <a:prstDash val="solid"/>
          </a:ln>
        </p:spPr>
        <p:txBody>
          <a:bodyPr/>
          <a:p/>
        </p:txBody>
      </p:sp>
      <p:sp>
        <p:nvSpPr>
          <p:cNvPr id="7" name="Shape 5"/>
          <p:cNvSpPr/>
          <p:nvPr/>
        </p:nvSpPr>
        <p:spPr>
          <a:xfrm>
            <a:off x="640080" y="1828800"/>
            <a:ext cx="1051560" cy="594360"/>
          </a:xfrm>
          <a:prstGeom prst="roundRect">
            <a:avLst>
              <a:gd name="adj" fmla="val 7692"/>
            </a:avLst>
          </a:prstGeom>
          <a:solidFill>
            <a:srgbClr val="FFFFFF"/>
          </a:solidFill>
          <a:ln w="12700">
            <a:solidFill>
              <a:srgbClr val="FFFFFF"/>
            </a:solidFill>
            <a:prstDash val="solid"/>
          </a:ln>
        </p:spPr>
        <p:txBody>
          <a:bodyPr/>
          <a:p/>
        </p:txBody>
      </p:sp>
      <p:sp>
        <p:nvSpPr>
          <p:cNvPr id="8" name="Text 6"/>
          <p:cNvSpPr/>
          <p:nvPr/>
        </p:nvSpPr>
        <p:spPr>
          <a:xfrm>
            <a:off x="640080" y="1828800"/>
            <a:ext cx="1051560" cy="594360"/>
          </a:xfrm>
          <a:prstGeom prst="rect">
            <a:avLst/>
          </a:prstGeom>
          <a:noFill/>
          <a:ln/>
        </p:spPr>
        <p:txBody>
          <a:bodyPr wrap="square" rtlCol="0" anchor="ctr"/>
          <a:lstStyle/>
          <a:p>
            <a:pPr algn="ctr" indent="0" marL="0">
              <a:buNone/>
            </a:pPr>
            <a:r>
              <a:rPr lang="en-US" sz="2000" b="1" dirty="0">
                <a:solidFill>
                  <a:srgbClr val="1F3A5F"/>
                </a:solidFill>
                <a:latin typeface="Yu Gothic UI" pitchFamily="34" charset="0"/>
                <a:ea typeface="Yu Gothic UI" pitchFamily="34" charset="-122"/>
                <a:cs typeface="Yu Gothic UI" pitchFamily="34" charset="-120"/>
              </a:rPr>
              <a:t>解説</a:t>
            </a:r>
            <a:endParaRPr lang="en-US" sz="2000" dirty="0"/>
          </a:p>
        </p:txBody>
      </p:sp>
      <p:sp>
        <p:nvSpPr>
          <p:cNvPr id="9" name="Text 7"/>
          <p:cNvSpPr/>
          <p:nvPr/>
        </p:nvSpPr>
        <p:spPr>
          <a:xfrm>
            <a:off x="1828800" y="1691640"/>
            <a:ext cx="4023360" cy="868680"/>
          </a:xfrm>
          <a:prstGeom prst="rect">
            <a:avLst/>
          </a:prstGeom>
          <a:noFill/>
          <a:ln/>
        </p:spPr>
        <p:txBody>
          <a:bodyPr wrap="square" rtlCol="0" anchor="ctr"/>
          <a:lstStyle/>
          <a:p>
            <a:pPr indent="0" marL="0">
              <a:buNone/>
            </a:pPr>
            <a:r>
              <a:rPr lang="en-US" sz="2000" dirty="0">
                <a:solidFill>
                  <a:srgbClr val="FFFFFF"/>
                </a:solidFill>
                <a:latin typeface="Yu Gothic UI" pitchFamily="34" charset="0"/>
                <a:ea typeface="Yu Gothic UI" pitchFamily="34" charset="-122"/>
                <a:cs typeface="Yu Gothic UI" pitchFamily="34" charset="-120"/>
              </a:rPr>
              <a:t>話を聞く時間（短め）</a:t>
            </a:r>
            <a:endParaRPr lang="en-US" sz="2000" dirty="0"/>
          </a:p>
        </p:txBody>
      </p:sp>
      <p:sp>
        <p:nvSpPr>
          <p:cNvPr id="10" name="Shape 8"/>
          <p:cNvSpPr/>
          <p:nvPr/>
        </p:nvSpPr>
        <p:spPr>
          <a:xfrm>
            <a:off x="6245352" y="1691640"/>
            <a:ext cx="5486400" cy="868680"/>
          </a:xfrm>
          <a:prstGeom prst="rect">
            <a:avLst/>
          </a:prstGeom>
          <a:solidFill>
            <a:srgbClr val="F39C12"/>
          </a:solidFill>
          <a:ln w="12700">
            <a:solidFill>
              <a:srgbClr val="F39C12"/>
            </a:solidFill>
            <a:prstDash val="solid"/>
          </a:ln>
        </p:spPr>
        <p:txBody>
          <a:bodyPr/>
          <a:p/>
        </p:txBody>
      </p:sp>
      <p:sp>
        <p:nvSpPr>
          <p:cNvPr id="11" name="Shape 9"/>
          <p:cNvSpPr/>
          <p:nvPr/>
        </p:nvSpPr>
        <p:spPr>
          <a:xfrm>
            <a:off x="6428232" y="1828800"/>
            <a:ext cx="1554480" cy="594360"/>
          </a:xfrm>
          <a:prstGeom prst="roundRect">
            <a:avLst>
              <a:gd name="adj" fmla="val 9231"/>
            </a:avLst>
          </a:prstGeom>
          <a:solidFill>
            <a:srgbClr val="FFFFFF"/>
          </a:solidFill>
          <a:ln w="12700">
            <a:solidFill>
              <a:srgbClr val="FFFFFF"/>
            </a:solidFill>
            <a:prstDash val="solid"/>
          </a:ln>
        </p:spPr>
        <p:txBody>
          <a:bodyPr/>
          <a:p/>
        </p:txBody>
      </p:sp>
      <p:sp>
        <p:nvSpPr>
          <p:cNvPr id="12" name="Text 10"/>
          <p:cNvSpPr/>
          <p:nvPr/>
        </p:nvSpPr>
        <p:spPr>
          <a:xfrm>
            <a:off x="6428232" y="1828800"/>
            <a:ext cx="1554480" cy="594360"/>
          </a:xfrm>
          <a:prstGeom prst="rect">
            <a:avLst/>
          </a:prstGeom>
          <a:noFill/>
          <a:ln/>
        </p:spPr>
        <p:txBody>
          <a:bodyPr wrap="square" rtlCol="0" anchor="ctr"/>
          <a:lstStyle/>
          <a:p>
            <a:pPr algn="ctr" indent="0" marL="0">
              <a:buNone/>
            </a:pPr>
            <a:r>
              <a:rPr lang="en-US" sz="2000" b="1" dirty="0">
                <a:solidFill>
                  <a:srgbClr val="F39C12"/>
                </a:solidFill>
                <a:latin typeface="Yu Gothic UI" pitchFamily="34" charset="0"/>
                <a:ea typeface="Yu Gothic UI" pitchFamily="34" charset="-122"/>
                <a:cs typeface="Yu Gothic UI" pitchFamily="34" charset="-120"/>
              </a:rPr>
              <a:t>演習 N</a:t>
            </a:r>
            <a:endParaRPr lang="en-US" sz="2000" dirty="0"/>
          </a:p>
        </p:txBody>
      </p:sp>
      <p:sp>
        <p:nvSpPr>
          <p:cNvPr id="13" name="Text 11"/>
          <p:cNvSpPr/>
          <p:nvPr/>
        </p:nvSpPr>
        <p:spPr>
          <a:xfrm>
            <a:off x="8119872" y="1691640"/>
            <a:ext cx="3474720" cy="868680"/>
          </a:xfrm>
          <a:prstGeom prst="rect">
            <a:avLst/>
          </a:prstGeom>
          <a:noFill/>
          <a:ln/>
        </p:spPr>
        <p:txBody>
          <a:bodyPr wrap="square" rtlCol="0" anchor="ctr"/>
          <a:lstStyle/>
          <a:p>
            <a:pPr indent="0" marL="0">
              <a:buNone/>
            </a:pPr>
            <a:r>
              <a:rPr lang="en-US" sz="2000" dirty="0">
                <a:solidFill>
                  <a:srgbClr val="FFFFFF"/>
                </a:solidFill>
                <a:latin typeface="Yu Gothic UI" pitchFamily="34" charset="0"/>
                <a:ea typeface="Yu Gothic UI" pitchFamily="34" charset="-122"/>
                <a:cs typeface="Yu Gothic UI" pitchFamily="34" charset="-120"/>
              </a:rPr>
              <a:t>手を動かす時間（長め）</a:t>
            </a:r>
            <a:endParaRPr lang="en-US" sz="2000" dirty="0"/>
          </a:p>
        </p:txBody>
      </p:sp>
      <p:sp>
        <p:nvSpPr>
          <p:cNvPr id="14" name="Text 12"/>
          <p:cNvSpPr/>
          <p:nvPr/>
        </p:nvSpPr>
        <p:spPr>
          <a:xfrm>
            <a:off x="457200" y="2743200"/>
            <a:ext cx="11247120" cy="411480"/>
          </a:xfrm>
          <a:prstGeom prst="rect">
            <a:avLst/>
          </a:prstGeom>
          <a:noFill/>
          <a:ln/>
        </p:spPr>
        <p:txBody>
          <a:bodyPr wrap="square" rtlCol="0" anchor="ctr"/>
          <a:lstStyle/>
          <a:p>
            <a:pPr indent="0" marL="0">
              <a:buNone/>
            </a:pPr>
            <a:r>
              <a:rPr lang="en-US" sz="2200" b="1" dirty="0">
                <a:solidFill>
                  <a:srgbClr val="1F3A5F"/>
                </a:solidFill>
                <a:latin typeface="Yu Gothic UI" pitchFamily="34" charset="0"/>
                <a:ea typeface="Yu Gothic UI" pitchFamily="34" charset="-122"/>
                <a:cs typeface="Yu Gothic UI" pitchFamily="34" charset="-120"/>
              </a:rPr>
              <a:t>全体の流れ</a:t>
            </a:r>
            <a:endParaRPr lang="en-US" sz="2200" dirty="0"/>
          </a:p>
        </p:txBody>
      </p:sp>
      <p:sp>
        <p:nvSpPr>
          <p:cNvPr id="15" name="Shape 13"/>
          <p:cNvSpPr/>
          <p:nvPr/>
        </p:nvSpPr>
        <p:spPr>
          <a:xfrm>
            <a:off x="457200" y="3246120"/>
            <a:ext cx="11247120" cy="640080"/>
          </a:xfrm>
          <a:prstGeom prst="roundRect">
            <a:avLst>
              <a:gd name="adj" fmla="val 7143"/>
            </a:avLst>
          </a:prstGeom>
          <a:solidFill>
            <a:srgbClr val="F4F8FC"/>
          </a:solidFill>
          <a:ln w="12700">
            <a:solidFill>
              <a:srgbClr val="4A6FA5"/>
            </a:solidFill>
            <a:prstDash val="solid"/>
          </a:ln>
        </p:spPr>
        <p:txBody>
          <a:bodyPr/>
          <a:p/>
        </p:txBody>
      </p:sp>
      <p:sp>
        <p:nvSpPr>
          <p:cNvPr id="16" name="Shape 14"/>
          <p:cNvSpPr/>
          <p:nvPr/>
        </p:nvSpPr>
        <p:spPr>
          <a:xfrm>
            <a:off x="594360" y="3374136"/>
            <a:ext cx="1051560" cy="384048"/>
          </a:xfrm>
          <a:prstGeom prst="roundRect">
            <a:avLst>
              <a:gd name="adj" fmla="val 9524"/>
            </a:avLst>
          </a:prstGeom>
          <a:solidFill>
            <a:srgbClr val="1F3A5F"/>
          </a:solidFill>
          <a:ln w="12700">
            <a:solidFill>
              <a:srgbClr val="1F3A5F"/>
            </a:solidFill>
            <a:prstDash val="solid"/>
          </a:ln>
        </p:spPr>
        <p:txBody>
          <a:bodyPr/>
          <a:p/>
        </p:txBody>
      </p:sp>
      <p:sp>
        <p:nvSpPr>
          <p:cNvPr id="17" name="Text 15"/>
          <p:cNvSpPr/>
          <p:nvPr/>
        </p:nvSpPr>
        <p:spPr>
          <a:xfrm>
            <a:off x="594360" y="3374136"/>
            <a:ext cx="1051560" cy="384048"/>
          </a:xfrm>
          <a:prstGeom prst="rect">
            <a:avLst/>
          </a:prstGeom>
          <a:noFill/>
          <a:ln/>
        </p:spPr>
        <p:txBody>
          <a:bodyPr wrap="square" rtlCol="0" anchor="ctr"/>
          <a:lstStyle/>
          <a:p>
            <a:pPr algn="ctr" indent="0" marL="0">
              <a:buNone/>
            </a:pPr>
            <a:r>
              <a:rPr lang="en-US" sz="2000" b="1" dirty="0">
                <a:solidFill>
                  <a:srgbClr val="FFFFFF"/>
                </a:solidFill>
                <a:latin typeface="Yu Gothic UI" pitchFamily="34" charset="0"/>
                <a:ea typeface="Yu Gothic UI" pitchFamily="34" charset="-122"/>
                <a:cs typeface="Yu Gothic UI" pitchFamily="34" charset="-120"/>
              </a:rPr>
              <a:t>解説</a:t>
            </a:r>
            <a:endParaRPr lang="en-US" sz="2000" dirty="0"/>
          </a:p>
        </p:txBody>
      </p:sp>
      <p:sp>
        <p:nvSpPr>
          <p:cNvPr id="18" name="Text 16"/>
          <p:cNvSpPr/>
          <p:nvPr/>
        </p:nvSpPr>
        <p:spPr>
          <a:xfrm>
            <a:off x="1783080" y="3355848"/>
            <a:ext cx="9738360" cy="420624"/>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応用編の2コース（中級コース／基礎組コース）</a:t>
            </a:r>
            <a:endParaRPr lang="en-US" sz="2000" dirty="0"/>
          </a:p>
        </p:txBody>
      </p:sp>
      <p:sp>
        <p:nvSpPr>
          <p:cNvPr id="19" name="Shape 17"/>
          <p:cNvSpPr/>
          <p:nvPr/>
        </p:nvSpPr>
        <p:spPr>
          <a:xfrm>
            <a:off x="457200" y="3977640"/>
            <a:ext cx="11247120" cy="640080"/>
          </a:xfrm>
          <a:prstGeom prst="roundRect">
            <a:avLst>
              <a:gd name="adj" fmla="val 7143"/>
            </a:avLst>
          </a:prstGeom>
          <a:solidFill>
            <a:srgbClr val="FFF4E5"/>
          </a:solidFill>
          <a:ln w="12700">
            <a:solidFill>
              <a:srgbClr val="F39C12"/>
            </a:solidFill>
            <a:prstDash val="solid"/>
          </a:ln>
        </p:spPr>
        <p:txBody>
          <a:bodyPr/>
          <a:p/>
        </p:txBody>
      </p:sp>
      <p:sp>
        <p:nvSpPr>
          <p:cNvPr id="20" name="Shape 18"/>
          <p:cNvSpPr/>
          <p:nvPr/>
        </p:nvSpPr>
        <p:spPr>
          <a:xfrm>
            <a:off x="594360" y="4105656"/>
            <a:ext cx="1371600" cy="384048"/>
          </a:xfrm>
          <a:prstGeom prst="roundRect">
            <a:avLst>
              <a:gd name="adj" fmla="val 9524"/>
            </a:avLst>
          </a:prstGeom>
          <a:solidFill>
            <a:srgbClr val="F39C12"/>
          </a:solidFill>
          <a:ln w="12700">
            <a:solidFill>
              <a:srgbClr val="F39C12"/>
            </a:solidFill>
            <a:prstDash val="solid"/>
          </a:ln>
        </p:spPr>
        <p:txBody>
          <a:bodyPr/>
          <a:p/>
        </p:txBody>
      </p:sp>
      <p:sp>
        <p:nvSpPr>
          <p:cNvPr id="21" name="Text 19"/>
          <p:cNvSpPr/>
          <p:nvPr/>
        </p:nvSpPr>
        <p:spPr>
          <a:xfrm>
            <a:off x="594360" y="4105656"/>
            <a:ext cx="1371600" cy="384048"/>
          </a:xfrm>
          <a:prstGeom prst="rect">
            <a:avLst/>
          </a:prstGeom>
          <a:noFill/>
          <a:ln/>
        </p:spPr>
        <p:txBody>
          <a:bodyPr wrap="square" rtlCol="0" anchor="ctr"/>
          <a:lstStyle/>
          <a:p>
            <a:pPr algn="ctr" indent="0" marL="0">
              <a:buNone/>
            </a:pPr>
            <a:r>
              <a:rPr lang="en-US" sz="2000" b="1" dirty="0">
                <a:solidFill>
                  <a:srgbClr val="FFFFFF"/>
                </a:solidFill>
                <a:latin typeface="Yu Gothic UI" pitchFamily="34" charset="0"/>
                <a:ea typeface="Yu Gothic UI" pitchFamily="34" charset="-122"/>
                <a:cs typeface="Yu Gothic UI" pitchFamily="34" charset="-120"/>
              </a:rPr>
              <a:t>演習 4</a:t>
            </a:r>
            <a:endParaRPr lang="en-US" sz="2000" dirty="0"/>
          </a:p>
        </p:txBody>
      </p:sp>
      <p:sp>
        <p:nvSpPr>
          <p:cNvPr id="22" name="Text 20"/>
          <p:cNvSpPr/>
          <p:nvPr/>
        </p:nvSpPr>
        <p:spPr>
          <a:xfrm>
            <a:off x="2103120" y="4087368"/>
            <a:ext cx="9418320" cy="420624"/>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【中級】議事録→顧客情報シート更新GASを作る</a:t>
            </a:r>
            <a:endParaRPr lang="en-US" sz="2000" dirty="0"/>
          </a:p>
        </p:txBody>
      </p:sp>
      <p:sp>
        <p:nvSpPr>
          <p:cNvPr id="23" name="Shape 21"/>
          <p:cNvSpPr/>
          <p:nvPr/>
        </p:nvSpPr>
        <p:spPr>
          <a:xfrm>
            <a:off x="457200" y="4709160"/>
            <a:ext cx="11247120" cy="640080"/>
          </a:xfrm>
          <a:prstGeom prst="roundRect">
            <a:avLst>
              <a:gd name="adj" fmla="val 7143"/>
            </a:avLst>
          </a:prstGeom>
          <a:solidFill>
            <a:srgbClr val="FFF4E5"/>
          </a:solidFill>
          <a:ln w="12700">
            <a:solidFill>
              <a:srgbClr val="F39C12"/>
            </a:solidFill>
            <a:prstDash val="solid"/>
          </a:ln>
        </p:spPr>
        <p:txBody>
          <a:bodyPr/>
          <a:p/>
        </p:txBody>
      </p:sp>
      <p:sp>
        <p:nvSpPr>
          <p:cNvPr id="24" name="Shape 22"/>
          <p:cNvSpPr/>
          <p:nvPr/>
        </p:nvSpPr>
        <p:spPr>
          <a:xfrm>
            <a:off x="594360" y="4837176"/>
            <a:ext cx="1371600" cy="384048"/>
          </a:xfrm>
          <a:prstGeom prst="roundRect">
            <a:avLst>
              <a:gd name="adj" fmla="val 9524"/>
            </a:avLst>
          </a:prstGeom>
          <a:solidFill>
            <a:srgbClr val="F39C12"/>
          </a:solidFill>
          <a:ln w="12700">
            <a:solidFill>
              <a:srgbClr val="F39C12"/>
            </a:solidFill>
            <a:prstDash val="solid"/>
          </a:ln>
        </p:spPr>
        <p:txBody>
          <a:bodyPr/>
          <a:p/>
        </p:txBody>
      </p:sp>
      <p:sp>
        <p:nvSpPr>
          <p:cNvPr id="25" name="Text 23"/>
          <p:cNvSpPr/>
          <p:nvPr/>
        </p:nvSpPr>
        <p:spPr>
          <a:xfrm>
            <a:off x="594360" y="4837176"/>
            <a:ext cx="1371600" cy="384048"/>
          </a:xfrm>
          <a:prstGeom prst="rect">
            <a:avLst/>
          </a:prstGeom>
          <a:noFill/>
          <a:ln/>
        </p:spPr>
        <p:txBody>
          <a:bodyPr wrap="square" rtlCol="0" anchor="ctr"/>
          <a:lstStyle/>
          <a:p>
            <a:pPr algn="ctr" indent="0" marL="0">
              <a:buNone/>
            </a:pPr>
            <a:r>
              <a:rPr lang="en-US" sz="2000" b="1" dirty="0">
                <a:solidFill>
                  <a:srgbClr val="FFFFFF"/>
                </a:solidFill>
                <a:latin typeface="Yu Gothic UI" pitchFamily="34" charset="0"/>
                <a:ea typeface="Yu Gothic UI" pitchFamily="34" charset="-122"/>
                <a:cs typeface="Yu Gothic UI" pitchFamily="34" charset="-120"/>
              </a:rPr>
              <a:t>演習 5</a:t>
            </a:r>
            <a:endParaRPr lang="en-US" sz="2000" dirty="0"/>
          </a:p>
        </p:txBody>
      </p:sp>
      <p:sp>
        <p:nvSpPr>
          <p:cNvPr id="26" name="Text 24"/>
          <p:cNvSpPr/>
          <p:nvPr/>
        </p:nvSpPr>
        <p:spPr>
          <a:xfrm>
            <a:off x="2103120" y="4818888"/>
            <a:ext cx="9418320" cy="420624"/>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【中級】複数顧客対応＋エラー対策を追加する</a:t>
            </a:r>
            <a:endParaRPr lang="en-US" sz="2000" dirty="0"/>
          </a:p>
        </p:txBody>
      </p:sp>
      <p:sp>
        <p:nvSpPr>
          <p:cNvPr id="27" name="Shape 25"/>
          <p:cNvSpPr/>
          <p:nvPr/>
        </p:nvSpPr>
        <p:spPr>
          <a:xfrm>
            <a:off x="457200" y="5440680"/>
            <a:ext cx="11247120" cy="640080"/>
          </a:xfrm>
          <a:prstGeom prst="roundRect">
            <a:avLst>
              <a:gd name="adj" fmla="val 7143"/>
            </a:avLst>
          </a:prstGeom>
          <a:solidFill>
            <a:srgbClr val="FFF4E5"/>
          </a:solidFill>
          <a:ln w="12700">
            <a:solidFill>
              <a:srgbClr val="F39C12"/>
            </a:solidFill>
            <a:prstDash val="solid"/>
          </a:ln>
        </p:spPr>
        <p:txBody>
          <a:bodyPr/>
          <a:p/>
        </p:txBody>
      </p:sp>
      <p:sp>
        <p:nvSpPr>
          <p:cNvPr id="28" name="Shape 26"/>
          <p:cNvSpPr/>
          <p:nvPr/>
        </p:nvSpPr>
        <p:spPr>
          <a:xfrm>
            <a:off x="594360" y="5568696"/>
            <a:ext cx="1371600" cy="384048"/>
          </a:xfrm>
          <a:prstGeom prst="roundRect">
            <a:avLst>
              <a:gd name="adj" fmla="val 9524"/>
            </a:avLst>
          </a:prstGeom>
          <a:solidFill>
            <a:srgbClr val="F39C12"/>
          </a:solidFill>
          <a:ln w="12700">
            <a:solidFill>
              <a:srgbClr val="F39C12"/>
            </a:solidFill>
            <a:prstDash val="solid"/>
          </a:ln>
        </p:spPr>
        <p:txBody>
          <a:bodyPr/>
          <a:p/>
        </p:txBody>
      </p:sp>
      <p:sp>
        <p:nvSpPr>
          <p:cNvPr id="29" name="Text 27"/>
          <p:cNvSpPr/>
          <p:nvPr/>
        </p:nvSpPr>
        <p:spPr>
          <a:xfrm>
            <a:off x="594360" y="5568696"/>
            <a:ext cx="1371600" cy="384048"/>
          </a:xfrm>
          <a:prstGeom prst="rect">
            <a:avLst/>
          </a:prstGeom>
          <a:noFill/>
          <a:ln/>
        </p:spPr>
        <p:txBody>
          <a:bodyPr wrap="square" rtlCol="0" anchor="ctr"/>
          <a:lstStyle/>
          <a:p>
            <a:pPr algn="ctr" indent="0" marL="0">
              <a:buNone/>
            </a:pPr>
            <a:r>
              <a:rPr lang="en-US" sz="2000" b="1" dirty="0">
                <a:solidFill>
                  <a:srgbClr val="FFFFFF"/>
                </a:solidFill>
                <a:latin typeface="Yu Gothic UI" pitchFamily="34" charset="0"/>
                <a:ea typeface="Yu Gothic UI" pitchFamily="34" charset="-122"/>
                <a:cs typeface="Yu Gothic UI" pitchFamily="34" charset="-120"/>
              </a:rPr>
              <a:t>演習 6</a:t>
            </a:r>
            <a:endParaRPr lang="en-US" sz="2000" dirty="0"/>
          </a:p>
        </p:txBody>
      </p:sp>
      <p:sp>
        <p:nvSpPr>
          <p:cNvPr id="30" name="Text 28"/>
          <p:cNvSpPr/>
          <p:nvPr/>
        </p:nvSpPr>
        <p:spPr>
          <a:xfrm>
            <a:off x="2103120" y="5550408"/>
            <a:ext cx="9418320" cy="420624"/>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【基礎組】Geminiチャットで議事録から顧客情報を抽出</a:t>
            </a:r>
            <a:endParaRPr lang="en-US" sz="2000" dirty="0"/>
          </a:p>
        </p:txBody>
      </p:sp>
      <p:sp>
        <p:nvSpPr>
          <p:cNvPr id="31" name="Text 29"/>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3 / 8</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3A5F"/>
          </a:solidFill>
          <a:ln w="12700">
            <a:solidFill>
              <a:srgbClr val="1F3A5F"/>
            </a:solidFill>
            <a:prstDash val="solid"/>
          </a:ln>
        </p:spPr>
        <p:txBody>
          <a:bodyPr/>
          <a:p/>
        </p:txBody>
      </p:sp>
      <p:sp>
        <p:nvSpPr>
          <p:cNvPr id="3" name="Shape 1"/>
          <p:cNvSpPr/>
          <p:nvPr/>
        </p:nvSpPr>
        <p:spPr>
          <a:xfrm>
            <a:off x="0" y="777240"/>
            <a:ext cx="12191695" cy="54864"/>
          </a:xfrm>
          <a:prstGeom prst="rect">
            <a:avLst/>
          </a:prstGeom>
          <a:solidFill>
            <a:srgbClr val="4A6FA5"/>
          </a:solidFill>
          <a:ln w="12700">
            <a:solidFill>
              <a:srgbClr val="4A6FA5"/>
            </a:solidFill>
            <a:prstDash val="solid"/>
          </a:ln>
        </p:spPr>
        <p:txBody>
          <a:bodyPr/>
          <a:p/>
        </p:txBody>
      </p:sp>
      <p:sp>
        <p:nvSpPr>
          <p:cNvPr id="4" name="Shape 2"/>
          <p:cNvSpPr/>
          <p:nvPr/>
        </p:nvSpPr>
        <p:spPr>
          <a:xfrm>
            <a:off x="274320" y="164592"/>
            <a:ext cx="1051560" cy="457200"/>
          </a:xfrm>
          <a:prstGeom prst="roundRect">
            <a:avLst>
              <a:gd name="adj" fmla="val 10000"/>
            </a:avLst>
          </a:prstGeom>
          <a:solidFill>
            <a:srgbClr val="FFFFFF"/>
          </a:solidFill>
          <a:ln w="12700">
            <a:solidFill>
              <a:srgbClr val="FFFFFF"/>
            </a:solidFill>
            <a:prstDash val="solid"/>
          </a:ln>
        </p:spPr>
        <p:txBody>
          <a:bodyPr/>
          <a:p/>
        </p:txBody>
      </p:sp>
      <p:sp>
        <p:nvSpPr>
          <p:cNvPr id="5" name="Text 3"/>
          <p:cNvSpPr/>
          <p:nvPr/>
        </p:nvSpPr>
        <p:spPr>
          <a:xfrm>
            <a:off x="274320" y="164592"/>
            <a:ext cx="1051560" cy="457200"/>
          </a:xfrm>
          <a:prstGeom prst="rect">
            <a:avLst/>
          </a:prstGeom>
          <a:noFill/>
          <a:ln/>
        </p:spPr>
        <p:txBody>
          <a:bodyPr wrap="square" rtlCol="0" anchor="ctr"/>
          <a:lstStyle/>
          <a:p>
            <a:pPr algn="ctr" indent="0" marL="0">
              <a:buNone/>
            </a:pPr>
            <a:r>
              <a:rPr lang="en-US" sz="2000" b="1" dirty="0">
                <a:solidFill>
                  <a:srgbClr val="1F3A5F"/>
                </a:solidFill>
                <a:latin typeface="Yu Gothic UI" pitchFamily="34" charset="0"/>
                <a:ea typeface="Yu Gothic UI" pitchFamily="34" charset="-122"/>
                <a:cs typeface="Yu Gothic UI" pitchFamily="34" charset="-120"/>
              </a:rPr>
              <a:t>解説</a:t>
            </a:r>
            <a:endParaRPr lang="en-US" sz="2000" dirty="0"/>
          </a:p>
        </p:txBody>
      </p:sp>
      <p:sp>
        <p:nvSpPr>
          <p:cNvPr id="6" name="Text 4"/>
          <p:cNvSpPr/>
          <p:nvPr/>
        </p:nvSpPr>
        <p:spPr>
          <a:xfrm>
            <a:off x="1508760" y="91440"/>
            <a:ext cx="1042416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応用編の2コース ─ 自分のレベルで選ぶ</a:t>
            </a:r>
            <a:endParaRPr lang="en-US" sz="2600" dirty="0"/>
          </a:p>
        </p:txBody>
      </p:sp>
      <p:sp>
        <p:nvSpPr>
          <p:cNvPr id="7" name="Text 5"/>
          <p:cNvSpPr/>
          <p:nvPr/>
        </p:nvSpPr>
        <p:spPr>
          <a:xfrm>
            <a:off x="457200" y="1051560"/>
            <a:ext cx="11247120" cy="502920"/>
          </a:xfrm>
          <a:prstGeom prst="rect">
            <a:avLst/>
          </a:prstGeom>
          <a:noFill/>
          <a:ln/>
        </p:spPr>
        <p:txBody>
          <a:bodyPr wrap="square" rtlCol="0" anchor="ctr"/>
          <a:lstStyle/>
          <a:p>
            <a:pPr indent="0" marL="0">
              <a:buNone/>
            </a:pPr>
            <a:r>
              <a:rPr lang="en-US" sz="2000" dirty="0">
                <a:solidFill>
                  <a:srgbClr val="555555"/>
                </a:solidFill>
                <a:latin typeface="Yu Gothic UI" pitchFamily="34" charset="0"/>
                <a:ea typeface="Yu Gothic UI" pitchFamily="34" charset="-122"/>
                <a:cs typeface="Yu Gothic UI" pitchFamily="34" charset="-120"/>
              </a:rPr>
              <a:t>応用編は2つのコースを用意。基礎編で「コードが楽しい」と感じた方は中級、「GASは難しい」と感じた方は基礎組コースへ。</a:t>
            </a:r>
            <a:endParaRPr lang="en-US" sz="2000" dirty="0"/>
          </a:p>
        </p:txBody>
      </p:sp>
      <p:sp>
        <p:nvSpPr>
          <p:cNvPr id="8" name="Shape 6"/>
          <p:cNvSpPr/>
          <p:nvPr/>
        </p:nvSpPr>
        <p:spPr>
          <a:xfrm>
            <a:off x="457200" y="1691640"/>
            <a:ext cx="5577840" cy="4709160"/>
          </a:xfrm>
          <a:prstGeom prst="roundRect">
            <a:avLst>
              <a:gd name="adj" fmla="val 1165"/>
            </a:avLst>
          </a:prstGeom>
          <a:solidFill>
            <a:srgbClr val="FFF4E5"/>
          </a:solidFill>
          <a:ln w="19050">
            <a:solidFill>
              <a:srgbClr val="FF9800"/>
            </a:solidFill>
            <a:prstDash val="solid"/>
          </a:ln>
        </p:spPr>
        <p:txBody>
          <a:bodyPr/>
          <a:p/>
        </p:txBody>
      </p:sp>
      <p:sp>
        <p:nvSpPr>
          <p:cNvPr id="9" name="Text 7"/>
          <p:cNvSpPr/>
          <p:nvPr/>
        </p:nvSpPr>
        <p:spPr>
          <a:xfrm>
            <a:off x="640080" y="1828800"/>
            <a:ext cx="5303520" cy="502920"/>
          </a:xfrm>
          <a:prstGeom prst="rect">
            <a:avLst/>
          </a:prstGeom>
          <a:noFill/>
          <a:ln/>
        </p:spPr>
        <p:txBody>
          <a:bodyPr wrap="square" rtlCol="0" anchor="ctr"/>
          <a:lstStyle/>
          <a:p>
            <a:pPr indent="0" marL="0">
              <a:buNone/>
            </a:pPr>
            <a:r>
              <a:rPr lang="en-US" sz="2200" b="1" dirty="0">
                <a:solidFill>
                  <a:srgbClr val="E65100"/>
                </a:solidFill>
                <a:latin typeface="Yu Gothic UI" pitchFamily="34" charset="0"/>
                <a:ea typeface="Yu Gothic UI" pitchFamily="34" charset="-122"/>
                <a:cs typeface="Yu Gothic UI" pitchFamily="34" charset="-120"/>
              </a:rPr>
              <a:t>🟠 中級コース</a:t>
            </a:r>
            <a:endParaRPr lang="en-US" sz="2200" dirty="0"/>
          </a:p>
        </p:txBody>
      </p:sp>
      <p:sp>
        <p:nvSpPr>
          <p:cNvPr id="10" name="Text 8"/>
          <p:cNvSpPr/>
          <p:nvPr/>
        </p:nvSpPr>
        <p:spPr>
          <a:xfrm>
            <a:off x="640080" y="2423160"/>
            <a:ext cx="5303520" cy="38862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【対象】</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第7回基礎の議事録GASを動かせた方</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【演習4・5を担当】</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・議事録 → 顧客情報シート更新GASを自作</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・複数顧客対応とエラー対策を追加</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【ゴール】</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議事録から顧客情報まで一気通貫の自動化を完成させる</a:t>
            </a:r>
            <a:endParaRPr lang="en-US" sz="2000" dirty="0"/>
          </a:p>
        </p:txBody>
      </p:sp>
      <p:sp>
        <p:nvSpPr>
          <p:cNvPr id="11" name="Shape 9"/>
          <p:cNvSpPr/>
          <p:nvPr/>
        </p:nvSpPr>
        <p:spPr>
          <a:xfrm>
            <a:off x="6245352" y="1691640"/>
            <a:ext cx="5486400" cy="4709160"/>
          </a:xfrm>
          <a:prstGeom prst="roundRect">
            <a:avLst>
              <a:gd name="adj" fmla="val 1165"/>
            </a:avLst>
          </a:prstGeom>
          <a:solidFill>
            <a:srgbClr val="E8F0FE"/>
          </a:solidFill>
          <a:ln w="19050">
            <a:solidFill>
              <a:srgbClr val="3F51B5"/>
            </a:solidFill>
            <a:prstDash val="solid"/>
          </a:ln>
        </p:spPr>
        <p:txBody>
          <a:bodyPr/>
          <a:p/>
        </p:txBody>
      </p:sp>
      <p:sp>
        <p:nvSpPr>
          <p:cNvPr id="12" name="Text 10"/>
          <p:cNvSpPr/>
          <p:nvPr/>
        </p:nvSpPr>
        <p:spPr>
          <a:xfrm>
            <a:off x="6428232" y="1828800"/>
            <a:ext cx="5212080" cy="502920"/>
          </a:xfrm>
          <a:prstGeom prst="rect">
            <a:avLst/>
          </a:prstGeom>
          <a:noFill/>
          <a:ln/>
        </p:spPr>
        <p:txBody>
          <a:bodyPr wrap="square" rtlCol="0" anchor="ctr"/>
          <a:lstStyle/>
          <a:p>
            <a:pPr indent="0" marL="0">
              <a:buNone/>
            </a:pPr>
            <a:r>
              <a:rPr lang="en-US" sz="2200" b="1" dirty="0">
                <a:solidFill>
                  <a:srgbClr val="1A237E"/>
                </a:solidFill>
                <a:latin typeface="Yu Gothic UI" pitchFamily="34" charset="0"/>
                <a:ea typeface="Yu Gothic UI" pitchFamily="34" charset="-122"/>
                <a:cs typeface="Yu Gothic UI" pitchFamily="34" charset="-120"/>
              </a:rPr>
              <a:t>🔵 基礎組コース</a:t>
            </a:r>
            <a:endParaRPr lang="en-US" sz="2200" dirty="0"/>
          </a:p>
        </p:txBody>
      </p:sp>
      <p:sp>
        <p:nvSpPr>
          <p:cNvPr id="13" name="Text 11"/>
          <p:cNvSpPr/>
          <p:nvPr/>
        </p:nvSpPr>
        <p:spPr>
          <a:xfrm>
            <a:off x="6428232" y="2423160"/>
            <a:ext cx="5212080" cy="38862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【対象】</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「コードはちょっと苦手」と感じた方</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【演習6を担当】</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・Gemini チャットで議事録から顧客情報を抽出</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・抽出結果をスプシに貼って整理</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【ゴール】</a:t>
            </a:r>
            <a:endParaRPr lang="en-US" sz="2000" dirty="0"/>
          </a:p>
          <a:p>
            <a:pPr indent="0" marL="0">
              <a:buNone/>
            </a:pPr>
            <a:r>
              <a:rPr lang="en-US" sz="2000" dirty="0">
                <a:solidFill>
                  <a:srgbClr val="222222"/>
                </a:solidFill>
                <a:latin typeface="Yu Gothic UI" pitchFamily="34" charset="0"/>
                <a:ea typeface="Yu Gothic UI" pitchFamily="34" charset="-122"/>
                <a:cs typeface="Yu Gothic UI" pitchFamily="34" charset="-120"/>
              </a:rPr>
              <a:t>AI に頼んで業務に活かす感覚を掴む</a:t>
            </a:r>
            <a:endParaRPr lang="en-US" sz="2000" dirty="0"/>
          </a:p>
        </p:txBody>
      </p:sp>
      <p:sp>
        <p:nvSpPr>
          <p:cNvPr id="14" name="Text 12"/>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4 / 8</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9C12"/>
          </a:solidFill>
          <a:ln w="12700">
            <a:solidFill>
              <a:srgbClr val="F39C12"/>
            </a:solidFill>
            <a:prstDash val="solid"/>
          </a:ln>
        </p:spPr>
        <p:txBody>
          <a:bodyPr/>
          <a:p/>
        </p:txBody>
      </p:sp>
      <p:sp>
        <p:nvSpPr>
          <p:cNvPr id="3" name="Shape 1"/>
          <p:cNvSpPr/>
          <p:nvPr/>
        </p:nvSpPr>
        <p:spPr>
          <a:xfrm>
            <a:off x="0" y="777240"/>
            <a:ext cx="12191695" cy="54864"/>
          </a:xfrm>
          <a:prstGeom prst="rect">
            <a:avLst/>
          </a:prstGeom>
          <a:solidFill>
            <a:srgbClr val="E08300"/>
          </a:solidFill>
          <a:ln w="12700">
            <a:solidFill>
              <a:srgbClr val="E08300"/>
            </a:solidFill>
            <a:prstDash val="solid"/>
          </a:ln>
        </p:spPr>
        <p:txBody>
          <a:bodyPr/>
          <a:p/>
        </p:txBody>
      </p:sp>
      <p:sp>
        <p:nvSpPr>
          <p:cNvPr id="4" name="Shape 2"/>
          <p:cNvSpPr/>
          <p:nvPr/>
        </p:nvSpPr>
        <p:spPr>
          <a:xfrm>
            <a:off x="274320" y="137160"/>
            <a:ext cx="1691640" cy="502920"/>
          </a:xfrm>
          <a:prstGeom prst="roundRect">
            <a:avLst>
              <a:gd name="adj" fmla="val 10909"/>
            </a:avLst>
          </a:prstGeom>
          <a:solidFill>
            <a:srgbClr val="FFFFFF"/>
          </a:solidFill>
          <a:ln w="12700">
            <a:solidFill>
              <a:srgbClr val="FFFFFF"/>
            </a:solidFill>
            <a:prstDash val="solid"/>
          </a:ln>
        </p:spPr>
        <p:txBody>
          <a:bodyPr/>
          <a:p/>
        </p:txBody>
      </p:sp>
      <p:sp>
        <p:nvSpPr>
          <p:cNvPr id="5" name="Text 3"/>
          <p:cNvSpPr/>
          <p:nvPr/>
        </p:nvSpPr>
        <p:spPr>
          <a:xfrm>
            <a:off x="274320" y="137160"/>
            <a:ext cx="1691640" cy="502920"/>
          </a:xfrm>
          <a:prstGeom prst="rect">
            <a:avLst/>
          </a:prstGeom>
          <a:noFill/>
          <a:ln/>
        </p:spPr>
        <p:txBody>
          <a:bodyPr wrap="square" rtlCol="0" anchor="ctr"/>
          <a:lstStyle/>
          <a:p>
            <a:pPr algn="ctr" indent="0" marL="0">
              <a:buNone/>
            </a:pPr>
            <a:r>
              <a:rPr lang="en-US" sz="2200" b="1" dirty="0">
                <a:solidFill>
                  <a:srgbClr val="F39C12"/>
                </a:solidFill>
                <a:latin typeface="Yu Gothic UI" pitchFamily="34" charset="0"/>
                <a:ea typeface="Yu Gothic UI" pitchFamily="34" charset="-122"/>
                <a:cs typeface="Yu Gothic UI" pitchFamily="34" charset="-120"/>
              </a:rPr>
              <a:t>演習 4</a:t>
            </a:r>
            <a:endParaRPr lang="en-US" sz="2200" dirty="0"/>
          </a:p>
        </p:txBody>
      </p:sp>
      <p:sp>
        <p:nvSpPr>
          <p:cNvPr id="6" name="Text 4"/>
          <p:cNvSpPr/>
          <p:nvPr/>
        </p:nvSpPr>
        <p:spPr>
          <a:xfrm>
            <a:off x="2194560" y="91440"/>
            <a:ext cx="978408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【中級】議事録→顧客情報シート更新GASを作る</a:t>
            </a:r>
            <a:endParaRPr lang="en-US" sz="2600" dirty="0"/>
          </a:p>
        </p:txBody>
      </p:sp>
      <p:sp>
        <p:nvSpPr>
          <p:cNvPr id="7" name="Text 5"/>
          <p:cNvSpPr/>
          <p:nvPr/>
        </p:nvSpPr>
        <p:spPr>
          <a:xfrm>
            <a:off x="457200" y="960120"/>
            <a:ext cx="11247120" cy="45720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基礎編で作った議事録GASを拡張し、議事録から顧客情報シートを自動更新する仕組みを自分でバイブコーディングします。</a:t>
            </a:r>
            <a:endParaRPr lang="en-US" sz="2000" dirty="0"/>
          </a:p>
        </p:txBody>
      </p:sp>
      <p:sp>
        <p:nvSpPr>
          <p:cNvPr id="8" name="Shape 6"/>
          <p:cNvSpPr/>
          <p:nvPr/>
        </p:nvSpPr>
        <p:spPr>
          <a:xfrm>
            <a:off x="365760" y="1508760"/>
            <a:ext cx="11430000" cy="3657600"/>
          </a:xfrm>
          <a:prstGeom prst="roundRect">
            <a:avLst>
              <a:gd name="adj" fmla="val 1500"/>
            </a:avLst>
          </a:prstGeom>
          <a:solidFill>
            <a:srgbClr val="FFF4E5"/>
          </a:solidFill>
          <a:ln w="19050">
            <a:solidFill>
              <a:srgbClr val="FF9800"/>
            </a:solidFill>
            <a:prstDash val="solid"/>
          </a:ln>
        </p:spPr>
        <p:txBody>
          <a:bodyPr/>
          <a:p/>
        </p:txBody>
      </p:sp>
      <p:sp>
        <p:nvSpPr>
          <p:cNvPr id="9" name="Text 7"/>
          <p:cNvSpPr/>
          <p:nvPr/>
        </p:nvSpPr>
        <p:spPr>
          <a:xfrm>
            <a:off x="548640" y="1600200"/>
            <a:ext cx="11064240" cy="457200"/>
          </a:xfrm>
          <a:prstGeom prst="rect">
            <a:avLst/>
          </a:prstGeom>
          <a:noFill/>
          <a:ln/>
        </p:spPr>
        <p:txBody>
          <a:bodyPr wrap="square" rtlCol="0" anchor="ctr"/>
          <a:lstStyle/>
          <a:p>
            <a:pPr indent="0" marL="0">
              <a:buNone/>
            </a:pPr>
            <a:r>
              <a:rPr lang="en-US" sz="2200" b="1" dirty="0">
                <a:solidFill>
                  <a:srgbClr val="E65100"/>
                </a:solidFill>
                <a:latin typeface="Yu Gothic UI" pitchFamily="34" charset="0"/>
                <a:ea typeface="Yu Gothic UI" pitchFamily="34" charset="-122"/>
                <a:cs typeface="Yu Gothic UI" pitchFamily="34" charset="-120"/>
              </a:rPr>
              <a:t>🟠 お題</a:t>
            </a:r>
            <a:endParaRPr lang="en-US" sz="2200" dirty="0"/>
          </a:p>
        </p:txBody>
      </p:sp>
      <p:sp>
        <p:nvSpPr>
          <p:cNvPr id="10" name="Text 8"/>
          <p:cNvSpPr/>
          <p:nvPr/>
        </p:nvSpPr>
        <p:spPr>
          <a:xfrm>
            <a:off x="594360" y="210312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シチュエーション</a:t>
            </a:r>
            <a:endParaRPr lang="en-US" sz="2000" dirty="0"/>
          </a:p>
        </p:txBody>
      </p:sp>
      <p:sp>
        <p:nvSpPr>
          <p:cNvPr id="11" name="Text 9"/>
          <p:cNvSpPr/>
          <p:nvPr/>
        </p:nvSpPr>
        <p:spPr>
          <a:xfrm>
            <a:off x="640080" y="242316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議事録は作れるようになったが、顧客情報シートへの反映は手作業のまま。議事録から自動で顧客情報を更新したい。</a:t>
            </a:r>
            <a:endParaRPr lang="en-US" sz="2000" dirty="0"/>
          </a:p>
        </p:txBody>
      </p:sp>
      <p:sp>
        <p:nvSpPr>
          <p:cNvPr id="12" name="Text 10"/>
          <p:cNvSpPr/>
          <p:nvPr/>
        </p:nvSpPr>
        <p:spPr>
          <a:xfrm>
            <a:off x="594360" y="310896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作るもの</a:t>
            </a:r>
            <a:endParaRPr lang="en-US" sz="2000" dirty="0"/>
          </a:p>
        </p:txBody>
      </p:sp>
      <p:sp>
        <p:nvSpPr>
          <p:cNvPr id="13" name="Text 11"/>
          <p:cNvSpPr/>
          <p:nvPr/>
        </p:nvSpPr>
        <p:spPr>
          <a:xfrm>
            <a:off x="640080" y="342900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更新版GAS：議事録から「お客様名／要望／次回アクション／最終商談日」を抽出して『顧客情報』シートに反映</a:t>
            </a:r>
            <a:endParaRPr lang="en-US" sz="2000" dirty="0"/>
          </a:p>
        </p:txBody>
      </p:sp>
      <p:sp>
        <p:nvSpPr>
          <p:cNvPr id="14" name="Text 12"/>
          <p:cNvSpPr/>
          <p:nvPr/>
        </p:nvSpPr>
        <p:spPr>
          <a:xfrm>
            <a:off x="594360" y="411480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制約・こだわり</a:t>
            </a:r>
            <a:endParaRPr lang="en-US" sz="2000" dirty="0"/>
          </a:p>
        </p:txBody>
      </p:sp>
      <p:sp>
        <p:nvSpPr>
          <p:cNvPr id="15" name="Text 13"/>
          <p:cNvSpPr/>
          <p:nvPr/>
        </p:nvSpPr>
        <p:spPr>
          <a:xfrm>
            <a:off x="640080" y="443484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既存顧客は更新、新規顧客は追記／お客様名は議事録と一致させる／最終商談日は今日の日付で上書き</a:t>
            </a:r>
            <a:endParaRPr lang="en-US" sz="2000" dirty="0"/>
          </a:p>
        </p:txBody>
      </p:sp>
      <p:sp>
        <p:nvSpPr>
          <p:cNvPr id="16" name="Shape 14"/>
          <p:cNvSpPr/>
          <p:nvPr/>
        </p:nvSpPr>
        <p:spPr>
          <a:xfrm>
            <a:off x="365760" y="5303520"/>
            <a:ext cx="11430000" cy="1234440"/>
          </a:xfrm>
          <a:prstGeom prst="roundRect">
            <a:avLst>
              <a:gd name="adj" fmla="val 4444"/>
            </a:avLst>
          </a:prstGeom>
          <a:solidFill>
            <a:srgbClr val="F0FAF0"/>
          </a:solidFill>
          <a:ln w="25400">
            <a:solidFill>
              <a:srgbClr val="4CAF50"/>
            </a:solidFill>
            <a:prstDash val="solid"/>
          </a:ln>
        </p:spPr>
        <p:txBody>
          <a:bodyPr/>
          <a:p/>
        </p:txBody>
      </p:sp>
      <p:sp>
        <p:nvSpPr>
          <p:cNvPr id="17" name="Text 15"/>
          <p:cNvSpPr/>
          <p:nvPr/>
        </p:nvSpPr>
        <p:spPr>
          <a:xfrm>
            <a:off x="548640" y="5394960"/>
            <a:ext cx="11064240" cy="411480"/>
          </a:xfrm>
          <a:prstGeom prst="rect">
            <a:avLst/>
          </a:prstGeom>
          <a:noFill/>
          <a:ln/>
        </p:spPr>
        <p:txBody>
          <a:bodyPr wrap="square" rtlCol="0" anchor="ctr"/>
          <a:lstStyle/>
          <a:p>
            <a:pPr indent="0" marL="0">
              <a:buNone/>
            </a:pPr>
            <a:r>
              <a:rPr lang="en-US" sz="2200" b="1" dirty="0">
                <a:solidFill>
                  <a:srgbClr val="2E7D32"/>
                </a:solidFill>
                <a:latin typeface="Yu Gothic UI" pitchFamily="34" charset="0"/>
                <a:ea typeface="Yu Gothic UI" pitchFamily="34" charset="-122"/>
                <a:cs typeface="Yu Gothic UI" pitchFamily="34" charset="-120"/>
              </a:rPr>
              <a:t>▶ やってみよう</a:t>
            </a:r>
            <a:endParaRPr lang="en-US" sz="2200" dirty="0"/>
          </a:p>
        </p:txBody>
      </p:sp>
      <p:sp>
        <p:nvSpPr>
          <p:cNvPr id="18" name="Text 16"/>
          <p:cNvSpPr/>
          <p:nvPr/>
        </p:nvSpPr>
        <p:spPr>
          <a:xfrm>
            <a:off x="731520" y="585216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1. Gemini に基礎編のコードを貼り「議事録から顧客情報を抽出して別シートに反映する機能を追加して」と依頼</a:t>
            </a:r>
            <a:endParaRPr lang="en-US" sz="2000" dirty="0"/>
          </a:p>
        </p:txBody>
      </p:sp>
      <p:sp>
        <p:nvSpPr>
          <p:cNvPr id="19" name="Text 17"/>
          <p:cNvSpPr/>
          <p:nvPr/>
        </p:nvSpPr>
        <p:spPr>
          <a:xfrm>
            <a:off x="731520" y="606552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2. 出てきたコードを GAS エディタに貼り付けて保存</a:t>
            </a:r>
            <a:endParaRPr lang="en-US" sz="2000" dirty="0"/>
          </a:p>
        </p:txBody>
      </p:sp>
      <p:sp>
        <p:nvSpPr>
          <p:cNvPr id="20" name="Text 18"/>
          <p:cNvSpPr/>
          <p:nvPr/>
        </p:nvSpPr>
        <p:spPr>
          <a:xfrm>
            <a:off x="731520" y="627888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3. テストで議事録を1件生成し、『顧客情報』シートに正しく反映されるかを確認</a:t>
            </a:r>
            <a:endParaRPr lang="en-US" sz="2000" dirty="0"/>
          </a:p>
        </p:txBody>
      </p:sp>
      <p:sp>
        <p:nvSpPr>
          <p:cNvPr id="21" name="Text 19"/>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5 / 8</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9C12"/>
          </a:solidFill>
          <a:ln w="12700">
            <a:solidFill>
              <a:srgbClr val="F39C12"/>
            </a:solidFill>
            <a:prstDash val="solid"/>
          </a:ln>
        </p:spPr>
        <p:txBody>
          <a:bodyPr/>
          <a:p/>
        </p:txBody>
      </p:sp>
      <p:sp>
        <p:nvSpPr>
          <p:cNvPr id="3" name="Shape 1"/>
          <p:cNvSpPr/>
          <p:nvPr/>
        </p:nvSpPr>
        <p:spPr>
          <a:xfrm>
            <a:off x="0" y="777240"/>
            <a:ext cx="12191695" cy="54864"/>
          </a:xfrm>
          <a:prstGeom prst="rect">
            <a:avLst/>
          </a:prstGeom>
          <a:solidFill>
            <a:srgbClr val="E08300"/>
          </a:solidFill>
          <a:ln w="12700">
            <a:solidFill>
              <a:srgbClr val="E08300"/>
            </a:solidFill>
            <a:prstDash val="solid"/>
          </a:ln>
        </p:spPr>
        <p:txBody>
          <a:bodyPr/>
          <a:p/>
        </p:txBody>
      </p:sp>
      <p:sp>
        <p:nvSpPr>
          <p:cNvPr id="4" name="Shape 2"/>
          <p:cNvSpPr/>
          <p:nvPr/>
        </p:nvSpPr>
        <p:spPr>
          <a:xfrm>
            <a:off x="274320" y="137160"/>
            <a:ext cx="1691640" cy="502920"/>
          </a:xfrm>
          <a:prstGeom prst="roundRect">
            <a:avLst>
              <a:gd name="adj" fmla="val 10909"/>
            </a:avLst>
          </a:prstGeom>
          <a:solidFill>
            <a:srgbClr val="FFFFFF"/>
          </a:solidFill>
          <a:ln w="12700">
            <a:solidFill>
              <a:srgbClr val="FFFFFF"/>
            </a:solidFill>
            <a:prstDash val="solid"/>
          </a:ln>
        </p:spPr>
        <p:txBody>
          <a:bodyPr/>
          <a:p/>
        </p:txBody>
      </p:sp>
      <p:sp>
        <p:nvSpPr>
          <p:cNvPr id="5" name="Text 3"/>
          <p:cNvSpPr/>
          <p:nvPr/>
        </p:nvSpPr>
        <p:spPr>
          <a:xfrm>
            <a:off x="274320" y="137160"/>
            <a:ext cx="1691640" cy="502920"/>
          </a:xfrm>
          <a:prstGeom prst="rect">
            <a:avLst/>
          </a:prstGeom>
          <a:noFill/>
          <a:ln/>
        </p:spPr>
        <p:txBody>
          <a:bodyPr wrap="square" rtlCol="0" anchor="ctr"/>
          <a:lstStyle/>
          <a:p>
            <a:pPr algn="ctr" indent="0" marL="0">
              <a:buNone/>
            </a:pPr>
            <a:r>
              <a:rPr lang="en-US" sz="2200" b="1" dirty="0">
                <a:solidFill>
                  <a:srgbClr val="F39C12"/>
                </a:solidFill>
                <a:latin typeface="Yu Gothic UI" pitchFamily="34" charset="0"/>
                <a:ea typeface="Yu Gothic UI" pitchFamily="34" charset="-122"/>
                <a:cs typeface="Yu Gothic UI" pitchFamily="34" charset="-120"/>
              </a:rPr>
              <a:t>演習 5</a:t>
            </a:r>
            <a:endParaRPr lang="en-US" sz="2200" dirty="0"/>
          </a:p>
        </p:txBody>
      </p:sp>
      <p:sp>
        <p:nvSpPr>
          <p:cNvPr id="6" name="Text 4"/>
          <p:cNvSpPr/>
          <p:nvPr/>
        </p:nvSpPr>
        <p:spPr>
          <a:xfrm>
            <a:off x="2194560" y="91440"/>
            <a:ext cx="978408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【中級】複数顧客対応＋エラー対策を追加する</a:t>
            </a:r>
            <a:endParaRPr lang="en-US" sz="2600" dirty="0"/>
          </a:p>
        </p:txBody>
      </p:sp>
      <p:sp>
        <p:nvSpPr>
          <p:cNvPr id="7" name="Text 5"/>
          <p:cNvSpPr/>
          <p:nvPr/>
        </p:nvSpPr>
        <p:spPr>
          <a:xfrm>
            <a:off x="457200" y="960120"/>
            <a:ext cx="11247120" cy="45720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議事録に複数のお客様が出てくる場合に対応し、合わせてエラー時の保険も入れます。</a:t>
            </a:r>
            <a:endParaRPr lang="en-US" sz="2000" dirty="0"/>
          </a:p>
        </p:txBody>
      </p:sp>
      <p:sp>
        <p:nvSpPr>
          <p:cNvPr id="8" name="Shape 6"/>
          <p:cNvSpPr/>
          <p:nvPr/>
        </p:nvSpPr>
        <p:spPr>
          <a:xfrm>
            <a:off x="365760" y="1508760"/>
            <a:ext cx="11430000" cy="3657600"/>
          </a:xfrm>
          <a:prstGeom prst="roundRect">
            <a:avLst>
              <a:gd name="adj" fmla="val 1500"/>
            </a:avLst>
          </a:prstGeom>
          <a:solidFill>
            <a:srgbClr val="FFF4E5"/>
          </a:solidFill>
          <a:ln w="19050">
            <a:solidFill>
              <a:srgbClr val="FF9800"/>
            </a:solidFill>
            <a:prstDash val="solid"/>
          </a:ln>
        </p:spPr>
        <p:txBody>
          <a:bodyPr/>
          <a:p/>
        </p:txBody>
      </p:sp>
      <p:sp>
        <p:nvSpPr>
          <p:cNvPr id="9" name="Text 7"/>
          <p:cNvSpPr/>
          <p:nvPr/>
        </p:nvSpPr>
        <p:spPr>
          <a:xfrm>
            <a:off x="548640" y="1600200"/>
            <a:ext cx="11064240" cy="457200"/>
          </a:xfrm>
          <a:prstGeom prst="rect">
            <a:avLst/>
          </a:prstGeom>
          <a:noFill/>
          <a:ln/>
        </p:spPr>
        <p:txBody>
          <a:bodyPr wrap="square" rtlCol="0" anchor="ctr"/>
          <a:lstStyle/>
          <a:p>
            <a:pPr indent="0" marL="0">
              <a:buNone/>
            </a:pPr>
            <a:r>
              <a:rPr lang="en-US" sz="2200" b="1" dirty="0">
                <a:solidFill>
                  <a:srgbClr val="E65100"/>
                </a:solidFill>
                <a:latin typeface="Yu Gothic UI" pitchFamily="34" charset="0"/>
                <a:ea typeface="Yu Gothic UI" pitchFamily="34" charset="-122"/>
                <a:cs typeface="Yu Gothic UI" pitchFamily="34" charset="-120"/>
              </a:rPr>
              <a:t>🟠 お題</a:t>
            </a:r>
            <a:endParaRPr lang="en-US" sz="2200" dirty="0"/>
          </a:p>
        </p:txBody>
      </p:sp>
      <p:sp>
        <p:nvSpPr>
          <p:cNvPr id="10" name="Text 8"/>
          <p:cNvSpPr/>
          <p:nvPr/>
        </p:nvSpPr>
        <p:spPr>
          <a:xfrm>
            <a:off x="594360" y="210312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シチュエーション</a:t>
            </a:r>
            <a:endParaRPr lang="en-US" sz="2000" dirty="0"/>
          </a:p>
        </p:txBody>
      </p:sp>
      <p:sp>
        <p:nvSpPr>
          <p:cNvPr id="11" name="Text 9"/>
          <p:cNvSpPr/>
          <p:nvPr/>
        </p:nvSpPr>
        <p:spPr>
          <a:xfrm>
            <a:off x="640080" y="242316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議事録に複数のお客様が登場する場合や、AI が抽出に失敗する場合にも止まらない仕組みにしたい。</a:t>
            </a:r>
            <a:endParaRPr lang="en-US" sz="2000" dirty="0"/>
          </a:p>
        </p:txBody>
      </p:sp>
      <p:sp>
        <p:nvSpPr>
          <p:cNvPr id="12" name="Text 10"/>
          <p:cNvSpPr/>
          <p:nvPr/>
        </p:nvSpPr>
        <p:spPr>
          <a:xfrm>
            <a:off x="594360" y="310896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作るもの</a:t>
            </a:r>
            <a:endParaRPr lang="en-US" sz="2000" dirty="0"/>
          </a:p>
        </p:txBody>
      </p:sp>
      <p:sp>
        <p:nvSpPr>
          <p:cNvPr id="13" name="Text 11"/>
          <p:cNvSpPr/>
          <p:nvPr/>
        </p:nvSpPr>
        <p:spPr>
          <a:xfrm>
            <a:off x="640080" y="342900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強化版GAS：複数顧客に対応＋ try-catch でエラー時は管理者にメール通知</a:t>
            </a:r>
            <a:endParaRPr lang="en-US" sz="2000" dirty="0"/>
          </a:p>
        </p:txBody>
      </p:sp>
      <p:sp>
        <p:nvSpPr>
          <p:cNvPr id="14" name="Text 12"/>
          <p:cNvSpPr/>
          <p:nvPr/>
        </p:nvSpPr>
        <p:spPr>
          <a:xfrm>
            <a:off x="594360" y="411480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制約・こだわり</a:t>
            </a:r>
            <a:endParaRPr lang="en-US" sz="2000" dirty="0"/>
          </a:p>
        </p:txBody>
      </p:sp>
      <p:sp>
        <p:nvSpPr>
          <p:cNvPr id="15" name="Text 13"/>
          <p:cNvSpPr/>
          <p:nvPr/>
        </p:nvSpPr>
        <p:spPr>
          <a:xfrm>
            <a:off x="640080" y="443484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複数顧客はループで処理／try-catch 構文を使う／エラー内容を本文に含める</a:t>
            </a:r>
            <a:endParaRPr lang="en-US" sz="2000" dirty="0"/>
          </a:p>
        </p:txBody>
      </p:sp>
      <p:sp>
        <p:nvSpPr>
          <p:cNvPr id="16" name="Shape 14"/>
          <p:cNvSpPr/>
          <p:nvPr/>
        </p:nvSpPr>
        <p:spPr>
          <a:xfrm>
            <a:off x="365760" y="5303520"/>
            <a:ext cx="11430000" cy="1234440"/>
          </a:xfrm>
          <a:prstGeom prst="roundRect">
            <a:avLst>
              <a:gd name="adj" fmla="val 4444"/>
            </a:avLst>
          </a:prstGeom>
          <a:solidFill>
            <a:srgbClr val="F0FAF0"/>
          </a:solidFill>
          <a:ln w="25400">
            <a:solidFill>
              <a:srgbClr val="4CAF50"/>
            </a:solidFill>
            <a:prstDash val="solid"/>
          </a:ln>
        </p:spPr>
        <p:txBody>
          <a:bodyPr/>
          <a:p/>
        </p:txBody>
      </p:sp>
      <p:sp>
        <p:nvSpPr>
          <p:cNvPr id="17" name="Text 15"/>
          <p:cNvSpPr/>
          <p:nvPr/>
        </p:nvSpPr>
        <p:spPr>
          <a:xfrm>
            <a:off x="548640" y="5394960"/>
            <a:ext cx="11064240" cy="411480"/>
          </a:xfrm>
          <a:prstGeom prst="rect">
            <a:avLst/>
          </a:prstGeom>
          <a:noFill/>
          <a:ln/>
        </p:spPr>
        <p:txBody>
          <a:bodyPr wrap="square" rtlCol="0" anchor="ctr"/>
          <a:lstStyle/>
          <a:p>
            <a:pPr indent="0" marL="0">
              <a:buNone/>
            </a:pPr>
            <a:r>
              <a:rPr lang="en-US" sz="2200" b="1" dirty="0">
                <a:solidFill>
                  <a:srgbClr val="2E7D32"/>
                </a:solidFill>
                <a:latin typeface="Yu Gothic UI" pitchFamily="34" charset="0"/>
                <a:ea typeface="Yu Gothic UI" pitchFamily="34" charset="-122"/>
                <a:cs typeface="Yu Gothic UI" pitchFamily="34" charset="-120"/>
              </a:rPr>
              <a:t>▶ やってみよう</a:t>
            </a:r>
            <a:endParaRPr lang="en-US" sz="2200" dirty="0"/>
          </a:p>
        </p:txBody>
      </p:sp>
      <p:sp>
        <p:nvSpPr>
          <p:cNvPr id="18" name="Text 16"/>
          <p:cNvSpPr/>
          <p:nvPr/>
        </p:nvSpPr>
        <p:spPr>
          <a:xfrm>
            <a:off x="731520" y="585216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1. Gemini に既存コードを貼り「複数顧客対応＋ try-catch でエラー通知メール」を追加依頼</a:t>
            </a:r>
            <a:endParaRPr lang="en-US" sz="2000" dirty="0"/>
          </a:p>
        </p:txBody>
      </p:sp>
      <p:sp>
        <p:nvSpPr>
          <p:cNvPr id="19" name="Text 17"/>
          <p:cNvSpPr/>
          <p:nvPr/>
        </p:nvSpPr>
        <p:spPr>
          <a:xfrm>
            <a:off x="731520" y="606552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2. 出てきた改良コードを GAS に貼り付けて保存</a:t>
            </a:r>
            <a:endParaRPr lang="en-US" sz="2000" dirty="0"/>
          </a:p>
        </p:txBody>
      </p:sp>
      <p:sp>
        <p:nvSpPr>
          <p:cNvPr id="20" name="Text 18"/>
          <p:cNvSpPr/>
          <p:nvPr/>
        </p:nvSpPr>
        <p:spPr>
          <a:xfrm>
            <a:off x="731520" y="627888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3. 複数顧客の議事録でテストし、わざとエラーを起こして通知メールが届くかを確認</a:t>
            </a:r>
            <a:endParaRPr lang="en-US" sz="2000" dirty="0"/>
          </a:p>
        </p:txBody>
      </p:sp>
      <p:sp>
        <p:nvSpPr>
          <p:cNvPr id="21" name="Text 19"/>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6 / 8</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9C12"/>
          </a:solidFill>
          <a:ln w="12700">
            <a:solidFill>
              <a:srgbClr val="F39C12"/>
            </a:solidFill>
            <a:prstDash val="solid"/>
          </a:ln>
        </p:spPr>
        <p:txBody>
          <a:bodyPr/>
          <a:p/>
        </p:txBody>
      </p:sp>
      <p:sp>
        <p:nvSpPr>
          <p:cNvPr id="3" name="Shape 1"/>
          <p:cNvSpPr/>
          <p:nvPr/>
        </p:nvSpPr>
        <p:spPr>
          <a:xfrm>
            <a:off x="0" y="777240"/>
            <a:ext cx="12191695" cy="54864"/>
          </a:xfrm>
          <a:prstGeom prst="rect">
            <a:avLst/>
          </a:prstGeom>
          <a:solidFill>
            <a:srgbClr val="E08300"/>
          </a:solidFill>
          <a:ln w="12700">
            <a:solidFill>
              <a:srgbClr val="E08300"/>
            </a:solidFill>
            <a:prstDash val="solid"/>
          </a:ln>
        </p:spPr>
        <p:txBody>
          <a:bodyPr/>
          <a:p/>
        </p:txBody>
      </p:sp>
      <p:sp>
        <p:nvSpPr>
          <p:cNvPr id="4" name="Shape 2"/>
          <p:cNvSpPr/>
          <p:nvPr/>
        </p:nvSpPr>
        <p:spPr>
          <a:xfrm>
            <a:off x="274320" y="137160"/>
            <a:ext cx="1691640" cy="502920"/>
          </a:xfrm>
          <a:prstGeom prst="roundRect">
            <a:avLst>
              <a:gd name="adj" fmla="val 10909"/>
            </a:avLst>
          </a:prstGeom>
          <a:solidFill>
            <a:srgbClr val="FFFFFF"/>
          </a:solidFill>
          <a:ln w="12700">
            <a:solidFill>
              <a:srgbClr val="FFFFFF"/>
            </a:solidFill>
            <a:prstDash val="solid"/>
          </a:ln>
        </p:spPr>
        <p:txBody>
          <a:bodyPr/>
          <a:p/>
        </p:txBody>
      </p:sp>
      <p:sp>
        <p:nvSpPr>
          <p:cNvPr id="5" name="Text 3"/>
          <p:cNvSpPr/>
          <p:nvPr/>
        </p:nvSpPr>
        <p:spPr>
          <a:xfrm>
            <a:off x="274320" y="137160"/>
            <a:ext cx="1691640" cy="502920"/>
          </a:xfrm>
          <a:prstGeom prst="rect">
            <a:avLst/>
          </a:prstGeom>
          <a:noFill/>
          <a:ln/>
        </p:spPr>
        <p:txBody>
          <a:bodyPr wrap="square" rtlCol="0" anchor="ctr"/>
          <a:lstStyle/>
          <a:p>
            <a:pPr algn="ctr" indent="0" marL="0">
              <a:buNone/>
            </a:pPr>
            <a:r>
              <a:rPr lang="en-US" sz="2200" b="1" dirty="0">
                <a:solidFill>
                  <a:srgbClr val="F39C12"/>
                </a:solidFill>
                <a:latin typeface="Yu Gothic UI" pitchFamily="34" charset="0"/>
                <a:ea typeface="Yu Gothic UI" pitchFamily="34" charset="-122"/>
                <a:cs typeface="Yu Gothic UI" pitchFamily="34" charset="-120"/>
              </a:rPr>
              <a:t>演習 6</a:t>
            </a:r>
            <a:endParaRPr lang="en-US" sz="2200" dirty="0"/>
          </a:p>
        </p:txBody>
      </p:sp>
      <p:sp>
        <p:nvSpPr>
          <p:cNvPr id="6" name="Text 4"/>
          <p:cNvSpPr/>
          <p:nvPr/>
        </p:nvSpPr>
        <p:spPr>
          <a:xfrm>
            <a:off x="2194560" y="91440"/>
            <a:ext cx="978408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【基礎組】Geminiチャットで議事録から顧客情報を抽出</a:t>
            </a:r>
            <a:endParaRPr lang="en-US" sz="2600" dirty="0"/>
          </a:p>
        </p:txBody>
      </p:sp>
      <p:sp>
        <p:nvSpPr>
          <p:cNvPr id="7" name="Text 5"/>
          <p:cNvSpPr/>
          <p:nvPr/>
        </p:nvSpPr>
        <p:spPr>
          <a:xfrm>
            <a:off x="457200" y="960120"/>
            <a:ext cx="11247120" cy="45720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コードを書かず、Gemini チャットだけで議事録から顧客情報を取り出してスプシに貼る体験をします。</a:t>
            </a:r>
            <a:endParaRPr lang="en-US" sz="2000" dirty="0"/>
          </a:p>
        </p:txBody>
      </p:sp>
      <p:sp>
        <p:nvSpPr>
          <p:cNvPr id="8" name="Shape 6"/>
          <p:cNvSpPr/>
          <p:nvPr/>
        </p:nvSpPr>
        <p:spPr>
          <a:xfrm>
            <a:off x="365760" y="1508760"/>
            <a:ext cx="11430000" cy="3657600"/>
          </a:xfrm>
          <a:prstGeom prst="roundRect">
            <a:avLst>
              <a:gd name="adj" fmla="val 1500"/>
            </a:avLst>
          </a:prstGeom>
          <a:solidFill>
            <a:srgbClr val="FFF4E5"/>
          </a:solidFill>
          <a:ln w="19050">
            <a:solidFill>
              <a:srgbClr val="FF9800"/>
            </a:solidFill>
            <a:prstDash val="solid"/>
          </a:ln>
        </p:spPr>
        <p:txBody>
          <a:bodyPr/>
          <a:p/>
        </p:txBody>
      </p:sp>
      <p:sp>
        <p:nvSpPr>
          <p:cNvPr id="9" name="Text 7"/>
          <p:cNvSpPr/>
          <p:nvPr/>
        </p:nvSpPr>
        <p:spPr>
          <a:xfrm>
            <a:off x="548640" y="1600200"/>
            <a:ext cx="11064240" cy="457200"/>
          </a:xfrm>
          <a:prstGeom prst="rect">
            <a:avLst/>
          </a:prstGeom>
          <a:noFill/>
          <a:ln/>
        </p:spPr>
        <p:txBody>
          <a:bodyPr wrap="square" rtlCol="0" anchor="ctr"/>
          <a:lstStyle/>
          <a:p>
            <a:pPr indent="0" marL="0">
              <a:buNone/>
            </a:pPr>
            <a:r>
              <a:rPr lang="en-US" sz="2200" b="1" dirty="0">
                <a:solidFill>
                  <a:srgbClr val="E65100"/>
                </a:solidFill>
                <a:latin typeface="Yu Gothic UI" pitchFamily="34" charset="0"/>
                <a:ea typeface="Yu Gothic UI" pitchFamily="34" charset="-122"/>
                <a:cs typeface="Yu Gothic UI" pitchFamily="34" charset="-120"/>
              </a:rPr>
              <a:t>🟠 お題</a:t>
            </a:r>
            <a:endParaRPr lang="en-US" sz="2200" dirty="0"/>
          </a:p>
        </p:txBody>
      </p:sp>
      <p:sp>
        <p:nvSpPr>
          <p:cNvPr id="10" name="Text 8"/>
          <p:cNvSpPr/>
          <p:nvPr/>
        </p:nvSpPr>
        <p:spPr>
          <a:xfrm>
            <a:off x="594360" y="210312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シチュエーション</a:t>
            </a:r>
            <a:endParaRPr lang="en-US" sz="2000" dirty="0"/>
          </a:p>
        </p:txBody>
      </p:sp>
      <p:sp>
        <p:nvSpPr>
          <p:cNvPr id="11" name="Text 9"/>
          <p:cNvSpPr/>
          <p:nvPr/>
        </p:nvSpPr>
        <p:spPr>
          <a:xfrm>
            <a:off x="640080" y="242316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議事録はあるが、顧客情報シートへの反映は手作業のまま。コードを書かずに AI に抽出してもらいたい。</a:t>
            </a:r>
            <a:endParaRPr lang="en-US" sz="2000" dirty="0"/>
          </a:p>
        </p:txBody>
      </p:sp>
      <p:sp>
        <p:nvSpPr>
          <p:cNvPr id="12" name="Text 10"/>
          <p:cNvSpPr/>
          <p:nvPr/>
        </p:nvSpPr>
        <p:spPr>
          <a:xfrm>
            <a:off x="594360" y="310896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作るもの</a:t>
            </a:r>
            <a:endParaRPr lang="en-US" sz="2000" dirty="0"/>
          </a:p>
        </p:txBody>
      </p:sp>
      <p:sp>
        <p:nvSpPr>
          <p:cNvPr id="13" name="Text 11"/>
          <p:cNvSpPr/>
          <p:nvPr/>
        </p:nvSpPr>
        <p:spPr>
          <a:xfrm>
            <a:off x="640080" y="342900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顧客情報の抽出結果：①お客様名 ②要望・課題 ③次回アクション ④最終商談日 を表形式で取得</a:t>
            </a:r>
            <a:endParaRPr lang="en-US" sz="2000" dirty="0"/>
          </a:p>
        </p:txBody>
      </p:sp>
      <p:sp>
        <p:nvSpPr>
          <p:cNvPr id="14" name="Text 12"/>
          <p:cNvSpPr/>
          <p:nvPr/>
        </p:nvSpPr>
        <p:spPr>
          <a:xfrm>
            <a:off x="594360" y="4114800"/>
            <a:ext cx="10972800" cy="320040"/>
          </a:xfrm>
          <a:prstGeom prst="rect">
            <a:avLst/>
          </a:prstGeom>
          <a:noFill/>
          <a:ln/>
        </p:spPr>
        <p:txBody>
          <a:bodyPr wrap="square" rtlCol="0" anchor="ctr"/>
          <a:lstStyle/>
          <a:p>
            <a:pPr indent="0" marL="0">
              <a:buNone/>
            </a:pPr>
            <a:r>
              <a:rPr lang="en-US" sz="2000" b="1" dirty="0">
                <a:solidFill>
                  <a:srgbClr val="E65100"/>
                </a:solidFill>
                <a:latin typeface="Yu Gothic UI" pitchFamily="34" charset="0"/>
                <a:ea typeface="Yu Gothic UI" pitchFamily="34" charset="-122"/>
                <a:cs typeface="Yu Gothic UI" pitchFamily="34" charset="-120"/>
              </a:rPr>
              <a:t>▼ 制約・こだわり</a:t>
            </a:r>
            <a:endParaRPr lang="en-US" sz="2000" dirty="0"/>
          </a:p>
        </p:txBody>
      </p:sp>
      <p:sp>
        <p:nvSpPr>
          <p:cNvPr id="15" name="Text 13"/>
          <p:cNvSpPr/>
          <p:nvPr/>
        </p:nvSpPr>
        <p:spPr>
          <a:xfrm>
            <a:off x="640080" y="4434840"/>
            <a:ext cx="10927080" cy="68580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GAS は使わない／Gemini チャットに「議事録から顧客情報を表形式で抽出」と依頼／出力をスプシに貼って整理</a:t>
            </a:r>
            <a:endParaRPr lang="en-US" sz="2000" dirty="0"/>
          </a:p>
        </p:txBody>
      </p:sp>
      <p:sp>
        <p:nvSpPr>
          <p:cNvPr id="16" name="Shape 14"/>
          <p:cNvSpPr/>
          <p:nvPr/>
        </p:nvSpPr>
        <p:spPr>
          <a:xfrm>
            <a:off x="365760" y="5303520"/>
            <a:ext cx="11430000" cy="1234440"/>
          </a:xfrm>
          <a:prstGeom prst="roundRect">
            <a:avLst>
              <a:gd name="adj" fmla="val 4444"/>
            </a:avLst>
          </a:prstGeom>
          <a:solidFill>
            <a:srgbClr val="F0FAF0"/>
          </a:solidFill>
          <a:ln w="25400">
            <a:solidFill>
              <a:srgbClr val="4CAF50"/>
            </a:solidFill>
            <a:prstDash val="solid"/>
          </a:ln>
        </p:spPr>
        <p:txBody>
          <a:bodyPr/>
          <a:p/>
        </p:txBody>
      </p:sp>
      <p:sp>
        <p:nvSpPr>
          <p:cNvPr id="17" name="Text 15"/>
          <p:cNvSpPr/>
          <p:nvPr/>
        </p:nvSpPr>
        <p:spPr>
          <a:xfrm>
            <a:off x="548640" y="5394960"/>
            <a:ext cx="11064240" cy="411480"/>
          </a:xfrm>
          <a:prstGeom prst="rect">
            <a:avLst/>
          </a:prstGeom>
          <a:noFill/>
          <a:ln/>
        </p:spPr>
        <p:txBody>
          <a:bodyPr wrap="square" rtlCol="0" anchor="ctr"/>
          <a:lstStyle/>
          <a:p>
            <a:pPr indent="0" marL="0">
              <a:buNone/>
            </a:pPr>
            <a:r>
              <a:rPr lang="en-US" sz="2200" b="1" dirty="0">
                <a:solidFill>
                  <a:srgbClr val="2E7D32"/>
                </a:solidFill>
                <a:latin typeface="Yu Gothic UI" pitchFamily="34" charset="0"/>
                <a:ea typeface="Yu Gothic UI" pitchFamily="34" charset="-122"/>
                <a:cs typeface="Yu Gothic UI" pitchFamily="34" charset="-120"/>
              </a:rPr>
              <a:t>▶ やってみよう</a:t>
            </a:r>
            <a:endParaRPr lang="en-US" sz="2200" dirty="0"/>
          </a:p>
        </p:txBody>
      </p:sp>
      <p:sp>
        <p:nvSpPr>
          <p:cNvPr id="18" name="Text 16"/>
          <p:cNvSpPr/>
          <p:nvPr/>
        </p:nvSpPr>
        <p:spPr>
          <a:xfrm>
            <a:off x="731520" y="585216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1. Gemini チャットに議事録テキストを貼り「お客様名・要望・次回アクション・最終商談日を表で抽出」と依頼</a:t>
            </a:r>
            <a:endParaRPr lang="en-US" sz="2000" dirty="0"/>
          </a:p>
        </p:txBody>
      </p:sp>
      <p:sp>
        <p:nvSpPr>
          <p:cNvPr id="19" name="Text 17"/>
          <p:cNvSpPr/>
          <p:nvPr/>
        </p:nvSpPr>
        <p:spPr>
          <a:xfrm>
            <a:off x="731520" y="606552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2. 出力された表をコピーして『顧客情報』シートに貼り付け</a:t>
            </a:r>
            <a:endParaRPr lang="en-US" sz="2000" dirty="0"/>
          </a:p>
        </p:txBody>
      </p:sp>
      <p:sp>
        <p:nvSpPr>
          <p:cNvPr id="20" name="Text 18"/>
          <p:cNvSpPr/>
          <p:nvPr/>
        </p:nvSpPr>
        <p:spPr>
          <a:xfrm>
            <a:off x="731520" y="6278880"/>
            <a:ext cx="10881360" cy="213360"/>
          </a:xfrm>
          <a:prstGeom prst="rect">
            <a:avLst/>
          </a:prstGeom>
          <a:noFill/>
          <a:ln/>
        </p:spPr>
        <p:txBody>
          <a:bodyPr wrap="square" rtlCol="0" anchor="t"/>
          <a:lstStyle/>
          <a:p>
            <a:pPr indent="0" marL="0">
              <a:buNone/>
            </a:pPr>
            <a:r>
              <a:rPr lang="en-US" sz="2000" dirty="0">
                <a:solidFill>
                  <a:srgbClr val="222222"/>
                </a:solidFill>
                <a:latin typeface="Yu Gothic UI" pitchFamily="34" charset="0"/>
                <a:ea typeface="Yu Gothic UI" pitchFamily="34" charset="-122"/>
                <a:cs typeface="Yu Gothic UI" pitchFamily="34" charset="-120"/>
              </a:rPr>
              <a:t>3. 同じ手順を 3 つの議事録で繰り返し、顧客情報シートを充実させる</a:t>
            </a:r>
            <a:endParaRPr lang="en-US" sz="2000" dirty="0"/>
          </a:p>
        </p:txBody>
      </p:sp>
      <p:sp>
        <p:nvSpPr>
          <p:cNvPr id="21" name="Text 19"/>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7 / 8</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3A5F"/>
          </a:solidFill>
          <a:ln w="12700">
            <a:solidFill>
              <a:srgbClr val="1F3A5F"/>
            </a:solidFill>
            <a:prstDash val="solid"/>
          </a:ln>
        </p:spPr>
        <p:txBody>
          <a:bodyPr/>
          <a:p/>
        </p:txBody>
      </p:sp>
      <p:sp>
        <p:nvSpPr>
          <p:cNvPr id="3" name="Shape 1"/>
          <p:cNvSpPr/>
          <p:nvPr/>
        </p:nvSpPr>
        <p:spPr>
          <a:xfrm>
            <a:off x="0" y="777240"/>
            <a:ext cx="12191695" cy="73152"/>
          </a:xfrm>
          <a:prstGeom prst="rect">
            <a:avLst/>
          </a:prstGeom>
          <a:solidFill>
            <a:srgbClr val="F39C12"/>
          </a:solidFill>
          <a:ln w="12700">
            <a:solidFill>
              <a:srgbClr val="F39C12"/>
            </a:solidFill>
            <a:prstDash val="solid"/>
          </a:ln>
        </p:spPr>
        <p:txBody>
          <a:bodyPr/>
          <a:p/>
        </p:txBody>
      </p:sp>
      <p:sp>
        <p:nvSpPr>
          <p:cNvPr id="4" name="Text 2"/>
          <p:cNvSpPr/>
          <p:nvPr/>
        </p:nvSpPr>
        <p:spPr>
          <a:xfrm>
            <a:off x="365760" y="91440"/>
            <a:ext cx="11430000" cy="640080"/>
          </a:xfrm>
          <a:prstGeom prst="rect">
            <a:avLst/>
          </a:prstGeom>
          <a:noFill/>
          <a:ln/>
        </p:spPr>
        <p:txBody>
          <a:bodyPr wrap="square" rtlCol="0" anchor="ctr"/>
          <a:lstStyle/>
          <a:p>
            <a:pPr indent="0" marL="0">
              <a:buNone/>
            </a:pPr>
            <a:r>
              <a:rPr lang="en-US" sz="2600" b="1" dirty="0">
                <a:solidFill>
                  <a:srgbClr val="FFFFFF"/>
                </a:solidFill>
                <a:latin typeface="Yu Gothic UI" pitchFamily="34" charset="0"/>
                <a:ea typeface="Yu Gothic UI" pitchFamily="34" charset="-122"/>
                <a:cs typeface="Yu Gothic UI" pitchFamily="34" charset="-120"/>
              </a:rPr>
              <a:t>お疲れさまでした</a:t>
            </a:r>
            <a:endParaRPr lang="en-US" sz="2600" dirty="0"/>
          </a:p>
        </p:txBody>
      </p:sp>
      <p:sp>
        <p:nvSpPr>
          <p:cNvPr id="5" name="Text 3"/>
          <p:cNvSpPr/>
          <p:nvPr/>
        </p:nvSpPr>
        <p:spPr>
          <a:xfrm>
            <a:off x="457200" y="1097280"/>
            <a:ext cx="11247120" cy="548640"/>
          </a:xfrm>
          <a:prstGeom prst="rect">
            <a:avLst/>
          </a:prstGeom>
          <a:noFill/>
          <a:ln/>
        </p:spPr>
        <p:txBody>
          <a:bodyPr wrap="square" rtlCol="0" anchor="ctr"/>
          <a:lstStyle/>
          <a:p>
            <a:pPr algn="ctr" indent="0" marL="0">
              <a:buNone/>
            </a:pPr>
            <a:r>
              <a:rPr lang="en-US" sz="2000" dirty="0">
                <a:solidFill>
                  <a:srgbClr val="222222"/>
                </a:solidFill>
                <a:latin typeface="Yu Gothic UI" pitchFamily="34" charset="0"/>
                <a:ea typeface="Yu Gothic UI" pitchFamily="34" charset="-122"/>
                <a:cs typeface="Yu Gothic UI" pitchFamily="34" charset="-120"/>
              </a:rPr>
              <a:t>応用編まで完走。商談文字起こし → 議事録 → 顧客情報まで一気通貫で自動化できる感覚を体験しました。</a:t>
            </a:r>
            <a:endParaRPr lang="en-US" sz="2000" dirty="0"/>
          </a:p>
        </p:txBody>
      </p:sp>
      <p:sp>
        <p:nvSpPr>
          <p:cNvPr id="6" name="Text 4"/>
          <p:cNvSpPr/>
          <p:nvPr/>
        </p:nvSpPr>
        <p:spPr>
          <a:xfrm>
            <a:off x="457200" y="1783080"/>
            <a:ext cx="11247120" cy="502920"/>
          </a:xfrm>
          <a:prstGeom prst="rect">
            <a:avLst/>
          </a:prstGeom>
          <a:noFill/>
          <a:ln/>
        </p:spPr>
        <p:txBody>
          <a:bodyPr wrap="square" rtlCol="0" anchor="ctr"/>
          <a:lstStyle/>
          <a:p>
            <a:pPr algn="ctr" indent="0" marL="0">
              <a:buNone/>
            </a:pPr>
            <a:r>
              <a:rPr lang="en-US" sz="2400" b="1" dirty="0">
                <a:solidFill>
                  <a:srgbClr val="1F3A5F"/>
                </a:solidFill>
                <a:latin typeface="Yu Gothic UI" pitchFamily="34" charset="0"/>
                <a:ea typeface="Yu Gothic UI" pitchFamily="34" charset="-122"/>
                <a:cs typeface="Yu Gothic UI" pitchFamily="34" charset="-120"/>
              </a:rPr>
              <a:t>今日の持ち帰り 3 点</a:t>
            </a:r>
            <a:endParaRPr lang="en-US" sz="2400" dirty="0"/>
          </a:p>
        </p:txBody>
      </p:sp>
      <p:sp>
        <p:nvSpPr>
          <p:cNvPr id="7" name="Shape 5"/>
          <p:cNvSpPr/>
          <p:nvPr/>
        </p:nvSpPr>
        <p:spPr>
          <a:xfrm>
            <a:off x="457200" y="2514600"/>
            <a:ext cx="11247120" cy="1143000"/>
          </a:xfrm>
          <a:prstGeom prst="roundRect">
            <a:avLst>
              <a:gd name="adj" fmla="val 6400"/>
            </a:avLst>
          </a:prstGeom>
          <a:solidFill>
            <a:srgbClr val="F4F8FC"/>
          </a:solidFill>
          <a:ln w="19050">
            <a:solidFill>
              <a:srgbClr val="F39C12"/>
            </a:solidFill>
            <a:prstDash val="solid"/>
          </a:ln>
        </p:spPr>
        <p:txBody>
          <a:bodyPr/>
          <a:p/>
        </p:txBody>
      </p:sp>
      <p:sp>
        <p:nvSpPr>
          <p:cNvPr id="8" name="Shape 6"/>
          <p:cNvSpPr/>
          <p:nvPr/>
        </p:nvSpPr>
        <p:spPr>
          <a:xfrm>
            <a:off x="640080" y="2743200"/>
            <a:ext cx="731520" cy="731520"/>
          </a:xfrm>
          <a:prstGeom prst="ellipse">
            <a:avLst/>
          </a:prstGeom>
          <a:solidFill>
            <a:srgbClr val="F39C12"/>
          </a:solidFill>
          <a:ln w="12700">
            <a:solidFill>
              <a:srgbClr val="F39C12"/>
            </a:solidFill>
            <a:prstDash val="solid"/>
          </a:ln>
        </p:spPr>
        <p:txBody>
          <a:bodyPr/>
          <a:p/>
        </p:txBody>
      </p:sp>
      <p:sp>
        <p:nvSpPr>
          <p:cNvPr id="9" name="Text 7"/>
          <p:cNvSpPr/>
          <p:nvPr/>
        </p:nvSpPr>
        <p:spPr>
          <a:xfrm>
            <a:off x="640080" y="2743200"/>
            <a:ext cx="731520" cy="731520"/>
          </a:xfrm>
          <a:prstGeom prst="rect">
            <a:avLst/>
          </a:prstGeom>
          <a:noFill/>
          <a:ln/>
        </p:spPr>
        <p:txBody>
          <a:bodyPr wrap="square" rtlCol="0" anchor="ctr"/>
          <a:lstStyle/>
          <a:p>
            <a:pPr algn="ctr" indent="0" marL="0">
              <a:buNone/>
            </a:pPr>
            <a:r>
              <a:rPr lang="en-US" sz="3000" b="1" dirty="0">
                <a:solidFill>
                  <a:srgbClr val="FFFFFF"/>
                </a:solidFill>
                <a:latin typeface="Yu Gothic UI" pitchFamily="34" charset="0"/>
                <a:ea typeface="Yu Gothic UI" pitchFamily="34" charset="-122"/>
                <a:cs typeface="Yu Gothic UI" pitchFamily="34" charset="-120"/>
              </a:rPr>
              <a:t>1</a:t>
            </a:r>
            <a:endParaRPr lang="en-US" sz="3000" dirty="0"/>
          </a:p>
        </p:txBody>
      </p:sp>
      <p:sp>
        <p:nvSpPr>
          <p:cNvPr id="10" name="Text 8"/>
          <p:cNvSpPr/>
          <p:nvPr/>
        </p:nvSpPr>
        <p:spPr>
          <a:xfrm>
            <a:off x="1554480" y="2651760"/>
            <a:ext cx="9692640" cy="457200"/>
          </a:xfrm>
          <a:prstGeom prst="rect">
            <a:avLst/>
          </a:prstGeom>
          <a:noFill/>
          <a:ln/>
        </p:spPr>
        <p:txBody>
          <a:bodyPr wrap="square" rtlCol="0" anchor="ctr"/>
          <a:lstStyle/>
          <a:p>
            <a:pPr indent="0" marL="0">
              <a:buNone/>
            </a:pPr>
            <a:r>
              <a:rPr lang="en-US" sz="2200" b="1" dirty="0">
                <a:solidFill>
                  <a:srgbClr val="1F3A5F"/>
                </a:solidFill>
                <a:latin typeface="Yu Gothic UI" pitchFamily="34" charset="0"/>
                <a:ea typeface="Yu Gothic UI" pitchFamily="34" charset="-122"/>
                <a:cs typeface="Yu Gothic UI" pitchFamily="34" charset="-120"/>
              </a:rPr>
              <a:t>日本語で頼んでコピペで動く</a:t>
            </a:r>
            <a:endParaRPr lang="en-US" sz="2200" dirty="0"/>
          </a:p>
        </p:txBody>
      </p:sp>
      <p:sp>
        <p:nvSpPr>
          <p:cNvPr id="11" name="Text 9"/>
          <p:cNvSpPr/>
          <p:nvPr/>
        </p:nvSpPr>
        <p:spPr>
          <a:xfrm>
            <a:off x="1554480" y="3154680"/>
            <a:ext cx="9692640" cy="45720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バイブコーディングが体験できた</a:t>
            </a:r>
            <a:endParaRPr lang="en-US" sz="2000" dirty="0"/>
          </a:p>
        </p:txBody>
      </p:sp>
      <p:sp>
        <p:nvSpPr>
          <p:cNvPr id="12" name="Shape 10"/>
          <p:cNvSpPr/>
          <p:nvPr/>
        </p:nvSpPr>
        <p:spPr>
          <a:xfrm>
            <a:off x="457200" y="3794760"/>
            <a:ext cx="11247120" cy="1143000"/>
          </a:xfrm>
          <a:prstGeom prst="roundRect">
            <a:avLst>
              <a:gd name="adj" fmla="val 6400"/>
            </a:avLst>
          </a:prstGeom>
          <a:solidFill>
            <a:srgbClr val="F4F8FC"/>
          </a:solidFill>
          <a:ln w="19050">
            <a:solidFill>
              <a:srgbClr val="F39C12"/>
            </a:solidFill>
            <a:prstDash val="solid"/>
          </a:ln>
        </p:spPr>
        <p:txBody>
          <a:bodyPr/>
          <a:p/>
        </p:txBody>
      </p:sp>
      <p:sp>
        <p:nvSpPr>
          <p:cNvPr id="13" name="Shape 11"/>
          <p:cNvSpPr/>
          <p:nvPr/>
        </p:nvSpPr>
        <p:spPr>
          <a:xfrm>
            <a:off x="640080" y="4023360"/>
            <a:ext cx="731520" cy="731520"/>
          </a:xfrm>
          <a:prstGeom prst="ellipse">
            <a:avLst/>
          </a:prstGeom>
          <a:solidFill>
            <a:srgbClr val="F39C12"/>
          </a:solidFill>
          <a:ln w="12700">
            <a:solidFill>
              <a:srgbClr val="F39C12"/>
            </a:solidFill>
            <a:prstDash val="solid"/>
          </a:ln>
        </p:spPr>
        <p:txBody>
          <a:bodyPr/>
          <a:p/>
        </p:txBody>
      </p:sp>
      <p:sp>
        <p:nvSpPr>
          <p:cNvPr id="14" name="Text 12"/>
          <p:cNvSpPr/>
          <p:nvPr/>
        </p:nvSpPr>
        <p:spPr>
          <a:xfrm>
            <a:off x="640080" y="4023360"/>
            <a:ext cx="731520" cy="731520"/>
          </a:xfrm>
          <a:prstGeom prst="rect">
            <a:avLst/>
          </a:prstGeom>
          <a:noFill/>
          <a:ln/>
        </p:spPr>
        <p:txBody>
          <a:bodyPr wrap="square" rtlCol="0" anchor="ctr"/>
          <a:lstStyle/>
          <a:p>
            <a:pPr algn="ctr" indent="0" marL="0">
              <a:buNone/>
            </a:pPr>
            <a:r>
              <a:rPr lang="en-US" sz="3000" b="1" dirty="0">
                <a:solidFill>
                  <a:srgbClr val="FFFFFF"/>
                </a:solidFill>
                <a:latin typeface="Yu Gothic UI" pitchFamily="34" charset="0"/>
                <a:ea typeface="Yu Gothic UI" pitchFamily="34" charset="-122"/>
                <a:cs typeface="Yu Gothic UI" pitchFamily="34" charset="-120"/>
              </a:rPr>
              <a:t>2</a:t>
            </a:r>
            <a:endParaRPr lang="en-US" sz="3000" dirty="0"/>
          </a:p>
        </p:txBody>
      </p:sp>
      <p:sp>
        <p:nvSpPr>
          <p:cNvPr id="15" name="Text 13"/>
          <p:cNvSpPr/>
          <p:nvPr/>
        </p:nvSpPr>
        <p:spPr>
          <a:xfrm>
            <a:off x="1554480" y="3931920"/>
            <a:ext cx="9692640" cy="457200"/>
          </a:xfrm>
          <a:prstGeom prst="rect">
            <a:avLst/>
          </a:prstGeom>
          <a:noFill/>
          <a:ln/>
        </p:spPr>
        <p:txBody>
          <a:bodyPr wrap="square" rtlCol="0" anchor="ctr"/>
          <a:lstStyle/>
          <a:p>
            <a:pPr indent="0" marL="0">
              <a:buNone/>
            </a:pPr>
            <a:r>
              <a:rPr lang="en-US" sz="2200" b="1" dirty="0">
                <a:solidFill>
                  <a:srgbClr val="1F3A5F"/>
                </a:solidFill>
                <a:latin typeface="Yu Gothic UI" pitchFamily="34" charset="0"/>
                <a:ea typeface="Yu Gothic UI" pitchFamily="34" charset="-122"/>
                <a:cs typeface="Yu Gothic UI" pitchFamily="34" charset="-120"/>
              </a:rPr>
              <a:t>文字起こしから顧客情報まで一気通貫</a:t>
            </a:r>
            <a:endParaRPr lang="en-US" sz="2200" dirty="0"/>
          </a:p>
        </p:txBody>
      </p:sp>
      <p:sp>
        <p:nvSpPr>
          <p:cNvPr id="16" name="Text 14"/>
          <p:cNvSpPr/>
          <p:nvPr/>
        </p:nvSpPr>
        <p:spPr>
          <a:xfrm>
            <a:off x="1554480" y="4434840"/>
            <a:ext cx="9692640" cy="45720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AI がビジネスデータを構造化してくれる</a:t>
            </a:r>
            <a:endParaRPr lang="en-US" sz="2000" dirty="0"/>
          </a:p>
        </p:txBody>
      </p:sp>
      <p:sp>
        <p:nvSpPr>
          <p:cNvPr id="17" name="Shape 15"/>
          <p:cNvSpPr/>
          <p:nvPr/>
        </p:nvSpPr>
        <p:spPr>
          <a:xfrm>
            <a:off x="457200" y="5074920"/>
            <a:ext cx="11247120" cy="1143000"/>
          </a:xfrm>
          <a:prstGeom prst="roundRect">
            <a:avLst>
              <a:gd name="adj" fmla="val 6400"/>
            </a:avLst>
          </a:prstGeom>
          <a:solidFill>
            <a:srgbClr val="F4F8FC"/>
          </a:solidFill>
          <a:ln w="19050">
            <a:solidFill>
              <a:srgbClr val="F39C12"/>
            </a:solidFill>
            <a:prstDash val="solid"/>
          </a:ln>
        </p:spPr>
        <p:txBody>
          <a:bodyPr/>
          <a:p/>
        </p:txBody>
      </p:sp>
      <p:sp>
        <p:nvSpPr>
          <p:cNvPr id="18" name="Shape 16"/>
          <p:cNvSpPr/>
          <p:nvPr/>
        </p:nvSpPr>
        <p:spPr>
          <a:xfrm>
            <a:off x="640080" y="5303520"/>
            <a:ext cx="731520" cy="731520"/>
          </a:xfrm>
          <a:prstGeom prst="ellipse">
            <a:avLst/>
          </a:prstGeom>
          <a:solidFill>
            <a:srgbClr val="F39C12"/>
          </a:solidFill>
          <a:ln w="12700">
            <a:solidFill>
              <a:srgbClr val="F39C12"/>
            </a:solidFill>
            <a:prstDash val="solid"/>
          </a:ln>
        </p:spPr>
        <p:txBody>
          <a:bodyPr/>
          <a:p/>
        </p:txBody>
      </p:sp>
      <p:sp>
        <p:nvSpPr>
          <p:cNvPr id="19" name="Text 17"/>
          <p:cNvSpPr/>
          <p:nvPr/>
        </p:nvSpPr>
        <p:spPr>
          <a:xfrm>
            <a:off x="640080" y="5303520"/>
            <a:ext cx="731520" cy="731520"/>
          </a:xfrm>
          <a:prstGeom prst="rect">
            <a:avLst/>
          </a:prstGeom>
          <a:noFill/>
          <a:ln/>
        </p:spPr>
        <p:txBody>
          <a:bodyPr wrap="square" rtlCol="0" anchor="ctr"/>
          <a:lstStyle/>
          <a:p>
            <a:pPr algn="ctr" indent="0" marL="0">
              <a:buNone/>
            </a:pPr>
            <a:r>
              <a:rPr lang="en-US" sz="3000" b="1" dirty="0">
                <a:solidFill>
                  <a:srgbClr val="FFFFFF"/>
                </a:solidFill>
                <a:latin typeface="Yu Gothic UI" pitchFamily="34" charset="0"/>
                <a:ea typeface="Yu Gothic UI" pitchFamily="34" charset="-122"/>
                <a:cs typeface="Yu Gothic UI" pitchFamily="34" charset="-120"/>
              </a:rPr>
              <a:t>3</a:t>
            </a:r>
            <a:endParaRPr lang="en-US" sz="3000" dirty="0"/>
          </a:p>
        </p:txBody>
      </p:sp>
      <p:sp>
        <p:nvSpPr>
          <p:cNvPr id="20" name="Text 18"/>
          <p:cNvSpPr/>
          <p:nvPr/>
        </p:nvSpPr>
        <p:spPr>
          <a:xfrm>
            <a:off x="1554480" y="5212080"/>
            <a:ext cx="9692640" cy="457200"/>
          </a:xfrm>
          <a:prstGeom prst="rect">
            <a:avLst/>
          </a:prstGeom>
          <a:noFill/>
          <a:ln/>
        </p:spPr>
        <p:txBody>
          <a:bodyPr wrap="square" rtlCol="0" anchor="ctr"/>
          <a:lstStyle/>
          <a:p>
            <a:pPr indent="0" marL="0">
              <a:buNone/>
            </a:pPr>
            <a:r>
              <a:rPr lang="en-US" sz="2200" b="1" dirty="0">
                <a:solidFill>
                  <a:srgbClr val="1F3A5F"/>
                </a:solidFill>
                <a:latin typeface="Yu Gothic UI" pitchFamily="34" charset="0"/>
                <a:ea typeface="Yu Gothic UI" pitchFamily="34" charset="-122"/>
                <a:cs typeface="Yu Gothic UI" pitchFamily="34" charset="-120"/>
              </a:rPr>
              <a:t>無理せず自分のペースで</a:t>
            </a:r>
            <a:endParaRPr lang="en-US" sz="2200" dirty="0"/>
          </a:p>
        </p:txBody>
      </p:sp>
      <p:sp>
        <p:nvSpPr>
          <p:cNvPr id="21" name="Text 19"/>
          <p:cNvSpPr/>
          <p:nvPr/>
        </p:nvSpPr>
        <p:spPr>
          <a:xfrm>
            <a:off x="1554480" y="5715000"/>
            <a:ext cx="9692640" cy="457200"/>
          </a:xfrm>
          <a:prstGeom prst="rect">
            <a:avLst/>
          </a:prstGeom>
          <a:noFill/>
          <a:ln/>
        </p:spPr>
        <p:txBody>
          <a:bodyPr wrap="square" rtlCol="0" anchor="ctr"/>
          <a:lstStyle/>
          <a:p>
            <a:pPr indent="0" marL="0">
              <a:buNone/>
            </a:pPr>
            <a:r>
              <a:rPr lang="en-US" sz="2000" dirty="0">
                <a:solidFill>
                  <a:srgbClr val="222222"/>
                </a:solidFill>
                <a:latin typeface="Yu Gothic UI" pitchFamily="34" charset="0"/>
                <a:ea typeface="Yu Gothic UI" pitchFamily="34" charset="-122"/>
                <a:cs typeface="Yu Gothic UI" pitchFamily="34" charset="-120"/>
              </a:rPr>
              <a:t>コードを書かなくても AI に頼めば十分</a:t>
            </a:r>
            <a:endParaRPr lang="en-US" sz="2000" dirty="0"/>
          </a:p>
        </p:txBody>
      </p:sp>
      <p:sp>
        <p:nvSpPr>
          <p:cNvPr id="22" name="Text 20"/>
          <p:cNvSpPr/>
          <p:nvPr/>
        </p:nvSpPr>
        <p:spPr>
          <a:xfrm>
            <a:off x="11338560" y="6565392"/>
            <a:ext cx="640080" cy="274320"/>
          </a:xfrm>
          <a:prstGeom prst="rect">
            <a:avLst/>
          </a:prstGeom>
          <a:noFill/>
          <a:ln/>
        </p:spPr>
        <p:txBody>
          <a:bodyPr wrap="square" rtlCol="0" anchor="ctr"/>
          <a:lstStyle/>
          <a:p>
            <a:pPr algn="r" indent="0" marL="0">
              <a:buNone/>
            </a:pPr>
            <a:r>
              <a:rPr lang="en-US" sz="1400" dirty="0">
                <a:solidFill>
                  <a:srgbClr val="888888"/>
                </a:solidFill>
                <a:latin typeface="Yu Gothic UI" pitchFamily="34" charset="0"/>
                <a:ea typeface="Yu Gothic UI" pitchFamily="34" charset="-122"/>
                <a:cs typeface="Yu Gothic UI" pitchFamily="34" charset="-120"/>
              </a:rPr>
              <a:t>8 / 8</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第7回 GASを使いこなす（応用）（応用編） 講師用</dc:title>
  <dc:subject>PptxGenJS Presentation</dc:subject>
  <dc:creator>PptxGenJS</dc:creator>
  <cp:lastModifiedBy>PptxGenJS</cp:lastModifiedBy>
  <cp:revision>1</cp:revision>
  <dcterms:created xsi:type="dcterms:W3CDTF">2026-05-24T02:55:07Z</dcterms:created>
  <dcterms:modified xsi:type="dcterms:W3CDTF">2026-05-24T02:55:07Z</dcterms:modified>
</cp:coreProperties>
</file>