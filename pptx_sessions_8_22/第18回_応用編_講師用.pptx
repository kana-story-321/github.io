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【オープニング】中級者向け：リマインドメール自動化。基礎組向け：商談ログをデータベース的に分析する体験。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【話す内容】「無理しない」を強調。中級コースを選んでもエラー連発で進まない場合は途中で基礎組に切替OK。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【ポイント】中級者向けの演習。エラーは Gemini との往復で解消。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【ポイント】「自動化したシステムが、いつ動かなくなるか分からない」を体感。エラー通知は実務必須。
【時間配分】15分。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【ポイント】「コードを書かなくてもこれだけできる」を体感。GASは万能ではなく、ピボットだけで十分なことも多い。
【時間配分】20分。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【締めトーク】GAS編はここまで。次回は別テーマに進む。
【講師補足】業務で実際に運用する際は社内ルール（自動送信メールの取扱い、データ連携の範囲など）を必ず確認、と一言。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468880"/>
            <a:ext cx="12191695" cy="109728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2578608"/>
            <a:ext cx="12191695" cy="36576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457200" y="82296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 18 回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457200" y="1463040"/>
            <a:ext cx="11247120" cy="10058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GASを使いこなす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2834640"/>
            <a:ext cx="11247120" cy="8229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dirty="0">
                <a:solidFill>
                  <a:srgbClr val="4A6FA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〜 シミュレーション結果のグラフ化と提示 〜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457200" y="4023360"/>
            <a:ext cx="1124712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応用編（02）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4572000" y="5029200"/>
            <a:ext cx="3047695" cy="640080"/>
          </a:xfrm>
          <a:prstGeom prst="roundRect">
            <a:avLst>
              <a:gd name="adj" fmla="val 11429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4572000" y="5029200"/>
            <a:ext cx="3047695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講師用</a:t>
            </a:r>
            <a:endParaRPr lang="en-US" sz="2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今日のゴール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応用編は「結果の自動グラフ化」と「質問テンプレ集の作成」の2本立てです。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82880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Text 5"/>
          <p:cNvSpPr/>
          <p:nvPr/>
        </p:nvSpPr>
        <p:spPr>
          <a:xfrm>
            <a:off x="640080" y="201168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①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1691640" y="196596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中級:結果を自動グラフ化</a:t>
            </a:r>
            <a:endParaRPr lang="en-US" sz="2400" dirty="0"/>
          </a:p>
        </p:txBody>
      </p:sp>
      <p:sp>
        <p:nvSpPr>
          <p:cNvPr id="9" name="Text 7"/>
          <p:cNvSpPr/>
          <p:nvPr/>
        </p:nvSpPr>
        <p:spPr>
          <a:xfrm>
            <a:off x="1691640" y="2514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スプシ→グラフ→PDF出力まで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" y="324612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Text 9"/>
          <p:cNvSpPr/>
          <p:nvPr/>
        </p:nvSpPr>
        <p:spPr>
          <a:xfrm>
            <a:off x="640080" y="342900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②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1691640" y="338328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基礎:質問テンプレ集を作成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1691640" y="393192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シーン別に使える質問集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457200" y="4663440"/>
            <a:ext cx="11247120" cy="1280160"/>
          </a:xfrm>
          <a:prstGeom prst="roundRect">
            <a:avLst>
              <a:gd name="adj" fmla="val 4286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5" name="Text 13"/>
          <p:cNvSpPr/>
          <p:nvPr/>
        </p:nvSpPr>
        <p:spPr>
          <a:xfrm>
            <a:off x="640080" y="4846320"/>
            <a:ext cx="822960" cy="9144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44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③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1691640" y="480060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両者共通：自分のペースで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691640" y="5349240"/>
            <a:ext cx="95554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無理せず、できる範囲で完成させる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 / 8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今日の流れ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515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スライドの色で「解説」と「演習」を分けています。</a:t>
            </a:r>
            <a:endParaRPr lang="en-US" sz="2000" dirty="0"/>
          </a:p>
        </p:txBody>
      </p:sp>
      <p:sp>
        <p:nvSpPr>
          <p:cNvPr id="6" name="Shape 4"/>
          <p:cNvSpPr/>
          <p:nvPr/>
        </p:nvSpPr>
        <p:spPr>
          <a:xfrm>
            <a:off x="457200" y="1691640"/>
            <a:ext cx="5486400" cy="86868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7" name="Shape 5"/>
          <p:cNvSpPr/>
          <p:nvPr/>
        </p:nvSpPr>
        <p:spPr>
          <a:xfrm>
            <a:off x="640080" y="1828800"/>
            <a:ext cx="105156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Text 6"/>
          <p:cNvSpPr/>
          <p:nvPr/>
        </p:nvSpPr>
        <p:spPr>
          <a:xfrm>
            <a:off x="640080" y="1828800"/>
            <a:ext cx="105156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1828800" y="1691640"/>
            <a:ext cx="402336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話を聞く時間（短め）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6245352" y="1691640"/>
            <a:ext cx="5486400" cy="86868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1" name="Shape 9"/>
          <p:cNvSpPr/>
          <p:nvPr/>
        </p:nvSpPr>
        <p:spPr>
          <a:xfrm>
            <a:off x="6428232" y="1828800"/>
            <a:ext cx="1554480" cy="594360"/>
          </a:xfrm>
          <a:prstGeom prst="roundRect">
            <a:avLst>
              <a:gd name="adj" fmla="val 9231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1554480" cy="59436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N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8119872" y="1691640"/>
            <a:ext cx="3474720" cy="8686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手を動かす時間（長め）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457200" y="2743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全体の流れ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57200" y="324612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4F8FC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6" name="Shape 14"/>
          <p:cNvSpPr/>
          <p:nvPr/>
        </p:nvSpPr>
        <p:spPr>
          <a:xfrm>
            <a:off x="594360" y="3374136"/>
            <a:ext cx="1051560" cy="384048"/>
          </a:xfrm>
          <a:prstGeom prst="roundRect">
            <a:avLst>
              <a:gd name="adj" fmla="val 9524"/>
            </a:avLst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94360" y="3374136"/>
            <a:ext cx="105156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1783080" y="3355848"/>
            <a:ext cx="973836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応用編の2コース（中級コース／基礎組コース）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457200" y="397764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0" name="Shape 18"/>
          <p:cNvSpPr/>
          <p:nvPr/>
        </p:nvSpPr>
        <p:spPr>
          <a:xfrm>
            <a:off x="594360" y="410565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1" name="Text 19"/>
          <p:cNvSpPr/>
          <p:nvPr/>
        </p:nvSpPr>
        <p:spPr>
          <a:xfrm>
            <a:off x="594360" y="410565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2103120" y="408736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【中級】シミュレーション結果の自動グラフ化</a:t>
            </a:r>
            <a:endParaRPr lang="en-US" sz="2000" dirty="0"/>
          </a:p>
        </p:txBody>
      </p:sp>
      <p:sp>
        <p:nvSpPr>
          <p:cNvPr id="23" name="Shape 21"/>
          <p:cNvSpPr/>
          <p:nvPr/>
        </p:nvSpPr>
        <p:spPr>
          <a:xfrm>
            <a:off x="457200" y="470916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4" name="Shape 22"/>
          <p:cNvSpPr/>
          <p:nvPr/>
        </p:nvSpPr>
        <p:spPr>
          <a:xfrm>
            <a:off x="594360" y="483717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5" name="Text 23"/>
          <p:cNvSpPr/>
          <p:nvPr/>
        </p:nvSpPr>
        <p:spPr>
          <a:xfrm>
            <a:off x="594360" y="483717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2103120" y="481888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000" dirty="0"/>
          </a:p>
        </p:txBody>
      </p:sp>
      <p:sp>
        <p:nvSpPr>
          <p:cNvPr id="27" name="Shape 25"/>
          <p:cNvSpPr/>
          <p:nvPr/>
        </p:nvSpPr>
        <p:spPr>
          <a:xfrm>
            <a:off x="457200" y="5440680"/>
            <a:ext cx="11247120" cy="640080"/>
          </a:xfrm>
          <a:prstGeom prst="roundRect">
            <a:avLst>
              <a:gd name="adj" fmla="val 7143"/>
            </a:avLst>
          </a:prstGeom>
          <a:solidFill>
            <a:srgbClr val="FFF4E5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8" name="Shape 26"/>
          <p:cNvSpPr/>
          <p:nvPr/>
        </p:nvSpPr>
        <p:spPr>
          <a:xfrm>
            <a:off x="594360" y="5568696"/>
            <a:ext cx="1371600" cy="384048"/>
          </a:xfrm>
          <a:prstGeom prst="roundRect">
            <a:avLst>
              <a:gd name="adj" fmla="val 9524"/>
            </a:avLst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29" name="Text 27"/>
          <p:cNvSpPr/>
          <p:nvPr/>
        </p:nvSpPr>
        <p:spPr>
          <a:xfrm>
            <a:off x="594360" y="5568696"/>
            <a:ext cx="1371600" cy="384048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000" dirty="0"/>
          </a:p>
        </p:txBody>
      </p:sp>
      <p:sp>
        <p:nvSpPr>
          <p:cNvPr id="30" name="Text 28"/>
          <p:cNvSpPr/>
          <p:nvPr/>
        </p:nvSpPr>
        <p:spPr>
          <a:xfrm>
            <a:off x="2103120" y="5550408"/>
            <a:ext cx="9418320" cy="420624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【基礎組】シーン別質問テンプレ集を作成</a:t>
            </a:r>
            <a:endParaRPr lang="en-US" sz="2000" dirty="0"/>
          </a:p>
        </p:txBody>
      </p:sp>
      <p:sp>
        <p:nvSpPr>
          <p:cNvPr id="31" name="Text 2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 / 8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4A6FA5"/>
          </a:solidFill>
          <a:ln w="12700">
            <a:solidFill>
              <a:srgbClr val="4A6FA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64592"/>
            <a:ext cx="1051560" cy="4572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64592"/>
            <a:ext cx="105156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解説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508760" y="91440"/>
            <a:ext cx="1042416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応用編の2コース ─ 自分のレベルで選ぶ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105156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555555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応用編は2つのコースを用意。基礎編で「コードが楽しい」と感じた方は中級、「GASは難しい」と感じた方は基礎組コースへ。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457200" y="1691640"/>
            <a:ext cx="5577840" cy="4709160"/>
          </a:xfrm>
          <a:prstGeom prst="roundRect">
            <a:avLst>
              <a:gd name="adj" fmla="val 1165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1828800"/>
            <a:ext cx="53035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中級コース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40080" y="2423160"/>
            <a:ext cx="530352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第18回基礎で3パターン計算を作れた方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【演習4・5を担当】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・スプシで自動グラフ化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・グラフをPDFに自動出力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計算結果が「見せられる資料」になる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245352" y="1691640"/>
            <a:ext cx="5486400" cy="4709160"/>
          </a:xfrm>
          <a:prstGeom prst="roundRect">
            <a:avLst>
              <a:gd name="adj" fmla="val 1165"/>
            </a:avLst>
          </a:prstGeom>
          <a:solidFill>
            <a:srgbClr val="E8F0FE"/>
          </a:solidFill>
          <a:ln w="19050">
            <a:solidFill>
              <a:srgbClr val="3F51B5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2" name="Text 10"/>
          <p:cNvSpPr/>
          <p:nvPr/>
        </p:nvSpPr>
        <p:spPr>
          <a:xfrm>
            <a:off x="6428232" y="1828800"/>
            <a:ext cx="521208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A237E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🔵 基礎組コース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28232" y="2423160"/>
            <a:ext cx="5212080" cy="38862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【対象】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「グラフ作りは難しい」と感じた方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【演習6を担当】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・シーン別質問テンプレ集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・対面で活きる質問集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/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【ゴール】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対面で深い質問ができる状態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4 / 8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4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【中級】結果を自動グラフ化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スプシの計算結果から、グラフを自動生成します。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グラフを毎回手で作るのが大変。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シミュレーション結果から自動でグラフを生成する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3パターンの折れ線グラフ／カテゴリ別の積み上げ棒グラフ／色とタイトルを統一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に「シミュレーション結果からグラフを自動生成する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に貼り付けてテスト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ダミー顧客で完成イメージを確認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5 / 8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5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【中級】グラフのPDF自動出力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生成したグラフを PDF として自動出力する GAS を追加します。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グラフはできたが、顧客に渡せる PDF にする手間がかかる。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顧客名+日付付き PDF を自動出力する GAS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ファイル名は「顧客名_日付.pdf」／Googleドライブの指定フォルダに保存／メール添付も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Gemini に「グラフを PDF 化してメール添付する GAS」を依頼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GAS を改良してテスト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自分宛にメール送信して確認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6 / 8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54864"/>
          </a:xfrm>
          <a:prstGeom prst="rect">
            <a:avLst/>
          </a:prstGeom>
          <a:solidFill>
            <a:srgbClr val="E08300"/>
          </a:solidFill>
          <a:ln w="12700">
            <a:solidFill>
              <a:srgbClr val="E083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Shape 2"/>
          <p:cNvSpPr/>
          <p:nvPr/>
        </p:nvSpPr>
        <p:spPr>
          <a:xfrm>
            <a:off x="274320" y="137160"/>
            <a:ext cx="1691640" cy="502920"/>
          </a:xfrm>
          <a:prstGeom prst="roundRect">
            <a:avLst>
              <a:gd name="adj" fmla="val 10909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5" name="Text 3"/>
          <p:cNvSpPr/>
          <p:nvPr/>
        </p:nvSpPr>
        <p:spPr>
          <a:xfrm>
            <a:off x="274320" y="137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39C1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演習 6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2194560" y="91440"/>
            <a:ext cx="978408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【基礎組】シーン別質問テンプレ集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457200" y="9601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コードを使わず、シーン別の質問集を作ります。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65760" y="1508760"/>
            <a:ext cx="11430000" cy="3657600"/>
          </a:xfrm>
          <a:prstGeom prst="roundRect">
            <a:avLst>
              <a:gd name="adj" fmla="val 1500"/>
            </a:avLst>
          </a:prstGeom>
          <a:solidFill>
            <a:srgbClr val="FFF4E5"/>
          </a:solidFill>
          <a:ln w="19050">
            <a:solidFill>
              <a:srgbClr val="FF980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548640" y="16002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🟠 お題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594360" y="210312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シチュエーション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242316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シーン別に最適な質問が決まっていない。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594360" y="310896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作るもの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640080" y="342900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シーン別質問テンプレ集(5シーン × 各10問)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94360" y="4114800"/>
            <a:ext cx="10972800" cy="3200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E65100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▼ 制約・こだわり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40080" y="4434840"/>
            <a:ext cx="10927080" cy="68580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GAS不要／Geminiチャットで質問案を出してもらう／対面用に印刷可能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365760" y="5303520"/>
            <a:ext cx="11430000" cy="1234440"/>
          </a:xfrm>
          <a:prstGeom prst="roundRect">
            <a:avLst>
              <a:gd name="adj" fmla="val 4444"/>
            </a:avLst>
          </a:prstGeom>
          <a:solidFill>
            <a:srgbClr val="F0FAF0"/>
          </a:solidFill>
          <a:ln w="25400">
            <a:solidFill>
              <a:srgbClr val="4CAF50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7" name="Text 15"/>
          <p:cNvSpPr/>
          <p:nvPr/>
        </p:nvSpPr>
        <p:spPr>
          <a:xfrm>
            <a:off x="548640" y="5394960"/>
            <a:ext cx="11064240" cy="4114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2E7D3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▶ やってみよう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31520" y="585216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1. シーン(教育/老後/医療/相続/その他)を5つ決める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731520" y="606552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2. Gemini に「各シーンの質問10問」を依頼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731520" y="6278880"/>
            <a:ext cx="10881360" cy="213360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3. テンプレ集として印刷可能な形にする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7 / 8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1F3A5F"/>
          </a:solidFill>
          <a:ln w="12700">
            <a:solidFill>
              <a:srgbClr val="1F3A5F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3" name="Shape 1"/>
          <p:cNvSpPr/>
          <p:nvPr/>
        </p:nvSpPr>
        <p:spPr>
          <a:xfrm>
            <a:off x="0" y="777240"/>
            <a:ext cx="12191695" cy="73152"/>
          </a:xfrm>
          <a:prstGeom prst="rect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4" name="Text 2"/>
          <p:cNvSpPr/>
          <p:nvPr/>
        </p:nvSpPr>
        <p:spPr>
          <a:xfrm>
            <a:off x="365760" y="91440"/>
            <a:ext cx="11430000" cy="64008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お疲れさまでした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シミュレーション編まで完走。「数字+比較+グラフ」で説得力のある提案ができる状態に。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57200" y="1783080"/>
            <a:ext cx="11247120" cy="5029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今日の持ち帰り 3 点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457200" y="251460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8" name="Shape 6"/>
          <p:cNvSpPr/>
          <p:nvPr/>
        </p:nvSpPr>
        <p:spPr>
          <a:xfrm>
            <a:off x="640080" y="274320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9" name="Text 7"/>
          <p:cNvSpPr/>
          <p:nvPr/>
        </p:nvSpPr>
        <p:spPr>
          <a:xfrm>
            <a:off x="640080" y="274320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554480" y="265176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3パターンで説得力UP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1554480" y="31546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損失回避バイアスを活用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457200" y="379476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3" name="Shape 11"/>
          <p:cNvSpPr/>
          <p:nvPr/>
        </p:nvSpPr>
        <p:spPr>
          <a:xfrm>
            <a:off x="640080" y="402336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4" name="Text 12"/>
          <p:cNvSpPr/>
          <p:nvPr/>
        </p:nvSpPr>
        <p:spPr>
          <a:xfrm>
            <a:off x="640080" y="40233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1554480" y="393192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結果が自動グラフ化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1554480" y="443484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見せやすい資料が即完成</a:t>
            </a:r>
            <a:endParaRPr lang="en-US" sz="2000" dirty="0"/>
          </a:p>
        </p:txBody>
      </p:sp>
      <p:sp>
        <p:nvSpPr>
          <p:cNvPr id="17" name="Shape 15"/>
          <p:cNvSpPr/>
          <p:nvPr/>
        </p:nvSpPr>
        <p:spPr>
          <a:xfrm>
            <a:off x="457200" y="5074920"/>
            <a:ext cx="11247120" cy="1143000"/>
          </a:xfrm>
          <a:prstGeom prst="roundRect">
            <a:avLst>
              <a:gd name="adj" fmla="val 6400"/>
            </a:avLst>
          </a:prstGeom>
          <a:solidFill>
            <a:srgbClr val="F4F8FC"/>
          </a:solidFill>
          <a:ln w="1905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8" name="Shape 16"/>
          <p:cNvSpPr/>
          <p:nvPr/>
        </p:nvSpPr>
        <p:spPr>
          <a:xfrm>
            <a:off x="640080" y="5303520"/>
            <a:ext cx="731520" cy="731520"/>
          </a:xfrm>
          <a:prstGeom prst="ellipse">
            <a:avLst/>
          </a:prstGeom>
          <a:solidFill>
            <a:srgbClr val="F39C12"/>
          </a:solidFill>
          <a:ln w="12700">
            <a:solidFill>
              <a:srgbClr val="F39C12"/>
            </a:solidFill>
            <a:prstDash val="solid"/>
          </a:ln>
        </p:spPr>
        <p:txBody>
          <a:bodyPr wrap="square">
            <a:normAutofit/>
          </a:bodyPr>
          <a:p/>
        </p:txBody>
      </p:sp>
      <p:sp>
        <p:nvSpPr>
          <p:cNvPr id="19" name="Text 17"/>
          <p:cNvSpPr/>
          <p:nvPr/>
        </p:nvSpPr>
        <p:spPr>
          <a:xfrm>
            <a:off x="640080" y="53035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/>
          <p:nvPr/>
        </p:nvSpPr>
        <p:spPr>
          <a:xfrm>
            <a:off x="1554480" y="521208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1F3A5F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シーン別質問が揃った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1554480" y="5715000"/>
            <a:ext cx="9692640" cy="45720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indent="0" marL="0">
              <a:buNone/>
            </a:pPr>
            <a:r>
              <a:rPr lang="en-US" sz="2000" dirty="0">
                <a:solidFill>
                  <a:srgbClr val="222222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対面で深掘りできる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1338560" y="6565392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>
            <a:normAutofit/>
          </a:bodyPr>
          <a:lstStyle/>
          <a:p>
            <a:pPr algn="r" indent="0" marL="0">
              <a:buNone/>
            </a:pPr>
            <a:r>
              <a:rPr lang="en-US" sz="1400" dirty="0">
                <a:solidFill>
                  <a:srgbClr val="888888"/>
                </a:solidFill>
                <a:latin typeface="Yu Gothic UI" pitchFamily="34" charset="0"/>
                <a:ea typeface="Yu Gothic UI" pitchFamily="34" charset="-122"/>
                <a:cs typeface="Yu Gothic UI" pitchFamily="34" charset="-120"/>
              </a:rPr>
              <a:t>8 / 8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第7回 GASを使いこなす（応用）（応用編） 講師用</dc:title>
  <dc:subject>PptxGenJS Presentation</dc:subject>
  <dc:creator>PptxGenJS</dc:creator>
  <cp:lastModifiedBy>PptxGenJS</cp:lastModifiedBy>
  <cp:revision>1</cp:revision>
  <dcterms:created xsi:type="dcterms:W3CDTF">2026-05-24T02:55:07Z</dcterms:created>
  <dcterms:modified xsi:type="dcterms:W3CDTF">2026-05-24T02:55:07Z</dcterms:modified>
</cp:coreProperties>
</file>