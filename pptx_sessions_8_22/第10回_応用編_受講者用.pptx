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【オープニング】中級者向け：リマインドメール自動化。基礎組向け：商談ログをデータベース的に分析する体験。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【話す内容】「無理しない」を強調。中級コースを選んでもエラー連発で進まない場合は途中で基礎組に切替OK。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【ポイント】中級者向けの演習。エラーは Gemini との往復で解消。
【時間配分】20分。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【ポイント】「自動化したシステムが、いつ動かなくなるか分からない」を体感。エラー通知は実務必須。
【時間配分】15分。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【ポイント】「コードを書かなくてもこれだけできる」を体感。GASは万能ではなく、ピボットだけで十分なことも多い。
【時間配分】20分。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【締めトーク】GAS編はここまで。次回は別テーマに進む。
【講師補足】業務で実際に運用する際は社内ルール（自動送信メールの取扱い、データ連携の範囲など）を必ず確認、と一言。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2468880"/>
            <a:ext cx="12191695" cy="109728"/>
          </a:xfrm>
          <a:prstGeom prst="rect">
            <a:avLst/>
          </a:prstGeom>
          <a:solidFill>
            <a:srgbClr val="1F3A5F"/>
          </a:solidFill>
          <a:ln w="12700">
            <a:solidFill>
              <a:srgbClr val="1F3A5F"/>
            </a:solidFill>
            <a:prstDash val="solid"/>
          </a:ln>
        </p:spPr>
        <p:txBody>
          <a:bodyPr wrap="square">
            <a:normAutofit/>
          </a:bodyPr>
          <a:p/>
        </p:txBody>
      </p:sp>
      <p:sp>
        <p:nvSpPr>
          <p:cNvPr id="3" name="Shape 1"/>
          <p:cNvSpPr/>
          <p:nvPr/>
        </p:nvSpPr>
        <p:spPr>
          <a:xfrm>
            <a:off x="0" y="2578608"/>
            <a:ext cx="12191695" cy="36576"/>
          </a:xfrm>
          <a:prstGeom prst="rect">
            <a:avLst/>
          </a:prstGeom>
          <a:solidFill>
            <a:srgbClr val="F39C12"/>
          </a:solidFill>
          <a:ln w="12700">
            <a:solidFill>
              <a:srgbClr val="F39C12"/>
            </a:solidFill>
            <a:prstDash val="solid"/>
          </a:ln>
        </p:spPr>
        <p:txBody>
          <a:bodyPr wrap="square">
            <a:normAutofit/>
          </a:bodyPr>
          <a:p/>
        </p:txBody>
      </p:sp>
      <p:sp>
        <p:nvSpPr>
          <p:cNvPr id="4" name="Text 2"/>
          <p:cNvSpPr/>
          <p:nvPr/>
        </p:nvSpPr>
        <p:spPr>
          <a:xfrm>
            <a:off x="457200" y="822960"/>
            <a:ext cx="11247120" cy="731520"/>
          </a:xfrm>
          <a:prstGeom prst="rect">
            <a:avLst/>
          </a:prstGeom>
          <a:noFill/>
          <a:ln/>
        </p:spPr>
        <p:txBody>
          <a:bodyPr wrap="square" rtlCol="0" anchor="ctr">
            <a:normAutofit/>
          </a:bodyPr>
          <a:lstStyle/>
          <a:p>
            <a:pPr algn="ctr" indent="0" marL="0">
              <a:buNone/>
            </a:pPr>
            <a:r>
              <a:rPr lang="en-US" sz="2800" b="1" dirty="0">
                <a:solidFill>
                  <a:srgbClr val="F39C12"/>
                </a:solidFill>
                <a:latin typeface="Yu Gothic UI" pitchFamily="34" charset="0"/>
                <a:ea typeface="Yu Gothic UI" pitchFamily="34" charset="-122"/>
                <a:cs typeface="Yu Gothic UI" pitchFamily="34" charset="-120"/>
              </a:rPr>
              <a:t>第 10 回</a:t>
            </a:r>
            <a:endParaRPr lang="en-US" sz="2800" dirty="0"/>
          </a:p>
        </p:txBody>
      </p:sp>
      <p:sp>
        <p:nvSpPr>
          <p:cNvPr id="5" name="Text 3"/>
          <p:cNvSpPr/>
          <p:nvPr/>
        </p:nvSpPr>
        <p:spPr>
          <a:xfrm>
            <a:off x="457200" y="1463040"/>
            <a:ext cx="11247120" cy="1005840"/>
          </a:xfrm>
          <a:prstGeom prst="rect">
            <a:avLst/>
          </a:prstGeom>
          <a:noFill/>
          <a:ln/>
        </p:spPr>
        <p:txBody>
          <a:bodyPr wrap="square" rtlCol="0" anchor="ctr">
            <a:normAutofit/>
          </a:bodyPr>
          <a:lstStyle/>
          <a:p>
            <a:pPr algn="ctr" indent="0" marL="0">
              <a:buNone/>
            </a:pPr>
            <a:r>
              <a:rPr lang="en-US" sz="4400" b="1" dirty="0">
                <a:solidFill>
                  <a:srgbClr val="1F3A5F"/>
                </a:solidFill>
                <a:latin typeface="Yu Gothic UI" pitchFamily="34" charset="0"/>
                <a:ea typeface="Yu Gothic UI" pitchFamily="34" charset="-122"/>
                <a:cs typeface="Yu Gothic UI" pitchFamily="34" charset="-120"/>
              </a:rPr>
              <a:t>GASを使いこなす</a:t>
            </a:r>
            <a:endParaRPr lang="en-US" sz="4400" dirty="0"/>
          </a:p>
        </p:txBody>
      </p:sp>
      <p:sp>
        <p:nvSpPr>
          <p:cNvPr id="6" name="Text 4"/>
          <p:cNvSpPr/>
          <p:nvPr/>
        </p:nvSpPr>
        <p:spPr>
          <a:xfrm>
            <a:off x="457200" y="2834640"/>
            <a:ext cx="11247120" cy="822960"/>
          </a:xfrm>
          <a:prstGeom prst="rect">
            <a:avLst/>
          </a:prstGeom>
          <a:noFill/>
          <a:ln/>
        </p:spPr>
        <p:txBody>
          <a:bodyPr wrap="square" rtlCol="0" anchor="ctr">
            <a:normAutofit/>
          </a:bodyPr>
          <a:lstStyle/>
          <a:p>
            <a:pPr algn="ctr" indent="0" marL="0">
              <a:buNone/>
            </a:pPr>
            <a:r>
              <a:rPr lang="en-US" sz="2400" dirty="0">
                <a:solidFill>
                  <a:srgbClr val="4A6FA5"/>
                </a:solidFill>
                <a:latin typeface="Yu Gothic UI" pitchFamily="34" charset="0"/>
                <a:ea typeface="Yu Gothic UI" pitchFamily="34" charset="-122"/>
                <a:cs typeface="Yu Gothic UI" pitchFamily="34" charset="-120"/>
              </a:rPr>
              <a:t>〜 配信効果のAI分析+改善PDCA 〜</a:t>
            </a:r>
            <a:endParaRPr lang="en-US" sz="2400" dirty="0"/>
          </a:p>
        </p:txBody>
      </p:sp>
      <p:sp>
        <p:nvSpPr>
          <p:cNvPr id="7" name="Text 5"/>
          <p:cNvSpPr/>
          <p:nvPr/>
        </p:nvSpPr>
        <p:spPr>
          <a:xfrm>
            <a:off x="457200" y="4023360"/>
            <a:ext cx="11247120" cy="640080"/>
          </a:xfrm>
          <a:prstGeom prst="rect">
            <a:avLst/>
          </a:prstGeom>
          <a:noFill/>
          <a:ln/>
        </p:spPr>
        <p:txBody>
          <a:bodyPr wrap="square" rtlCol="0" anchor="ctr">
            <a:normAutofit/>
          </a:bodyPr>
          <a:lstStyle/>
          <a:p>
            <a:pPr algn="ctr" indent="0" marL="0">
              <a:buNone/>
            </a:pPr>
            <a:r>
              <a:rPr lang="en-US" sz="2200" i="1" dirty="0">
                <a:solidFill>
                  <a:srgbClr val="555555"/>
                </a:solidFill>
                <a:latin typeface="Yu Gothic UI" pitchFamily="34" charset="0"/>
                <a:ea typeface="Yu Gothic UI" pitchFamily="34" charset="-122"/>
                <a:cs typeface="Yu Gothic UI" pitchFamily="34" charset="-120"/>
              </a:rPr>
              <a:t>応用編（02）</a:t>
            </a:r>
            <a:endParaRPr lang="en-US" sz="2200" dirty="0"/>
          </a:p>
        </p:txBody>
      </p:sp>
      <p:sp>
        <p:nvSpPr>
          <p:cNvPr id="8" name="Shape 6"/>
          <p:cNvSpPr/>
          <p:nvPr/>
        </p:nvSpPr>
        <p:spPr>
          <a:xfrm>
            <a:off x="4572000" y="5029200"/>
            <a:ext cx="3047695" cy="640080"/>
          </a:xfrm>
          <a:prstGeom prst="roundRect">
            <a:avLst>
              <a:gd name="adj" fmla="val 11429"/>
            </a:avLst>
          </a:prstGeom>
          <a:solidFill>
            <a:srgbClr val="F39C12"/>
          </a:solidFill>
          <a:ln w="12700">
            <a:solidFill>
              <a:srgbClr val="F39C12"/>
            </a:solidFill>
            <a:prstDash val="solid"/>
          </a:ln>
        </p:spPr>
        <p:txBody>
          <a:bodyPr wrap="square">
            <a:normAutofit/>
          </a:bodyPr>
          <a:p/>
        </p:txBody>
      </p:sp>
      <p:sp>
        <p:nvSpPr>
          <p:cNvPr id="9" name="Text 7"/>
          <p:cNvSpPr/>
          <p:nvPr/>
        </p:nvSpPr>
        <p:spPr>
          <a:xfrm>
            <a:off x="4572000" y="5029200"/>
            <a:ext cx="3047695" cy="640080"/>
          </a:xfrm>
          <a:prstGeom prst="rect">
            <a:avLst/>
          </a:prstGeom>
          <a:noFill/>
          <a:ln/>
        </p:spPr>
        <p:txBody>
          <a:bodyPr wrap="square" rtlCol="0" anchor="ctr">
            <a:normAutofit/>
          </a:bodyPr>
          <a:lstStyle/>
          <a:p>
            <a:pPr algn="ctr" indent="0" marL="0">
              <a:buNone/>
            </a:pPr>
            <a:r>
              <a:rPr lang="en-US" sz="2200" b="1" dirty="0">
                <a:solidFill>
                  <a:srgbClr val="FFFFFF"/>
                </a:solidFill>
                <a:latin typeface="Yu Gothic UI" pitchFamily="34" charset="0"/>
                <a:ea typeface="Yu Gothic UI" pitchFamily="34" charset="-122"/>
                <a:cs typeface="Yu Gothic UI" pitchFamily="34" charset="-120"/>
              </a:rPr>
              <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1F3A5F"/>
          </a:solidFill>
          <a:ln w="12700">
            <a:solidFill>
              <a:srgbClr val="1F3A5F"/>
            </a:solidFill>
            <a:prstDash val="solid"/>
          </a:ln>
        </p:spPr>
        <p:txBody>
          <a:bodyPr wrap="square">
            <a:normAutofit/>
          </a:bodyPr>
          <a:p/>
        </p:txBody>
      </p:sp>
      <p:sp>
        <p:nvSpPr>
          <p:cNvPr id="3" name="Shape 1"/>
          <p:cNvSpPr/>
          <p:nvPr/>
        </p:nvSpPr>
        <p:spPr>
          <a:xfrm>
            <a:off x="0" y="777240"/>
            <a:ext cx="12191695" cy="73152"/>
          </a:xfrm>
          <a:prstGeom prst="rect">
            <a:avLst/>
          </a:prstGeom>
          <a:solidFill>
            <a:srgbClr val="F39C12"/>
          </a:solidFill>
          <a:ln w="12700">
            <a:solidFill>
              <a:srgbClr val="F39C12"/>
            </a:solidFill>
            <a:prstDash val="solid"/>
          </a:ln>
        </p:spPr>
        <p:txBody>
          <a:bodyPr wrap="square">
            <a:normAutofit/>
          </a:bodyPr>
          <a:p/>
        </p:txBody>
      </p:sp>
      <p:sp>
        <p:nvSpPr>
          <p:cNvPr id="4" name="Text 2"/>
          <p:cNvSpPr/>
          <p:nvPr/>
        </p:nvSpPr>
        <p:spPr>
          <a:xfrm>
            <a:off x="365760" y="91440"/>
            <a:ext cx="11430000" cy="640080"/>
          </a:xfrm>
          <a:prstGeom prst="rect">
            <a:avLst/>
          </a:prstGeom>
          <a:noFill/>
          <a:ln/>
        </p:spPr>
        <p:txBody>
          <a:bodyPr wrap="square" rtlCol="0" anchor="ctr">
            <a:normAutofit/>
          </a:bodyPr>
          <a:lstStyle/>
          <a:p>
            <a:pPr indent="0" marL="0">
              <a:buNone/>
            </a:pPr>
            <a:r>
              <a:rPr lang="en-US" sz="2600" b="1" dirty="0">
                <a:solidFill>
                  <a:srgbClr val="FFFFFF"/>
                </a:solidFill>
                <a:latin typeface="Yu Gothic UI" pitchFamily="34" charset="0"/>
                <a:ea typeface="Yu Gothic UI" pitchFamily="34" charset="-122"/>
                <a:cs typeface="Yu Gothic UI" pitchFamily="34" charset="-120"/>
              </a:rPr>
              <a:t>今日のゴール</a:t>
            </a:r>
            <a:endParaRPr lang="en-US" sz="2600" dirty="0"/>
          </a:p>
        </p:txBody>
      </p:sp>
      <p:sp>
        <p:nvSpPr>
          <p:cNvPr id="5" name="Text 3"/>
          <p:cNvSpPr/>
          <p:nvPr/>
        </p:nvSpPr>
        <p:spPr>
          <a:xfrm>
            <a:off x="457200" y="1051560"/>
            <a:ext cx="11247120" cy="548640"/>
          </a:xfrm>
          <a:prstGeom prst="rect">
            <a:avLst/>
          </a:prstGeom>
          <a:noFill/>
          <a:ln/>
        </p:spPr>
        <p:txBody>
          <a:bodyPr wrap="square" rtlCol="0" anchor="ctr">
            <a:normAutofit/>
          </a:bodyPr>
          <a:lstStyle/>
          <a:p>
            <a:pPr indent="0" marL="0">
              <a:buNone/>
            </a:pPr>
            <a:r>
              <a:rPr lang="en-US" sz="2000" dirty="0">
                <a:solidFill>
                  <a:srgbClr val="555555"/>
                </a:solidFill>
                <a:latin typeface="Yu Gothic UI" pitchFamily="34" charset="0"/>
                <a:ea typeface="Yu Gothic UI" pitchFamily="34" charset="-122"/>
                <a:cs typeface="Yu Gothic UI" pitchFamily="34" charset="-120"/>
              </a:rPr>
              <a:t>応用編は「配信効果のAI分析」と「配信プラン素案作成」の2本立てです。</a:t>
            </a:r>
            <a:endParaRPr lang="en-US" sz="2000" dirty="0"/>
          </a:p>
        </p:txBody>
      </p:sp>
      <p:sp>
        <p:nvSpPr>
          <p:cNvPr id="6" name="Shape 4"/>
          <p:cNvSpPr/>
          <p:nvPr/>
        </p:nvSpPr>
        <p:spPr>
          <a:xfrm>
            <a:off x="457200" y="1828800"/>
            <a:ext cx="11247120" cy="1280160"/>
          </a:xfrm>
          <a:prstGeom prst="roundRect">
            <a:avLst>
              <a:gd name="adj" fmla="val 4286"/>
            </a:avLst>
          </a:prstGeom>
          <a:solidFill>
            <a:srgbClr val="F4F8FC"/>
          </a:solidFill>
          <a:ln w="12700">
            <a:solidFill>
              <a:srgbClr val="4A6FA5"/>
            </a:solidFill>
            <a:prstDash val="solid"/>
          </a:ln>
        </p:spPr>
        <p:txBody>
          <a:bodyPr wrap="square">
            <a:normAutofit/>
          </a:bodyPr>
          <a:p/>
        </p:txBody>
      </p:sp>
      <p:sp>
        <p:nvSpPr>
          <p:cNvPr id="7" name="Text 5"/>
          <p:cNvSpPr/>
          <p:nvPr/>
        </p:nvSpPr>
        <p:spPr>
          <a:xfrm>
            <a:off x="640080" y="2011680"/>
            <a:ext cx="822960" cy="914400"/>
          </a:xfrm>
          <a:prstGeom prst="rect">
            <a:avLst/>
          </a:prstGeom>
          <a:noFill/>
          <a:ln/>
        </p:spPr>
        <p:txBody>
          <a:bodyPr wrap="square" rtlCol="0" anchor="ctr">
            <a:normAutofit/>
          </a:bodyPr>
          <a:lstStyle/>
          <a:p>
            <a:pPr indent="0" marL="0">
              <a:buNone/>
            </a:pPr>
            <a:r>
              <a:rPr lang="en-US" sz="4400" b="1" dirty="0">
                <a:solidFill>
                  <a:srgbClr val="F39C12"/>
                </a:solidFill>
                <a:latin typeface="Yu Gothic UI" pitchFamily="34" charset="0"/>
                <a:ea typeface="Yu Gothic UI" pitchFamily="34" charset="-122"/>
                <a:cs typeface="Yu Gothic UI" pitchFamily="34" charset="-120"/>
              </a:rPr>
              <a:t>①</a:t>
            </a:r>
            <a:endParaRPr lang="en-US" sz="4400" dirty="0"/>
          </a:p>
        </p:txBody>
      </p:sp>
      <p:sp>
        <p:nvSpPr>
          <p:cNvPr id="8" name="Text 6"/>
          <p:cNvSpPr/>
          <p:nvPr/>
        </p:nvSpPr>
        <p:spPr>
          <a:xfrm>
            <a:off x="1691640" y="1965960"/>
            <a:ext cx="9555480" cy="502920"/>
          </a:xfrm>
          <a:prstGeom prst="rect">
            <a:avLst/>
          </a:prstGeom>
          <a:noFill/>
          <a:ln/>
        </p:spPr>
        <p:txBody>
          <a:bodyPr wrap="square" rtlCol="0" anchor="ctr">
            <a:normAutofit/>
          </a:bodyPr>
          <a:lstStyle/>
          <a:p>
            <a:pPr indent="0" marL="0">
              <a:buNone/>
            </a:pPr>
            <a:r>
              <a:rPr lang="en-US" sz="2400" b="1" dirty="0">
                <a:solidFill>
                  <a:srgbClr val="1F3A5F"/>
                </a:solidFill>
                <a:latin typeface="Yu Gothic UI" pitchFamily="34" charset="0"/>
                <a:ea typeface="Yu Gothic UI" pitchFamily="34" charset="-122"/>
                <a:cs typeface="Yu Gothic UI" pitchFamily="34" charset="-120"/>
              </a:rPr>
              <a:t>中級:配信効果をAIで分析</a:t>
            </a:r>
            <a:endParaRPr lang="en-US" sz="2400" dirty="0"/>
          </a:p>
        </p:txBody>
      </p:sp>
      <p:sp>
        <p:nvSpPr>
          <p:cNvPr id="9" name="Text 7"/>
          <p:cNvSpPr/>
          <p:nvPr/>
        </p:nvSpPr>
        <p:spPr>
          <a:xfrm>
            <a:off x="1691640" y="2514600"/>
            <a:ext cx="9555480" cy="502920"/>
          </a:xfrm>
          <a:prstGeom prst="rect">
            <a:avLst/>
          </a:prstGeom>
          <a:noFill/>
          <a:ln/>
        </p:spPr>
        <p:txBody>
          <a:bodyPr wrap="square" rtlCol="0" anchor="ctr">
            <a:normAutofit/>
          </a:bodyPr>
          <a:lstStyle/>
          <a:p>
            <a:pPr indent="0" marL="0">
              <a:buNone/>
            </a:pPr>
            <a:r>
              <a:rPr lang="en-US" sz="2000" dirty="0">
                <a:solidFill>
                  <a:srgbClr val="222222"/>
                </a:solidFill>
                <a:latin typeface="Yu Gothic UI" pitchFamily="34" charset="0"/>
                <a:ea typeface="Yu Gothic UI" pitchFamily="34" charset="-122"/>
                <a:cs typeface="Yu Gothic UI" pitchFamily="34" charset="-120"/>
              </a:rPr>
              <a:t>反応率からPDCAサイクルを回す</a:t>
            </a:r>
            <a:endParaRPr lang="en-US" sz="2000" dirty="0"/>
          </a:p>
        </p:txBody>
      </p:sp>
      <p:sp>
        <p:nvSpPr>
          <p:cNvPr id="10" name="Shape 8"/>
          <p:cNvSpPr/>
          <p:nvPr/>
        </p:nvSpPr>
        <p:spPr>
          <a:xfrm>
            <a:off x="457200" y="3246120"/>
            <a:ext cx="11247120" cy="1280160"/>
          </a:xfrm>
          <a:prstGeom prst="roundRect">
            <a:avLst>
              <a:gd name="adj" fmla="val 4286"/>
            </a:avLst>
          </a:prstGeom>
          <a:solidFill>
            <a:srgbClr val="F4F8FC"/>
          </a:solidFill>
          <a:ln w="12700">
            <a:solidFill>
              <a:srgbClr val="4A6FA5"/>
            </a:solidFill>
            <a:prstDash val="solid"/>
          </a:ln>
        </p:spPr>
        <p:txBody>
          <a:bodyPr wrap="square">
            <a:normAutofit/>
          </a:bodyPr>
          <a:p/>
        </p:txBody>
      </p:sp>
      <p:sp>
        <p:nvSpPr>
          <p:cNvPr id="11" name="Text 9"/>
          <p:cNvSpPr/>
          <p:nvPr/>
        </p:nvSpPr>
        <p:spPr>
          <a:xfrm>
            <a:off x="640080" y="3429000"/>
            <a:ext cx="822960" cy="914400"/>
          </a:xfrm>
          <a:prstGeom prst="rect">
            <a:avLst/>
          </a:prstGeom>
          <a:noFill/>
          <a:ln/>
        </p:spPr>
        <p:txBody>
          <a:bodyPr wrap="square" rtlCol="0" anchor="ctr">
            <a:normAutofit/>
          </a:bodyPr>
          <a:lstStyle/>
          <a:p>
            <a:pPr indent="0" marL="0">
              <a:buNone/>
            </a:pPr>
            <a:r>
              <a:rPr lang="en-US" sz="4400" b="1" dirty="0">
                <a:solidFill>
                  <a:srgbClr val="F39C12"/>
                </a:solidFill>
                <a:latin typeface="Yu Gothic UI" pitchFamily="34" charset="0"/>
                <a:ea typeface="Yu Gothic UI" pitchFamily="34" charset="-122"/>
                <a:cs typeface="Yu Gothic UI" pitchFamily="34" charset="-120"/>
              </a:rPr>
              <a:t>②</a:t>
            </a:r>
            <a:endParaRPr lang="en-US" sz="4400" dirty="0"/>
          </a:p>
        </p:txBody>
      </p:sp>
      <p:sp>
        <p:nvSpPr>
          <p:cNvPr id="12" name="Text 10"/>
          <p:cNvSpPr/>
          <p:nvPr/>
        </p:nvSpPr>
        <p:spPr>
          <a:xfrm>
            <a:off x="1691640" y="3383280"/>
            <a:ext cx="9555480" cy="502920"/>
          </a:xfrm>
          <a:prstGeom prst="rect">
            <a:avLst/>
          </a:prstGeom>
          <a:noFill/>
          <a:ln/>
        </p:spPr>
        <p:txBody>
          <a:bodyPr wrap="square" rtlCol="0" anchor="ctr">
            <a:normAutofit/>
          </a:bodyPr>
          <a:lstStyle/>
          <a:p>
            <a:pPr indent="0" marL="0">
              <a:buNone/>
            </a:pPr>
            <a:r>
              <a:rPr lang="en-US" sz="2400" b="1" dirty="0">
                <a:solidFill>
                  <a:srgbClr val="1F3A5F"/>
                </a:solidFill>
                <a:latin typeface="Yu Gothic UI" pitchFamily="34" charset="0"/>
                <a:ea typeface="Yu Gothic UI" pitchFamily="34" charset="-122"/>
                <a:cs typeface="Yu Gothic UI" pitchFamily="34" charset="-120"/>
              </a:rPr>
              <a:t>基礎:配信プラン素案を作成</a:t>
            </a:r>
            <a:endParaRPr lang="en-US" sz="2400" dirty="0"/>
          </a:p>
        </p:txBody>
      </p:sp>
      <p:sp>
        <p:nvSpPr>
          <p:cNvPr id="13" name="Text 11"/>
          <p:cNvSpPr/>
          <p:nvPr/>
        </p:nvSpPr>
        <p:spPr>
          <a:xfrm>
            <a:off x="1691640" y="3931920"/>
            <a:ext cx="9555480" cy="502920"/>
          </a:xfrm>
          <a:prstGeom prst="rect">
            <a:avLst/>
          </a:prstGeom>
          <a:noFill/>
          <a:ln/>
        </p:spPr>
        <p:txBody>
          <a:bodyPr wrap="square" rtlCol="0" anchor="ctr">
            <a:normAutofit/>
          </a:bodyPr>
          <a:lstStyle/>
          <a:p>
            <a:pPr indent="0" marL="0">
              <a:buNone/>
            </a:pPr>
            <a:r>
              <a:rPr lang="en-US" sz="2000" dirty="0">
                <a:solidFill>
                  <a:srgbClr val="222222"/>
                </a:solidFill>
                <a:latin typeface="Yu Gothic UI" pitchFamily="34" charset="0"/>
                <a:ea typeface="Yu Gothic UI" pitchFamily="34" charset="-122"/>
                <a:cs typeface="Yu Gothic UI" pitchFamily="34" charset="-120"/>
              </a:rPr>
              <a:t>コードなしで配信スケジュールを作る</a:t>
            </a:r>
            <a:endParaRPr lang="en-US" sz="2000" dirty="0"/>
          </a:p>
        </p:txBody>
      </p:sp>
      <p:sp>
        <p:nvSpPr>
          <p:cNvPr id="14" name="Shape 12"/>
          <p:cNvSpPr/>
          <p:nvPr/>
        </p:nvSpPr>
        <p:spPr>
          <a:xfrm>
            <a:off x="457200" y="4663440"/>
            <a:ext cx="11247120" cy="1280160"/>
          </a:xfrm>
          <a:prstGeom prst="roundRect">
            <a:avLst>
              <a:gd name="adj" fmla="val 4286"/>
            </a:avLst>
          </a:prstGeom>
          <a:solidFill>
            <a:srgbClr val="F4F8FC"/>
          </a:solidFill>
          <a:ln w="12700">
            <a:solidFill>
              <a:srgbClr val="4A6FA5"/>
            </a:solidFill>
            <a:prstDash val="solid"/>
          </a:ln>
        </p:spPr>
        <p:txBody>
          <a:bodyPr wrap="square">
            <a:normAutofit/>
          </a:bodyPr>
          <a:p/>
        </p:txBody>
      </p:sp>
      <p:sp>
        <p:nvSpPr>
          <p:cNvPr id="15" name="Text 13"/>
          <p:cNvSpPr/>
          <p:nvPr/>
        </p:nvSpPr>
        <p:spPr>
          <a:xfrm>
            <a:off x="640080" y="4846320"/>
            <a:ext cx="822960" cy="914400"/>
          </a:xfrm>
          <a:prstGeom prst="rect">
            <a:avLst/>
          </a:prstGeom>
          <a:noFill/>
          <a:ln/>
        </p:spPr>
        <p:txBody>
          <a:bodyPr wrap="square" rtlCol="0" anchor="ctr">
            <a:normAutofit/>
          </a:bodyPr>
          <a:lstStyle/>
          <a:p>
            <a:pPr indent="0" marL="0">
              <a:buNone/>
            </a:pPr>
            <a:r>
              <a:rPr lang="en-US" sz="4400" b="1" dirty="0">
                <a:solidFill>
                  <a:srgbClr val="F39C12"/>
                </a:solidFill>
                <a:latin typeface="Yu Gothic UI" pitchFamily="34" charset="0"/>
                <a:ea typeface="Yu Gothic UI" pitchFamily="34" charset="-122"/>
                <a:cs typeface="Yu Gothic UI" pitchFamily="34" charset="-120"/>
              </a:rPr>
              <a:t>③</a:t>
            </a:r>
            <a:endParaRPr lang="en-US" sz="4400" dirty="0"/>
          </a:p>
        </p:txBody>
      </p:sp>
      <p:sp>
        <p:nvSpPr>
          <p:cNvPr id="16" name="Text 14"/>
          <p:cNvSpPr/>
          <p:nvPr/>
        </p:nvSpPr>
        <p:spPr>
          <a:xfrm>
            <a:off x="1691640" y="4800600"/>
            <a:ext cx="9555480" cy="502920"/>
          </a:xfrm>
          <a:prstGeom prst="rect">
            <a:avLst/>
          </a:prstGeom>
          <a:noFill/>
          <a:ln/>
        </p:spPr>
        <p:txBody>
          <a:bodyPr wrap="square" rtlCol="0" anchor="ctr">
            <a:normAutofit/>
          </a:bodyPr>
          <a:lstStyle/>
          <a:p>
            <a:pPr indent="0" marL="0">
              <a:buNone/>
            </a:pPr>
            <a:r>
              <a:rPr lang="en-US" sz="2400" b="1" dirty="0">
                <a:solidFill>
                  <a:srgbClr val="1F3A5F"/>
                </a:solidFill>
                <a:latin typeface="Yu Gothic UI" pitchFamily="34" charset="0"/>
                <a:ea typeface="Yu Gothic UI" pitchFamily="34" charset="-122"/>
                <a:cs typeface="Yu Gothic UI" pitchFamily="34" charset="-120"/>
              </a:rPr>
              <a:t>両者共通：自分のペースで</a:t>
            </a:r>
            <a:endParaRPr lang="en-US" sz="2400" dirty="0"/>
          </a:p>
        </p:txBody>
      </p:sp>
      <p:sp>
        <p:nvSpPr>
          <p:cNvPr id="17" name="Text 15"/>
          <p:cNvSpPr/>
          <p:nvPr/>
        </p:nvSpPr>
        <p:spPr>
          <a:xfrm>
            <a:off x="1691640" y="5349240"/>
            <a:ext cx="9555480" cy="502920"/>
          </a:xfrm>
          <a:prstGeom prst="rect">
            <a:avLst/>
          </a:prstGeom>
          <a:noFill/>
          <a:ln/>
        </p:spPr>
        <p:txBody>
          <a:bodyPr wrap="square" rtlCol="0" anchor="ctr">
            <a:normAutofit/>
          </a:bodyPr>
          <a:lstStyle/>
          <a:p>
            <a:pPr indent="0" marL="0">
              <a:buNone/>
            </a:pPr>
            <a:r>
              <a:rPr lang="en-US" sz="2000" dirty="0">
                <a:solidFill>
                  <a:srgbClr val="222222"/>
                </a:solidFill>
                <a:latin typeface="Yu Gothic UI" pitchFamily="34" charset="0"/>
                <a:ea typeface="Yu Gothic UI" pitchFamily="34" charset="-122"/>
                <a:cs typeface="Yu Gothic UI" pitchFamily="34" charset="-120"/>
              </a:rPr>
              <a:t>無理せず、できる範囲で完成させる</a:t>
            </a:r>
            <a:endParaRPr lang="en-US" sz="2000" dirty="0"/>
          </a:p>
        </p:txBody>
      </p:sp>
      <p:sp>
        <p:nvSpPr>
          <p:cNvPr id="18" name="Text 16"/>
          <p:cNvSpPr/>
          <p:nvPr/>
        </p:nvSpPr>
        <p:spPr>
          <a:xfrm>
            <a:off x="11338560" y="6565392"/>
            <a:ext cx="640080" cy="274320"/>
          </a:xfrm>
          <a:prstGeom prst="rect">
            <a:avLst/>
          </a:prstGeom>
          <a:noFill/>
          <a:ln/>
        </p:spPr>
        <p:txBody>
          <a:bodyPr wrap="square" rtlCol="0" anchor="ctr">
            <a:normAutofit/>
          </a:bodyPr>
          <a:lstStyle/>
          <a:p>
            <a:pPr algn="r" indent="0" marL="0">
              <a:buNone/>
            </a:pPr>
            <a:r>
              <a:rPr lang="en-US" sz="1400" dirty="0">
                <a:solidFill>
                  <a:srgbClr val="888888"/>
                </a:solidFill>
                <a:latin typeface="Yu Gothic UI" pitchFamily="34" charset="0"/>
                <a:ea typeface="Yu Gothic UI" pitchFamily="34" charset="-122"/>
                <a:cs typeface="Yu Gothic UI" pitchFamily="34" charset="-120"/>
              </a:rPr>
              <a:t>2 / 8</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1F3A5F"/>
          </a:solidFill>
          <a:ln w="12700">
            <a:solidFill>
              <a:srgbClr val="1F3A5F"/>
            </a:solidFill>
            <a:prstDash val="solid"/>
          </a:ln>
        </p:spPr>
        <p:txBody>
          <a:bodyPr wrap="square">
            <a:normAutofit/>
          </a:bodyPr>
          <a:p/>
        </p:txBody>
      </p:sp>
      <p:sp>
        <p:nvSpPr>
          <p:cNvPr id="3" name="Shape 1"/>
          <p:cNvSpPr/>
          <p:nvPr/>
        </p:nvSpPr>
        <p:spPr>
          <a:xfrm>
            <a:off x="0" y="777240"/>
            <a:ext cx="12191695" cy="73152"/>
          </a:xfrm>
          <a:prstGeom prst="rect">
            <a:avLst/>
          </a:prstGeom>
          <a:solidFill>
            <a:srgbClr val="F39C12"/>
          </a:solidFill>
          <a:ln w="12700">
            <a:solidFill>
              <a:srgbClr val="F39C12"/>
            </a:solidFill>
            <a:prstDash val="solid"/>
          </a:ln>
        </p:spPr>
        <p:txBody>
          <a:bodyPr wrap="square">
            <a:normAutofit/>
          </a:bodyPr>
          <a:p/>
        </p:txBody>
      </p:sp>
      <p:sp>
        <p:nvSpPr>
          <p:cNvPr id="4" name="Text 2"/>
          <p:cNvSpPr/>
          <p:nvPr/>
        </p:nvSpPr>
        <p:spPr>
          <a:xfrm>
            <a:off x="365760" y="91440"/>
            <a:ext cx="11430000" cy="640080"/>
          </a:xfrm>
          <a:prstGeom prst="rect">
            <a:avLst/>
          </a:prstGeom>
          <a:noFill/>
          <a:ln/>
        </p:spPr>
        <p:txBody>
          <a:bodyPr wrap="square" rtlCol="0" anchor="ctr">
            <a:normAutofit/>
          </a:bodyPr>
          <a:lstStyle/>
          <a:p>
            <a:pPr indent="0" marL="0">
              <a:buNone/>
            </a:pPr>
            <a:r>
              <a:rPr lang="en-US" sz="2600" b="1" dirty="0">
                <a:solidFill>
                  <a:srgbClr val="FFFFFF"/>
                </a:solidFill>
                <a:latin typeface="Yu Gothic UI" pitchFamily="34" charset="0"/>
                <a:ea typeface="Yu Gothic UI" pitchFamily="34" charset="-122"/>
                <a:cs typeface="Yu Gothic UI" pitchFamily="34" charset="-120"/>
              </a:rPr>
              <a:t>今日の流れ</a:t>
            </a:r>
            <a:endParaRPr lang="en-US" sz="2600" dirty="0"/>
          </a:p>
        </p:txBody>
      </p:sp>
      <p:sp>
        <p:nvSpPr>
          <p:cNvPr id="5" name="Text 3"/>
          <p:cNvSpPr/>
          <p:nvPr/>
        </p:nvSpPr>
        <p:spPr>
          <a:xfrm>
            <a:off x="457200" y="1051560"/>
            <a:ext cx="11247120" cy="457200"/>
          </a:xfrm>
          <a:prstGeom prst="rect">
            <a:avLst/>
          </a:prstGeom>
          <a:noFill/>
          <a:ln/>
        </p:spPr>
        <p:txBody>
          <a:bodyPr wrap="square" rtlCol="0" anchor="ctr">
            <a:normAutofit/>
          </a:bodyPr>
          <a:lstStyle/>
          <a:p>
            <a:pPr indent="0" marL="0">
              <a:buNone/>
            </a:pPr>
            <a:r>
              <a:rPr lang="en-US" sz="2000" dirty="0">
                <a:solidFill>
                  <a:srgbClr val="555555"/>
                </a:solidFill>
                <a:latin typeface="Yu Gothic UI" pitchFamily="34" charset="0"/>
                <a:ea typeface="Yu Gothic UI" pitchFamily="34" charset="-122"/>
                <a:cs typeface="Yu Gothic UI" pitchFamily="34" charset="-120"/>
              </a:rPr>
              <a:t>スライドの色で「解説」と「演習」を分けています。</a:t>
            </a:r>
            <a:endParaRPr lang="en-US" sz="2000" dirty="0"/>
          </a:p>
        </p:txBody>
      </p:sp>
      <p:sp>
        <p:nvSpPr>
          <p:cNvPr id="6" name="Shape 4"/>
          <p:cNvSpPr/>
          <p:nvPr/>
        </p:nvSpPr>
        <p:spPr>
          <a:xfrm>
            <a:off x="457200" y="1691640"/>
            <a:ext cx="5486400" cy="868680"/>
          </a:xfrm>
          <a:prstGeom prst="rect">
            <a:avLst/>
          </a:prstGeom>
          <a:solidFill>
            <a:srgbClr val="1F3A5F"/>
          </a:solidFill>
          <a:ln w="12700">
            <a:solidFill>
              <a:srgbClr val="1F3A5F"/>
            </a:solidFill>
            <a:prstDash val="solid"/>
          </a:ln>
        </p:spPr>
        <p:txBody>
          <a:bodyPr wrap="square">
            <a:normAutofit/>
          </a:bodyPr>
          <a:p/>
        </p:txBody>
      </p:sp>
      <p:sp>
        <p:nvSpPr>
          <p:cNvPr id="7" name="Shape 5"/>
          <p:cNvSpPr/>
          <p:nvPr/>
        </p:nvSpPr>
        <p:spPr>
          <a:xfrm>
            <a:off x="640080" y="1828800"/>
            <a:ext cx="1051560" cy="594360"/>
          </a:xfrm>
          <a:prstGeom prst="roundRect">
            <a:avLst>
              <a:gd name="adj" fmla="val 7692"/>
            </a:avLst>
          </a:prstGeom>
          <a:solidFill>
            <a:srgbClr val="FFFFFF"/>
          </a:solidFill>
          <a:ln w="12700">
            <a:solidFill>
              <a:srgbClr val="FFFFFF"/>
            </a:solidFill>
            <a:prstDash val="solid"/>
          </a:ln>
        </p:spPr>
        <p:txBody>
          <a:bodyPr wrap="square">
            <a:normAutofit/>
          </a:bodyPr>
          <a:p/>
        </p:txBody>
      </p:sp>
      <p:sp>
        <p:nvSpPr>
          <p:cNvPr id="8" name="Text 6"/>
          <p:cNvSpPr/>
          <p:nvPr/>
        </p:nvSpPr>
        <p:spPr>
          <a:xfrm>
            <a:off x="640080" y="1828800"/>
            <a:ext cx="1051560" cy="594360"/>
          </a:xfrm>
          <a:prstGeom prst="rect">
            <a:avLst/>
          </a:prstGeom>
          <a:noFill/>
          <a:ln/>
        </p:spPr>
        <p:txBody>
          <a:bodyPr wrap="square" rtlCol="0" anchor="ctr">
            <a:normAutofit/>
          </a:bodyPr>
          <a:lstStyle/>
          <a:p>
            <a:pPr algn="ctr" indent="0" marL="0">
              <a:buNone/>
            </a:pPr>
            <a:r>
              <a:rPr lang="en-US" sz="2000" b="1" dirty="0">
                <a:solidFill>
                  <a:srgbClr val="1F3A5F"/>
                </a:solidFill>
                <a:latin typeface="Yu Gothic UI" pitchFamily="34" charset="0"/>
                <a:ea typeface="Yu Gothic UI" pitchFamily="34" charset="-122"/>
                <a:cs typeface="Yu Gothic UI" pitchFamily="34" charset="-120"/>
              </a:rPr>
              <a:t>解説</a:t>
            </a:r>
            <a:endParaRPr lang="en-US" sz="2000" dirty="0"/>
          </a:p>
        </p:txBody>
      </p:sp>
      <p:sp>
        <p:nvSpPr>
          <p:cNvPr id="9" name="Text 7"/>
          <p:cNvSpPr/>
          <p:nvPr/>
        </p:nvSpPr>
        <p:spPr>
          <a:xfrm>
            <a:off x="1828800" y="1691640"/>
            <a:ext cx="4023360" cy="868680"/>
          </a:xfrm>
          <a:prstGeom prst="rect">
            <a:avLst/>
          </a:prstGeom>
          <a:noFill/>
          <a:ln/>
        </p:spPr>
        <p:txBody>
          <a:bodyPr wrap="square" rtlCol="0" anchor="ctr">
            <a:normAutofit/>
          </a:bodyPr>
          <a:lstStyle/>
          <a:p>
            <a:pPr indent="0" marL="0">
              <a:buNone/>
            </a:pPr>
            <a:r>
              <a:rPr lang="en-US" sz="2000" dirty="0">
                <a:solidFill>
                  <a:srgbClr val="FFFFFF"/>
                </a:solidFill>
                <a:latin typeface="Yu Gothic UI" pitchFamily="34" charset="0"/>
                <a:ea typeface="Yu Gothic UI" pitchFamily="34" charset="-122"/>
                <a:cs typeface="Yu Gothic UI" pitchFamily="34" charset="-120"/>
              </a:rPr>
              <a:t>話を聞く時間（短め）</a:t>
            </a:r>
            <a:endParaRPr lang="en-US" sz="2000" dirty="0"/>
          </a:p>
        </p:txBody>
      </p:sp>
      <p:sp>
        <p:nvSpPr>
          <p:cNvPr id="10" name="Shape 8"/>
          <p:cNvSpPr/>
          <p:nvPr/>
        </p:nvSpPr>
        <p:spPr>
          <a:xfrm>
            <a:off x="6245352" y="1691640"/>
            <a:ext cx="5486400" cy="868680"/>
          </a:xfrm>
          <a:prstGeom prst="rect">
            <a:avLst/>
          </a:prstGeom>
          <a:solidFill>
            <a:srgbClr val="F39C12"/>
          </a:solidFill>
          <a:ln w="12700">
            <a:solidFill>
              <a:srgbClr val="F39C12"/>
            </a:solidFill>
            <a:prstDash val="solid"/>
          </a:ln>
        </p:spPr>
        <p:txBody>
          <a:bodyPr wrap="square">
            <a:normAutofit/>
          </a:bodyPr>
          <a:p/>
        </p:txBody>
      </p:sp>
      <p:sp>
        <p:nvSpPr>
          <p:cNvPr id="11" name="Shape 9"/>
          <p:cNvSpPr/>
          <p:nvPr/>
        </p:nvSpPr>
        <p:spPr>
          <a:xfrm>
            <a:off x="6428232" y="1828800"/>
            <a:ext cx="1554480" cy="594360"/>
          </a:xfrm>
          <a:prstGeom prst="roundRect">
            <a:avLst>
              <a:gd name="adj" fmla="val 9231"/>
            </a:avLst>
          </a:prstGeom>
          <a:solidFill>
            <a:srgbClr val="FFFFFF"/>
          </a:solidFill>
          <a:ln w="12700">
            <a:solidFill>
              <a:srgbClr val="FFFFFF"/>
            </a:solidFill>
            <a:prstDash val="solid"/>
          </a:ln>
        </p:spPr>
        <p:txBody>
          <a:bodyPr wrap="square">
            <a:normAutofit/>
          </a:bodyPr>
          <a:p/>
        </p:txBody>
      </p:sp>
      <p:sp>
        <p:nvSpPr>
          <p:cNvPr id="12" name="Text 10"/>
          <p:cNvSpPr/>
          <p:nvPr/>
        </p:nvSpPr>
        <p:spPr>
          <a:xfrm>
            <a:off x="6428232" y="1828800"/>
            <a:ext cx="1554480" cy="594360"/>
          </a:xfrm>
          <a:prstGeom prst="rect">
            <a:avLst/>
          </a:prstGeom>
          <a:noFill/>
          <a:ln/>
        </p:spPr>
        <p:txBody>
          <a:bodyPr wrap="square" rtlCol="0" anchor="ctr">
            <a:normAutofit/>
          </a:bodyPr>
          <a:lstStyle/>
          <a:p>
            <a:pPr algn="ctr" indent="0" marL="0">
              <a:buNone/>
            </a:pPr>
            <a:r>
              <a:rPr lang="en-US" sz="2000" b="1" dirty="0">
                <a:solidFill>
                  <a:srgbClr val="F39C12"/>
                </a:solidFill>
                <a:latin typeface="Yu Gothic UI" pitchFamily="34" charset="0"/>
                <a:ea typeface="Yu Gothic UI" pitchFamily="34" charset="-122"/>
                <a:cs typeface="Yu Gothic UI" pitchFamily="34" charset="-120"/>
              </a:rPr>
              <a:t>演習 N</a:t>
            </a:r>
            <a:endParaRPr lang="en-US" sz="2000" dirty="0"/>
          </a:p>
        </p:txBody>
      </p:sp>
      <p:sp>
        <p:nvSpPr>
          <p:cNvPr id="13" name="Text 11"/>
          <p:cNvSpPr/>
          <p:nvPr/>
        </p:nvSpPr>
        <p:spPr>
          <a:xfrm>
            <a:off x="8119872" y="1691640"/>
            <a:ext cx="3474720" cy="868680"/>
          </a:xfrm>
          <a:prstGeom prst="rect">
            <a:avLst/>
          </a:prstGeom>
          <a:noFill/>
          <a:ln/>
        </p:spPr>
        <p:txBody>
          <a:bodyPr wrap="square" rtlCol="0" anchor="ctr">
            <a:normAutofit/>
          </a:bodyPr>
          <a:lstStyle/>
          <a:p>
            <a:pPr indent="0" marL="0">
              <a:buNone/>
            </a:pPr>
            <a:r>
              <a:rPr lang="en-US" sz="2000" dirty="0">
                <a:solidFill>
                  <a:srgbClr val="FFFFFF"/>
                </a:solidFill>
                <a:latin typeface="Yu Gothic UI" pitchFamily="34" charset="0"/>
                <a:ea typeface="Yu Gothic UI" pitchFamily="34" charset="-122"/>
                <a:cs typeface="Yu Gothic UI" pitchFamily="34" charset="-120"/>
              </a:rPr>
              <a:t>手を動かす時間（長め）</a:t>
            </a:r>
            <a:endParaRPr lang="en-US" sz="2000" dirty="0"/>
          </a:p>
        </p:txBody>
      </p:sp>
      <p:sp>
        <p:nvSpPr>
          <p:cNvPr id="14" name="Text 12"/>
          <p:cNvSpPr/>
          <p:nvPr/>
        </p:nvSpPr>
        <p:spPr>
          <a:xfrm>
            <a:off x="457200" y="2743200"/>
            <a:ext cx="11247120" cy="411480"/>
          </a:xfrm>
          <a:prstGeom prst="rect">
            <a:avLst/>
          </a:prstGeom>
          <a:noFill/>
          <a:ln/>
        </p:spPr>
        <p:txBody>
          <a:bodyPr wrap="square" rtlCol="0" anchor="ctr">
            <a:normAutofit/>
          </a:bodyPr>
          <a:lstStyle/>
          <a:p>
            <a:pPr indent="0" marL="0">
              <a:buNone/>
            </a:pPr>
            <a:r>
              <a:rPr lang="en-US" sz="2200" b="1" dirty="0">
                <a:solidFill>
                  <a:srgbClr val="1F3A5F"/>
                </a:solidFill>
                <a:latin typeface="Yu Gothic UI" pitchFamily="34" charset="0"/>
                <a:ea typeface="Yu Gothic UI" pitchFamily="34" charset="-122"/>
                <a:cs typeface="Yu Gothic UI" pitchFamily="34" charset="-120"/>
              </a:rPr>
              <a:t>全体の流れ</a:t>
            </a:r>
            <a:endParaRPr lang="en-US" sz="2200" dirty="0"/>
          </a:p>
        </p:txBody>
      </p:sp>
      <p:sp>
        <p:nvSpPr>
          <p:cNvPr id="15" name="Shape 13"/>
          <p:cNvSpPr/>
          <p:nvPr/>
        </p:nvSpPr>
        <p:spPr>
          <a:xfrm>
            <a:off x="457200" y="3246120"/>
            <a:ext cx="11247120" cy="640080"/>
          </a:xfrm>
          <a:prstGeom prst="roundRect">
            <a:avLst>
              <a:gd name="adj" fmla="val 7143"/>
            </a:avLst>
          </a:prstGeom>
          <a:solidFill>
            <a:srgbClr val="F4F8FC"/>
          </a:solidFill>
          <a:ln w="12700">
            <a:solidFill>
              <a:srgbClr val="4A6FA5"/>
            </a:solidFill>
            <a:prstDash val="solid"/>
          </a:ln>
        </p:spPr>
        <p:txBody>
          <a:bodyPr wrap="square">
            <a:normAutofit/>
          </a:bodyPr>
          <a:p/>
        </p:txBody>
      </p:sp>
      <p:sp>
        <p:nvSpPr>
          <p:cNvPr id="16" name="Shape 14"/>
          <p:cNvSpPr/>
          <p:nvPr/>
        </p:nvSpPr>
        <p:spPr>
          <a:xfrm>
            <a:off x="594360" y="3374136"/>
            <a:ext cx="1051560" cy="384048"/>
          </a:xfrm>
          <a:prstGeom prst="roundRect">
            <a:avLst>
              <a:gd name="adj" fmla="val 9524"/>
            </a:avLst>
          </a:prstGeom>
          <a:solidFill>
            <a:srgbClr val="1F3A5F"/>
          </a:solidFill>
          <a:ln w="12700">
            <a:solidFill>
              <a:srgbClr val="1F3A5F"/>
            </a:solidFill>
            <a:prstDash val="solid"/>
          </a:ln>
        </p:spPr>
        <p:txBody>
          <a:bodyPr wrap="square">
            <a:normAutofit/>
          </a:bodyPr>
          <a:p/>
        </p:txBody>
      </p:sp>
      <p:sp>
        <p:nvSpPr>
          <p:cNvPr id="17" name="Text 15"/>
          <p:cNvSpPr/>
          <p:nvPr/>
        </p:nvSpPr>
        <p:spPr>
          <a:xfrm>
            <a:off x="594360" y="3374136"/>
            <a:ext cx="1051560" cy="384048"/>
          </a:xfrm>
          <a:prstGeom prst="rect">
            <a:avLst/>
          </a:prstGeom>
          <a:noFill/>
          <a:ln/>
        </p:spPr>
        <p:txBody>
          <a:bodyPr wrap="square" rtlCol="0" anchor="ctr">
            <a:normAutofit/>
          </a:bodyPr>
          <a:lstStyle/>
          <a:p>
            <a:pPr algn="ctr" indent="0" marL="0">
              <a:buNone/>
            </a:pPr>
            <a:r>
              <a:rPr lang="en-US" sz="2000" b="1" dirty="0">
                <a:solidFill>
                  <a:srgbClr val="FFFFFF"/>
                </a:solidFill>
                <a:latin typeface="Yu Gothic UI" pitchFamily="34" charset="0"/>
                <a:ea typeface="Yu Gothic UI" pitchFamily="34" charset="-122"/>
                <a:cs typeface="Yu Gothic UI" pitchFamily="34" charset="-120"/>
              </a:rPr>
              <a:t>解説</a:t>
            </a:r>
            <a:endParaRPr lang="en-US" sz="2000" dirty="0"/>
          </a:p>
        </p:txBody>
      </p:sp>
      <p:sp>
        <p:nvSpPr>
          <p:cNvPr id="18" name="Text 16"/>
          <p:cNvSpPr/>
          <p:nvPr/>
        </p:nvSpPr>
        <p:spPr>
          <a:xfrm>
            <a:off x="1783080" y="3355848"/>
            <a:ext cx="9738360" cy="420624"/>
          </a:xfrm>
          <a:prstGeom prst="rect">
            <a:avLst/>
          </a:prstGeom>
          <a:noFill/>
          <a:ln/>
        </p:spPr>
        <p:txBody>
          <a:bodyPr wrap="square" rtlCol="0" anchor="ctr">
            <a:normAutofit/>
          </a:bodyPr>
          <a:lstStyle/>
          <a:p>
            <a:pPr indent="0" marL="0">
              <a:buNone/>
            </a:pPr>
            <a:r>
              <a:rPr lang="en-US" sz="2000" dirty="0">
                <a:solidFill>
                  <a:srgbClr val="222222"/>
                </a:solidFill>
                <a:latin typeface="Yu Gothic UI" pitchFamily="34" charset="0"/>
                <a:ea typeface="Yu Gothic UI" pitchFamily="34" charset="-122"/>
                <a:cs typeface="Yu Gothic UI" pitchFamily="34" charset="-120"/>
              </a:rPr>
              <a:t>応用編の2コース（中級コース／基礎組コース）</a:t>
            </a:r>
            <a:endParaRPr lang="en-US" sz="2000" dirty="0"/>
          </a:p>
        </p:txBody>
      </p:sp>
      <p:sp>
        <p:nvSpPr>
          <p:cNvPr id="19" name="Shape 17"/>
          <p:cNvSpPr/>
          <p:nvPr/>
        </p:nvSpPr>
        <p:spPr>
          <a:xfrm>
            <a:off x="457200" y="3977640"/>
            <a:ext cx="11247120" cy="640080"/>
          </a:xfrm>
          <a:prstGeom prst="roundRect">
            <a:avLst>
              <a:gd name="adj" fmla="val 7143"/>
            </a:avLst>
          </a:prstGeom>
          <a:solidFill>
            <a:srgbClr val="FFF4E5"/>
          </a:solidFill>
          <a:ln w="12700">
            <a:solidFill>
              <a:srgbClr val="F39C12"/>
            </a:solidFill>
            <a:prstDash val="solid"/>
          </a:ln>
        </p:spPr>
        <p:txBody>
          <a:bodyPr wrap="square">
            <a:normAutofit/>
          </a:bodyPr>
          <a:p/>
        </p:txBody>
      </p:sp>
      <p:sp>
        <p:nvSpPr>
          <p:cNvPr id="20" name="Shape 18"/>
          <p:cNvSpPr/>
          <p:nvPr/>
        </p:nvSpPr>
        <p:spPr>
          <a:xfrm>
            <a:off x="594360" y="4105656"/>
            <a:ext cx="1371600" cy="384048"/>
          </a:xfrm>
          <a:prstGeom prst="roundRect">
            <a:avLst>
              <a:gd name="adj" fmla="val 9524"/>
            </a:avLst>
          </a:prstGeom>
          <a:solidFill>
            <a:srgbClr val="F39C12"/>
          </a:solidFill>
          <a:ln w="12700">
            <a:solidFill>
              <a:srgbClr val="F39C12"/>
            </a:solidFill>
            <a:prstDash val="solid"/>
          </a:ln>
        </p:spPr>
        <p:txBody>
          <a:bodyPr wrap="square">
            <a:normAutofit/>
          </a:bodyPr>
          <a:p/>
        </p:txBody>
      </p:sp>
      <p:sp>
        <p:nvSpPr>
          <p:cNvPr id="21" name="Text 19"/>
          <p:cNvSpPr/>
          <p:nvPr/>
        </p:nvSpPr>
        <p:spPr>
          <a:xfrm>
            <a:off x="594360" y="4105656"/>
            <a:ext cx="1371600" cy="384048"/>
          </a:xfrm>
          <a:prstGeom prst="rect">
            <a:avLst/>
          </a:prstGeom>
          <a:noFill/>
          <a:ln/>
        </p:spPr>
        <p:txBody>
          <a:bodyPr wrap="square" rtlCol="0" anchor="ctr">
            <a:normAutofit/>
          </a:bodyPr>
          <a:lstStyle/>
          <a:p>
            <a:pPr algn="ctr" indent="0" marL="0">
              <a:buNone/>
            </a:pPr>
            <a:r>
              <a:rPr lang="en-US" sz="2000" b="1" dirty="0">
                <a:solidFill>
                  <a:srgbClr val="FFFFFF"/>
                </a:solidFill>
                <a:latin typeface="Yu Gothic UI" pitchFamily="34" charset="0"/>
                <a:ea typeface="Yu Gothic UI" pitchFamily="34" charset="-122"/>
                <a:cs typeface="Yu Gothic UI" pitchFamily="34" charset="-120"/>
              </a:rPr>
              <a:t>演習 4</a:t>
            </a:r>
            <a:endParaRPr lang="en-US" sz="2000" dirty="0"/>
          </a:p>
        </p:txBody>
      </p:sp>
      <p:sp>
        <p:nvSpPr>
          <p:cNvPr id="22" name="Text 20"/>
          <p:cNvSpPr/>
          <p:nvPr/>
        </p:nvSpPr>
        <p:spPr>
          <a:xfrm>
            <a:off x="2103120" y="4087368"/>
            <a:ext cx="9418320" cy="420624"/>
          </a:xfrm>
          <a:prstGeom prst="rect">
            <a:avLst/>
          </a:prstGeom>
          <a:noFill/>
          <a:ln/>
        </p:spPr>
        <p:txBody>
          <a:bodyPr wrap="square" rtlCol="0" anchor="ctr">
            <a:normAutofit/>
          </a:bodyPr>
          <a:lstStyle/>
          <a:p>
            <a:pPr indent="0" marL="0">
              <a:buNone/>
            </a:pPr>
            <a:r>
              <a:rPr lang="en-US" sz="2000" b="1" dirty="0">
                <a:solidFill>
                  <a:srgbClr val="E65100"/>
                </a:solidFill>
                <a:latin typeface="Yu Gothic UI" pitchFamily="34" charset="0"/>
                <a:ea typeface="Yu Gothic UI" pitchFamily="34" charset="-122"/>
                <a:cs typeface="Yu Gothic UI" pitchFamily="34" charset="-120"/>
              </a:rPr>
              <a:t>【中級】配信ログをAIで分析し改善案を生成</a:t>
            </a:r>
            <a:endParaRPr lang="en-US" sz="2000" dirty="0"/>
          </a:p>
        </p:txBody>
      </p:sp>
      <p:sp>
        <p:nvSpPr>
          <p:cNvPr id="23" name="Shape 21"/>
          <p:cNvSpPr/>
          <p:nvPr/>
        </p:nvSpPr>
        <p:spPr>
          <a:xfrm>
            <a:off x="457200" y="4709160"/>
            <a:ext cx="11247120" cy="640080"/>
          </a:xfrm>
          <a:prstGeom prst="roundRect">
            <a:avLst>
              <a:gd name="adj" fmla="val 7143"/>
            </a:avLst>
          </a:prstGeom>
          <a:solidFill>
            <a:srgbClr val="FFF4E5"/>
          </a:solidFill>
          <a:ln w="12700">
            <a:solidFill>
              <a:srgbClr val="F39C12"/>
            </a:solidFill>
            <a:prstDash val="solid"/>
          </a:ln>
        </p:spPr>
        <p:txBody>
          <a:bodyPr wrap="square">
            <a:normAutofit/>
          </a:bodyPr>
          <a:p/>
        </p:txBody>
      </p:sp>
      <p:sp>
        <p:nvSpPr>
          <p:cNvPr id="24" name="Shape 22"/>
          <p:cNvSpPr/>
          <p:nvPr/>
        </p:nvSpPr>
        <p:spPr>
          <a:xfrm>
            <a:off x="594360" y="4837176"/>
            <a:ext cx="1371600" cy="384048"/>
          </a:xfrm>
          <a:prstGeom prst="roundRect">
            <a:avLst>
              <a:gd name="adj" fmla="val 9524"/>
            </a:avLst>
          </a:prstGeom>
          <a:solidFill>
            <a:srgbClr val="F39C12"/>
          </a:solidFill>
          <a:ln w="12700">
            <a:solidFill>
              <a:srgbClr val="F39C12"/>
            </a:solidFill>
            <a:prstDash val="solid"/>
          </a:ln>
        </p:spPr>
        <p:txBody>
          <a:bodyPr wrap="square">
            <a:normAutofit/>
          </a:bodyPr>
          <a:p/>
        </p:txBody>
      </p:sp>
      <p:sp>
        <p:nvSpPr>
          <p:cNvPr id="25" name="Text 23"/>
          <p:cNvSpPr/>
          <p:nvPr/>
        </p:nvSpPr>
        <p:spPr>
          <a:xfrm>
            <a:off x="594360" y="4837176"/>
            <a:ext cx="1371600" cy="384048"/>
          </a:xfrm>
          <a:prstGeom prst="rect">
            <a:avLst/>
          </a:prstGeom>
          <a:noFill/>
          <a:ln/>
        </p:spPr>
        <p:txBody>
          <a:bodyPr wrap="square" rtlCol="0" anchor="ctr">
            <a:normAutofit/>
          </a:bodyPr>
          <a:lstStyle/>
          <a:p>
            <a:pPr algn="ctr" indent="0" marL="0">
              <a:buNone/>
            </a:pPr>
            <a:r>
              <a:rPr lang="en-US" sz="2000" b="1" dirty="0">
                <a:solidFill>
                  <a:srgbClr val="FFFFFF"/>
                </a:solidFill>
                <a:latin typeface="Yu Gothic UI" pitchFamily="34" charset="0"/>
                <a:ea typeface="Yu Gothic UI" pitchFamily="34" charset="-122"/>
                <a:cs typeface="Yu Gothic UI" pitchFamily="34" charset="-120"/>
              </a:rPr>
              <a:t>演習 5</a:t>
            </a:r>
            <a:endParaRPr lang="en-US" sz="2000" dirty="0"/>
          </a:p>
        </p:txBody>
      </p:sp>
      <p:sp>
        <p:nvSpPr>
          <p:cNvPr id="26" name="Text 24"/>
          <p:cNvSpPr/>
          <p:nvPr/>
        </p:nvSpPr>
        <p:spPr>
          <a:xfrm>
            <a:off x="2103120" y="4818888"/>
            <a:ext cx="9418320" cy="420624"/>
          </a:xfrm>
          <a:prstGeom prst="rect">
            <a:avLst/>
          </a:prstGeom>
          <a:noFill/>
          <a:ln/>
        </p:spPr>
        <p:txBody>
          <a:bodyPr wrap="square" rtlCol="0" anchor="ctr">
            <a:normAutofit/>
          </a:bodyPr>
          <a:lstStyle/>
          <a:p>
            <a:pPr indent="0" marL="0">
              <a:buNone/>
            </a:pPr>
            <a:r>
              <a:rPr lang="en-US" sz="2000" b="1" dirty="0">
                <a:solidFill>
                  <a:srgbClr val="E65100"/>
                </a:solidFill>
                <a:latin typeface="Yu Gothic UI" pitchFamily="34" charset="0"/>
                <a:ea typeface="Yu Gothic UI" pitchFamily="34" charset="-122"/>
                <a:cs typeface="Yu Gothic UI" pitchFamily="34" charset="-120"/>
              </a:rPr>
              <a:t>【中級】次回配信の自動最適化プロンプト作成</a:t>
            </a:r>
            <a:endParaRPr lang="en-US" sz="2000" dirty="0"/>
          </a:p>
        </p:txBody>
      </p:sp>
      <p:sp>
        <p:nvSpPr>
          <p:cNvPr id="27" name="Shape 25"/>
          <p:cNvSpPr/>
          <p:nvPr/>
        </p:nvSpPr>
        <p:spPr>
          <a:xfrm>
            <a:off x="457200" y="5440680"/>
            <a:ext cx="11247120" cy="640080"/>
          </a:xfrm>
          <a:prstGeom prst="roundRect">
            <a:avLst>
              <a:gd name="adj" fmla="val 7143"/>
            </a:avLst>
          </a:prstGeom>
          <a:solidFill>
            <a:srgbClr val="FFF4E5"/>
          </a:solidFill>
          <a:ln w="12700">
            <a:solidFill>
              <a:srgbClr val="F39C12"/>
            </a:solidFill>
            <a:prstDash val="solid"/>
          </a:ln>
        </p:spPr>
        <p:txBody>
          <a:bodyPr wrap="square">
            <a:normAutofit/>
          </a:bodyPr>
          <a:p/>
        </p:txBody>
      </p:sp>
      <p:sp>
        <p:nvSpPr>
          <p:cNvPr id="28" name="Shape 26"/>
          <p:cNvSpPr/>
          <p:nvPr/>
        </p:nvSpPr>
        <p:spPr>
          <a:xfrm>
            <a:off x="594360" y="5568696"/>
            <a:ext cx="1371600" cy="384048"/>
          </a:xfrm>
          <a:prstGeom prst="roundRect">
            <a:avLst>
              <a:gd name="adj" fmla="val 9524"/>
            </a:avLst>
          </a:prstGeom>
          <a:solidFill>
            <a:srgbClr val="F39C12"/>
          </a:solidFill>
          <a:ln w="12700">
            <a:solidFill>
              <a:srgbClr val="F39C12"/>
            </a:solidFill>
            <a:prstDash val="solid"/>
          </a:ln>
        </p:spPr>
        <p:txBody>
          <a:bodyPr wrap="square">
            <a:normAutofit/>
          </a:bodyPr>
          <a:p/>
        </p:txBody>
      </p:sp>
      <p:sp>
        <p:nvSpPr>
          <p:cNvPr id="29" name="Text 27"/>
          <p:cNvSpPr/>
          <p:nvPr/>
        </p:nvSpPr>
        <p:spPr>
          <a:xfrm>
            <a:off x="594360" y="5568696"/>
            <a:ext cx="1371600" cy="384048"/>
          </a:xfrm>
          <a:prstGeom prst="rect">
            <a:avLst/>
          </a:prstGeom>
          <a:noFill/>
          <a:ln/>
        </p:spPr>
        <p:txBody>
          <a:bodyPr wrap="square" rtlCol="0" anchor="ctr">
            <a:normAutofit/>
          </a:bodyPr>
          <a:lstStyle/>
          <a:p>
            <a:pPr algn="ctr" indent="0" marL="0">
              <a:buNone/>
            </a:pPr>
            <a:r>
              <a:rPr lang="en-US" sz="2000" b="1" dirty="0">
                <a:solidFill>
                  <a:srgbClr val="FFFFFF"/>
                </a:solidFill>
                <a:latin typeface="Yu Gothic UI" pitchFamily="34" charset="0"/>
                <a:ea typeface="Yu Gothic UI" pitchFamily="34" charset="-122"/>
                <a:cs typeface="Yu Gothic UI" pitchFamily="34" charset="-120"/>
              </a:rPr>
              <a:t>演習 6</a:t>
            </a:r>
            <a:endParaRPr lang="en-US" sz="2000" dirty="0"/>
          </a:p>
        </p:txBody>
      </p:sp>
      <p:sp>
        <p:nvSpPr>
          <p:cNvPr id="30" name="Text 28"/>
          <p:cNvSpPr/>
          <p:nvPr/>
        </p:nvSpPr>
        <p:spPr>
          <a:xfrm>
            <a:off x="2103120" y="5550408"/>
            <a:ext cx="9418320" cy="420624"/>
          </a:xfrm>
          <a:prstGeom prst="rect">
            <a:avLst/>
          </a:prstGeom>
          <a:noFill/>
          <a:ln/>
        </p:spPr>
        <p:txBody>
          <a:bodyPr wrap="square" rtlCol="0" anchor="ctr">
            <a:normAutofit/>
          </a:bodyPr>
          <a:lstStyle/>
          <a:p>
            <a:pPr indent="0" marL="0">
              <a:buNone/>
            </a:pPr>
            <a:r>
              <a:rPr lang="en-US" sz="2000" b="1" dirty="0">
                <a:solidFill>
                  <a:srgbClr val="E65100"/>
                </a:solidFill>
                <a:latin typeface="Yu Gothic UI" pitchFamily="34" charset="0"/>
                <a:ea typeface="Yu Gothic UI" pitchFamily="34" charset="-122"/>
                <a:cs typeface="Yu Gothic UI" pitchFamily="34" charset="-120"/>
              </a:rPr>
              <a:t>【基礎組】配信プラン素案を作成</a:t>
            </a:r>
            <a:endParaRPr lang="en-US" sz="2000" dirty="0"/>
          </a:p>
        </p:txBody>
      </p:sp>
      <p:sp>
        <p:nvSpPr>
          <p:cNvPr id="31" name="Text 29"/>
          <p:cNvSpPr/>
          <p:nvPr/>
        </p:nvSpPr>
        <p:spPr>
          <a:xfrm>
            <a:off x="11338560" y="6565392"/>
            <a:ext cx="640080" cy="274320"/>
          </a:xfrm>
          <a:prstGeom prst="rect">
            <a:avLst/>
          </a:prstGeom>
          <a:noFill/>
          <a:ln/>
        </p:spPr>
        <p:txBody>
          <a:bodyPr wrap="square" rtlCol="0" anchor="ctr">
            <a:normAutofit/>
          </a:bodyPr>
          <a:lstStyle/>
          <a:p>
            <a:pPr algn="r" indent="0" marL="0">
              <a:buNone/>
            </a:pPr>
            <a:r>
              <a:rPr lang="en-US" sz="1400" dirty="0">
                <a:solidFill>
                  <a:srgbClr val="888888"/>
                </a:solidFill>
                <a:latin typeface="Yu Gothic UI" pitchFamily="34" charset="0"/>
                <a:ea typeface="Yu Gothic UI" pitchFamily="34" charset="-122"/>
                <a:cs typeface="Yu Gothic UI" pitchFamily="34" charset="-120"/>
              </a:rPr>
              <a:t>3 / 8</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1F3A5F"/>
          </a:solidFill>
          <a:ln w="12700">
            <a:solidFill>
              <a:srgbClr val="1F3A5F"/>
            </a:solidFill>
            <a:prstDash val="solid"/>
          </a:ln>
        </p:spPr>
        <p:txBody>
          <a:bodyPr wrap="square">
            <a:normAutofit/>
          </a:bodyPr>
          <a:p/>
        </p:txBody>
      </p:sp>
      <p:sp>
        <p:nvSpPr>
          <p:cNvPr id="3" name="Shape 1"/>
          <p:cNvSpPr/>
          <p:nvPr/>
        </p:nvSpPr>
        <p:spPr>
          <a:xfrm>
            <a:off x="0" y="777240"/>
            <a:ext cx="12191695" cy="54864"/>
          </a:xfrm>
          <a:prstGeom prst="rect">
            <a:avLst/>
          </a:prstGeom>
          <a:solidFill>
            <a:srgbClr val="4A6FA5"/>
          </a:solidFill>
          <a:ln w="12700">
            <a:solidFill>
              <a:srgbClr val="4A6FA5"/>
            </a:solidFill>
            <a:prstDash val="solid"/>
          </a:ln>
        </p:spPr>
        <p:txBody>
          <a:bodyPr wrap="square">
            <a:normAutofit/>
          </a:bodyPr>
          <a:p/>
        </p:txBody>
      </p:sp>
      <p:sp>
        <p:nvSpPr>
          <p:cNvPr id="4" name="Shape 2"/>
          <p:cNvSpPr/>
          <p:nvPr/>
        </p:nvSpPr>
        <p:spPr>
          <a:xfrm>
            <a:off x="274320" y="164592"/>
            <a:ext cx="1051560" cy="457200"/>
          </a:xfrm>
          <a:prstGeom prst="roundRect">
            <a:avLst>
              <a:gd name="adj" fmla="val 10000"/>
            </a:avLst>
          </a:prstGeom>
          <a:solidFill>
            <a:srgbClr val="FFFFFF"/>
          </a:solidFill>
          <a:ln w="12700">
            <a:solidFill>
              <a:srgbClr val="FFFFFF"/>
            </a:solidFill>
            <a:prstDash val="solid"/>
          </a:ln>
        </p:spPr>
        <p:txBody>
          <a:bodyPr wrap="square">
            <a:normAutofit/>
          </a:bodyPr>
          <a:p/>
        </p:txBody>
      </p:sp>
      <p:sp>
        <p:nvSpPr>
          <p:cNvPr id="5" name="Text 3"/>
          <p:cNvSpPr/>
          <p:nvPr/>
        </p:nvSpPr>
        <p:spPr>
          <a:xfrm>
            <a:off x="274320" y="164592"/>
            <a:ext cx="1051560" cy="457200"/>
          </a:xfrm>
          <a:prstGeom prst="rect">
            <a:avLst/>
          </a:prstGeom>
          <a:noFill/>
          <a:ln/>
        </p:spPr>
        <p:txBody>
          <a:bodyPr wrap="square" rtlCol="0" anchor="ctr">
            <a:normAutofit/>
          </a:bodyPr>
          <a:lstStyle/>
          <a:p>
            <a:pPr algn="ctr" indent="0" marL="0">
              <a:buNone/>
            </a:pPr>
            <a:r>
              <a:rPr lang="en-US" sz="2000" b="1" dirty="0">
                <a:solidFill>
                  <a:srgbClr val="1F3A5F"/>
                </a:solidFill>
                <a:latin typeface="Yu Gothic UI" pitchFamily="34" charset="0"/>
                <a:ea typeface="Yu Gothic UI" pitchFamily="34" charset="-122"/>
                <a:cs typeface="Yu Gothic UI" pitchFamily="34" charset="-120"/>
              </a:rPr>
              <a:t>解説</a:t>
            </a:r>
            <a:endParaRPr lang="en-US" sz="2000" dirty="0"/>
          </a:p>
        </p:txBody>
      </p:sp>
      <p:sp>
        <p:nvSpPr>
          <p:cNvPr id="6" name="Text 4"/>
          <p:cNvSpPr/>
          <p:nvPr/>
        </p:nvSpPr>
        <p:spPr>
          <a:xfrm>
            <a:off x="1508760" y="91440"/>
            <a:ext cx="10424160" cy="640080"/>
          </a:xfrm>
          <a:prstGeom prst="rect">
            <a:avLst/>
          </a:prstGeom>
          <a:noFill/>
          <a:ln/>
        </p:spPr>
        <p:txBody>
          <a:bodyPr wrap="square" rtlCol="0" anchor="ctr">
            <a:normAutofit/>
          </a:bodyPr>
          <a:lstStyle/>
          <a:p>
            <a:pPr indent="0" marL="0">
              <a:buNone/>
            </a:pPr>
            <a:r>
              <a:rPr lang="en-US" sz="2600" b="1" dirty="0">
                <a:solidFill>
                  <a:srgbClr val="FFFFFF"/>
                </a:solidFill>
                <a:latin typeface="Yu Gothic UI" pitchFamily="34" charset="0"/>
                <a:ea typeface="Yu Gothic UI" pitchFamily="34" charset="-122"/>
                <a:cs typeface="Yu Gothic UI" pitchFamily="34" charset="-120"/>
              </a:rPr>
              <a:t>応用編の2コース ─ 自分のレベルで選ぶ</a:t>
            </a:r>
            <a:endParaRPr lang="en-US" sz="2600" dirty="0"/>
          </a:p>
        </p:txBody>
      </p:sp>
      <p:sp>
        <p:nvSpPr>
          <p:cNvPr id="7" name="Text 5"/>
          <p:cNvSpPr/>
          <p:nvPr/>
        </p:nvSpPr>
        <p:spPr>
          <a:xfrm>
            <a:off x="457200" y="1051560"/>
            <a:ext cx="11247120" cy="502920"/>
          </a:xfrm>
          <a:prstGeom prst="rect">
            <a:avLst/>
          </a:prstGeom>
          <a:noFill/>
          <a:ln/>
        </p:spPr>
        <p:txBody>
          <a:bodyPr wrap="square" rtlCol="0" anchor="ctr">
            <a:normAutofit/>
          </a:bodyPr>
          <a:lstStyle/>
          <a:p>
            <a:pPr indent="0" marL="0">
              <a:buNone/>
            </a:pPr>
            <a:r>
              <a:rPr lang="en-US" sz="2000" dirty="0">
                <a:solidFill>
                  <a:srgbClr val="555555"/>
                </a:solidFill>
                <a:latin typeface="Yu Gothic UI" pitchFamily="34" charset="0"/>
                <a:ea typeface="Yu Gothic UI" pitchFamily="34" charset="-122"/>
                <a:cs typeface="Yu Gothic UI" pitchFamily="34" charset="-120"/>
              </a:rPr>
              <a:t>応用編は2つのコースを用意。基礎編で「コードが楽しい」と感じた方は中級、「GASは難しい」と感じた方は基礎組コースへ。</a:t>
            </a:r>
            <a:endParaRPr lang="en-US" sz="2000" dirty="0"/>
          </a:p>
        </p:txBody>
      </p:sp>
      <p:sp>
        <p:nvSpPr>
          <p:cNvPr id="8" name="Shape 6"/>
          <p:cNvSpPr/>
          <p:nvPr/>
        </p:nvSpPr>
        <p:spPr>
          <a:xfrm>
            <a:off x="457200" y="1691640"/>
            <a:ext cx="5577840" cy="4709160"/>
          </a:xfrm>
          <a:prstGeom prst="roundRect">
            <a:avLst>
              <a:gd name="adj" fmla="val 1165"/>
            </a:avLst>
          </a:prstGeom>
          <a:solidFill>
            <a:srgbClr val="FFF4E5"/>
          </a:solidFill>
          <a:ln w="19050">
            <a:solidFill>
              <a:srgbClr val="FF9800"/>
            </a:solidFill>
            <a:prstDash val="solid"/>
          </a:ln>
        </p:spPr>
        <p:txBody>
          <a:bodyPr wrap="square">
            <a:normAutofit/>
          </a:bodyPr>
          <a:p/>
        </p:txBody>
      </p:sp>
      <p:sp>
        <p:nvSpPr>
          <p:cNvPr id="9" name="Text 7"/>
          <p:cNvSpPr/>
          <p:nvPr/>
        </p:nvSpPr>
        <p:spPr>
          <a:xfrm>
            <a:off x="640080" y="1828800"/>
            <a:ext cx="5303520" cy="502920"/>
          </a:xfrm>
          <a:prstGeom prst="rect">
            <a:avLst/>
          </a:prstGeom>
          <a:noFill/>
          <a:ln/>
        </p:spPr>
        <p:txBody>
          <a:bodyPr wrap="square" rtlCol="0" anchor="ctr">
            <a:normAutofit/>
          </a:bodyPr>
          <a:lstStyle/>
          <a:p>
            <a:pPr indent="0" marL="0">
              <a:buNone/>
            </a:pPr>
            <a:r>
              <a:rPr lang="en-US" sz="2200" b="1" dirty="0">
                <a:solidFill>
                  <a:srgbClr val="E65100"/>
                </a:solidFill>
                <a:latin typeface="Yu Gothic UI" pitchFamily="34" charset="0"/>
                <a:ea typeface="Yu Gothic UI" pitchFamily="34" charset="-122"/>
                <a:cs typeface="Yu Gothic UI" pitchFamily="34" charset="-120"/>
              </a:rPr>
              <a:t>🟠 中級コース</a:t>
            </a:r>
            <a:endParaRPr lang="en-US" sz="2200" dirty="0"/>
          </a:p>
        </p:txBody>
      </p:sp>
      <p:sp>
        <p:nvSpPr>
          <p:cNvPr id="10" name="Text 8"/>
          <p:cNvSpPr/>
          <p:nvPr/>
        </p:nvSpPr>
        <p:spPr>
          <a:xfrm>
            <a:off x="640080" y="2423160"/>
            <a:ext cx="5303520" cy="3886200"/>
          </a:xfrm>
          <a:prstGeom prst="rect">
            <a:avLst/>
          </a:prstGeom>
          <a:noFill/>
          <a:ln/>
        </p:spPr>
        <p:txBody>
          <a:bodyPr wrap="square" rtlCol="0" anchor="t">
            <a:normAutofit/>
          </a:bodyPr>
          <a:lstStyle/>
          <a:p>
            <a:pPr indent="0" marL="0">
              <a:buNone/>
            </a:pPr>
            <a:r>
              <a:rPr lang="en-US" sz="2000" dirty="0">
                <a:solidFill>
                  <a:srgbClr val="222222"/>
                </a:solidFill>
                <a:latin typeface="Yu Gothic UI" pitchFamily="34" charset="0"/>
                <a:ea typeface="Yu Gothic UI" pitchFamily="34" charset="-122"/>
                <a:cs typeface="Yu Gothic UI" pitchFamily="34" charset="-120"/>
              </a:rPr>
              <a:t>【対象】</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第10回基礎のステップ配信本文を作れた方</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【演習4・5を担当】</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・配信ログ(開封・反応)をAIで分析</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・改善案を反映した次回配信を作成</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【ゴール】</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配信のPDCAサイクルを回せる状態</a:t>
            </a:r>
            <a:endParaRPr lang="en-US" sz="2000" dirty="0"/>
          </a:p>
        </p:txBody>
      </p:sp>
      <p:sp>
        <p:nvSpPr>
          <p:cNvPr id="11" name="Shape 9"/>
          <p:cNvSpPr/>
          <p:nvPr/>
        </p:nvSpPr>
        <p:spPr>
          <a:xfrm>
            <a:off x="6245352" y="1691640"/>
            <a:ext cx="5486400" cy="4709160"/>
          </a:xfrm>
          <a:prstGeom prst="roundRect">
            <a:avLst>
              <a:gd name="adj" fmla="val 1165"/>
            </a:avLst>
          </a:prstGeom>
          <a:solidFill>
            <a:srgbClr val="E8F0FE"/>
          </a:solidFill>
          <a:ln w="19050">
            <a:solidFill>
              <a:srgbClr val="3F51B5"/>
            </a:solidFill>
            <a:prstDash val="solid"/>
          </a:ln>
        </p:spPr>
        <p:txBody>
          <a:bodyPr wrap="square">
            <a:normAutofit/>
          </a:bodyPr>
          <a:p/>
        </p:txBody>
      </p:sp>
      <p:sp>
        <p:nvSpPr>
          <p:cNvPr id="12" name="Text 10"/>
          <p:cNvSpPr/>
          <p:nvPr/>
        </p:nvSpPr>
        <p:spPr>
          <a:xfrm>
            <a:off x="6428232" y="1828800"/>
            <a:ext cx="5212080" cy="502920"/>
          </a:xfrm>
          <a:prstGeom prst="rect">
            <a:avLst/>
          </a:prstGeom>
          <a:noFill/>
          <a:ln/>
        </p:spPr>
        <p:txBody>
          <a:bodyPr wrap="square" rtlCol="0" anchor="ctr">
            <a:normAutofit/>
          </a:bodyPr>
          <a:lstStyle/>
          <a:p>
            <a:pPr indent="0" marL="0">
              <a:buNone/>
            </a:pPr>
            <a:r>
              <a:rPr lang="en-US" sz="2200" b="1" dirty="0">
                <a:solidFill>
                  <a:srgbClr val="1A237E"/>
                </a:solidFill>
                <a:latin typeface="Yu Gothic UI" pitchFamily="34" charset="0"/>
                <a:ea typeface="Yu Gothic UI" pitchFamily="34" charset="-122"/>
                <a:cs typeface="Yu Gothic UI" pitchFamily="34" charset="-120"/>
              </a:rPr>
              <a:t>🔵 基礎組コース</a:t>
            </a:r>
            <a:endParaRPr lang="en-US" sz="2200" dirty="0"/>
          </a:p>
        </p:txBody>
      </p:sp>
      <p:sp>
        <p:nvSpPr>
          <p:cNvPr id="13" name="Text 11"/>
          <p:cNvSpPr/>
          <p:nvPr/>
        </p:nvSpPr>
        <p:spPr>
          <a:xfrm>
            <a:off x="6428232" y="2423160"/>
            <a:ext cx="5212080" cy="3886200"/>
          </a:xfrm>
          <a:prstGeom prst="rect">
            <a:avLst/>
          </a:prstGeom>
          <a:noFill/>
          <a:ln/>
        </p:spPr>
        <p:txBody>
          <a:bodyPr wrap="square" rtlCol="0" anchor="t">
            <a:normAutofit/>
          </a:bodyPr>
          <a:lstStyle/>
          <a:p>
            <a:pPr indent="0" marL="0">
              <a:buNone/>
            </a:pPr>
            <a:r>
              <a:rPr lang="en-US" sz="2000" dirty="0">
                <a:solidFill>
                  <a:srgbClr val="222222"/>
                </a:solidFill>
                <a:latin typeface="Yu Gothic UI" pitchFamily="34" charset="0"/>
                <a:ea typeface="Yu Gothic UI" pitchFamily="34" charset="-122"/>
                <a:cs typeface="Yu Gothic UI" pitchFamily="34" charset="-120"/>
              </a:rPr>
              <a:t>【対象】</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「分析はちょっと苦手」と感じた方</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【演習6を担当】</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・1ヶ月分の配信プラン素案を作成</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・テーマと配信日を一覧化</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【ゴール】</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配信スケジュールが見える状態</a:t>
            </a:r>
            <a:endParaRPr lang="en-US" sz="2000" dirty="0"/>
          </a:p>
        </p:txBody>
      </p:sp>
      <p:sp>
        <p:nvSpPr>
          <p:cNvPr id="14" name="Text 12"/>
          <p:cNvSpPr/>
          <p:nvPr/>
        </p:nvSpPr>
        <p:spPr>
          <a:xfrm>
            <a:off x="11338560" y="6565392"/>
            <a:ext cx="640080" cy="274320"/>
          </a:xfrm>
          <a:prstGeom prst="rect">
            <a:avLst/>
          </a:prstGeom>
          <a:noFill/>
          <a:ln/>
        </p:spPr>
        <p:txBody>
          <a:bodyPr wrap="square" rtlCol="0" anchor="ctr">
            <a:normAutofit/>
          </a:bodyPr>
          <a:lstStyle/>
          <a:p>
            <a:pPr algn="r" indent="0" marL="0">
              <a:buNone/>
            </a:pPr>
            <a:r>
              <a:rPr lang="en-US" sz="1400" dirty="0">
                <a:solidFill>
                  <a:srgbClr val="888888"/>
                </a:solidFill>
                <a:latin typeface="Yu Gothic UI" pitchFamily="34" charset="0"/>
                <a:ea typeface="Yu Gothic UI" pitchFamily="34" charset="-122"/>
                <a:cs typeface="Yu Gothic UI" pitchFamily="34" charset="-120"/>
              </a:rPr>
              <a:t>4 / 8</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F39C12"/>
          </a:solidFill>
          <a:ln w="12700">
            <a:solidFill>
              <a:srgbClr val="F39C12"/>
            </a:solidFill>
            <a:prstDash val="solid"/>
          </a:ln>
        </p:spPr>
        <p:txBody>
          <a:bodyPr wrap="square">
            <a:normAutofit/>
          </a:bodyPr>
          <a:p/>
        </p:txBody>
      </p:sp>
      <p:sp>
        <p:nvSpPr>
          <p:cNvPr id="3" name="Shape 1"/>
          <p:cNvSpPr/>
          <p:nvPr/>
        </p:nvSpPr>
        <p:spPr>
          <a:xfrm>
            <a:off x="0" y="777240"/>
            <a:ext cx="12191695" cy="54864"/>
          </a:xfrm>
          <a:prstGeom prst="rect">
            <a:avLst/>
          </a:prstGeom>
          <a:solidFill>
            <a:srgbClr val="E08300"/>
          </a:solidFill>
          <a:ln w="12700">
            <a:solidFill>
              <a:srgbClr val="E08300"/>
            </a:solidFill>
            <a:prstDash val="solid"/>
          </a:ln>
        </p:spPr>
        <p:txBody>
          <a:bodyPr wrap="square">
            <a:normAutofit/>
          </a:bodyPr>
          <a:p/>
        </p:txBody>
      </p:sp>
      <p:sp>
        <p:nvSpPr>
          <p:cNvPr id="4" name="Shape 2"/>
          <p:cNvSpPr/>
          <p:nvPr/>
        </p:nvSpPr>
        <p:spPr>
          <a:xfrm>
            <a:off x="274320" y="137160"/>
            <a:ext cx="1691640" cy="502920"/>
          </a:xfrm>
          <a:prstGeom prst="roundRect">
            <a:avLst>
              <a:gd name="adj" fmla="val 10909"/>
            </a:avLst>
          </a:prstGeom>
          <a:solidFill>
            <a:srgbClr val="FFFFFF"/>
          </a:solidFill>
          <a:ln w="12700">
            <a:solidFill>
              <a:srgbClr val="FFFFFF"/>
            </a:solidFill>
            <a:prstDash val="solid"/>
          </a:ln>
        </p:spPr>
        <p:txBody>
          <a:bodyPr wrap="square">
            <a:normAutofit/>
          </a:bodyPr>
          <a:p/>
        </p:txBody>
      </p:sp>
      <p:sp>
        <p:nvSpPr>
          <p:cNvPr id="5" name="Text 3"/>
          <p:cNvSpPr/>
          <p:nvPr/>
        </p:nvSpPr>
        <p:spPr>
          <a:xfrm>
            <a:off x="274320" y="137160"/>
            <a:ext cx="1691640" cy="502920"/>
          </a:xfrm>
          <a:prstGeom prst="rect">
            <a:avLst/>
          </a:prstGeom>
          <a:noFill/>
          <a:ln/>
        </p:spPr>
        <p:txBody>
          <a:bodyPr wrap="square" rtlCol="0" anchor="ctr">
            <a:normAutofit/>
          </a:bodyPr>
          <a:lstStyle/>
          <a:p>
            <a:pPr algn="ctr" indent="0" marL="0">
              <a:buNone/>
            </a:pPr>
            <a:r>
              <a:rPr lang="en-US" sz="2200" b="1" dirty="0">
                <a:solidFill>
                  <a:srgbClr val="F39C12"/>
                </a:solidFill>
                <a:latin typeface="Yu Gothic UI" pitchFamily="34" charset="0"/>
                <a:ea typeface="Yu Gothic UI" pitchFamily="34" charset="-122"/>
                <a:cs typeface="Yu Gothic UI" pitchFamily="34" charset="-120"/>
              </a:rPr>
              <a:t>演習 4</a:t>
            </a:r>
            <a:endParaRPr lang="en-US" sz="2200" dirty="0"/>
          </a:p>
        </p:txBody>
      </p:sp>
      <p:sp>
        <p:nvSpPr>
          <p:cNvPr id="6" name="Text 4"/>
          <p:cNvSpPr/>
          <p:nvPr/>
        </p:nvSpPr>
        <p:spPr>
          <a:xfrm>
            <a:off x="2194560" y="91440"/>
            <a:ext cx="9784080" cy="640080"/>
          </a:xfrm>
          <a:prstGeom prst="rect">
            <a:avLst/>
          </a:prstGeom>
          <a:noFill/>
          <a:ln/>
        </p:spPr>
        <p:txBody>
          <a:bodyPr wrap="square" rtlCol="0" anchor="ctr">
            <a:normAutofit/>
          </a:bodyPr>
          <a:lstStyle/>
          <a:p>
            <a:pPr indent="0" marL="0">
              <a:buNone/>
            </a:pPr>
            <a:r>
              <a:rPr lang="en-US" sz="2600" b="1" dirty="0">
                <a:solidFill>
                  <a:srgbClr val="FFFFFF"/>
                </a:solidFill>
                <a:latin typeface="Yu Gothic UI" pitchFamily="34" charset="0"/>
                <a:ea typeface="Yu Gothic UI" pitchFamily="34" charset="-122"/>
                <a:cs typeface="Yu Gothic UI" pitchFamily="34" charset="-120"/>
              </a:rPr>
              <a:t>【中級】配信ログをAIで分析し改善案を生成</a:t>
            </a:r>
            <a:endParaRPr lang="en-US" sz="2600" dirty="0"/>
          </a:p>
        </p:txBody>
      </p:sp>
      <p:sp>
        <p:nvSpPr>
          <p:cNvPr id="7" name="Text 5"/>
          <p:cNvSpPr/>
          <p:nvPr/>
        </p:nvSpPr>
        <p:spPr>
          <a:xfrm>
            <a:off x="457200" y="960120"/>
            <a:ext cx="11247120" cy="457200"/>
          </a:xfrm>
          <a:prstGeom prst="rect">
            <a:avLst/>
          </a:prstGeom>
          <a:noFill/>
          <a:ln/>
        </p:spPr>
        <p:txBody>
          <a:bodyPr wrap="square" rtlCol="0" anchor="ctr">
            <a:normAutofit/>
          </a:bodyPr>
          <a:lstStyle/>
          <a:p>
            <a:pPr indent="0" marL="0">
              <a:buNone/>
            </a:pPr>
            <a:r>
              <a:rPr lang="en-US" sz="2000" dirty="0">
                <a:solidFill>
                  <a:srgbClr val="222222"/>
                </a:solidFill>
                <a:latin typeface="Yu Gothic UI" pitchFamily="34" charset="0"/>
                <a:ea typeface="Yu Gothic UI" pitchFamily="34" charset="-122"/>
                <a:cs typeface="Yu Gothic UI" pitchFamily="34" charset="-120"/>
              </a:rPr>
              <a:t>過去の配信ログをAIに食わせて、反応率を上げる改善案を出してもらいます。</a:t>
            </a:r>
            <a:endParaRPr lang="en-US" sz="2000" dirty="0"/>
          </a:p>
        </p:txBody>
      </p:sp>
      <p:sp>
        <p:nvSpPr>
          <p:cNvPr id="8" name="Shape 6"/>
          <p:cNvSpPr/>
          <p:nvPr/>
        </p:nvSpPr>
        <p:spPr>
          <a:xfrm>
            <a:off x="365760" y="1508760"/>
            <a:ext cx="11430000" cy="3657600"/>
          </a:xfrm>
          <a:prstGeom prst="roundRect">
            <a:avLst>
              <a:gd name="adj" fmla="val 1500"/>
            </a:avLst>
          </a:prstGeom>
          <a:solidFill>
            <a:srgbClr val="FFF4E5"/>
          </a:solidFill>
          <a:ln w="19050">
            <a:solidFill>
              <a:srgbClr val="FF9800"/>
            </a:solidFill>
            <a:prstDash val="solid"/>
          </a:ln>
        </p:spPr>
        <p:txBody>
          <a:bodyPr wrap="square">
            <a:normAutofit/>
          </a:bodyPr>
          <a:p/>
        </p:txBody>
      </p:sp>
      <p:sp>
        <p:nvSpPr>
          <p:cNvPr id="9" name="Text 7"/>
          <p:cNvSpPr/>
          <p:nvPr/>
        </p:nvSpPr>
        <p:spPr>
          <a:xfrm>
            <a:off x="548640" y="1600200"/>
            <a:ext cx="11064240" cy="457200"/>
          </a:xfrm>
          <a:prstGeom prst="rect">
            <a:avLst/>
          </a:prstGeom>
          <a:noFill/>
          <a:ln/>
        </p:spPr>
        <p:txBody>
          <a:bodyPr wrap="square" rtlCol="0" anchor="ctr">
            <a:normAutofit/>
          </a:bodyPr>
          <a:lstStyle/>
          <a:p>
            <a:pPr indent="0" marL="0">
              <a:buNone/>
            </a:pPr>
            <a:r>
              <a:rPr lang="en-US" sz="2200" b="1" dirty="0">
                <a:solidFill>
                  <a:srgbClr val="E65100"/>
                </a:solidFill>
                <a:latin typeface="Yu Gothic UI" pitchFamily="34" charset="0"/>
                <a:ea typeface="Yu Gothic UI" pitchFamily="34" charset="-122"/>
                <a:cs typeface="Yu Gothic UI" pitchFamily="34" charset="-120"/>
              </a:rPr>
              <a:t>🟠 お題</a:t>
            </a:r>
            <a:endParaRPr lang="en-US" sz="2200" dirty="0"/>
          </a:p>
        </p:txBody>
      </p:sp>
      <p:sp>
        <p:nvSpPr>
          <p:cNvPr id="10" name="Text 8"/>
          <p:cNvSpPr/>
          <p:nvPr/>
        </p:nvSpPr>
        <p:spPr>
          <a:xfrm>
            <a:off x="594360" y="2103120"/>
            <a:ext cx="10972800" cy="320040"/>
          </a:xfrm>
          <a:prstGeom prst="rect">
            <a:avLst/>
          </a:prstGeom>
          <a:noFill/>
          <a:ln/>
        </p:spPr>
        <p:txBody>
          <a:bodyPr wrap="square" rtlCol="0" anchor="ctr">
            <a:normAutofit/>
          </a:bodyPr>
          <a:lstStyle/>
          <a:p>
            <a:pPr indent="0" marL="0">
              <a:buNone/>
            </a:pPr>
            <a:r>
              <a:rPr lang="en-US" sz="2000" b="1" dirty="0">
                <a:solidFill>
                  <a:srgbClr val="E65100"/>
                </a:solidFill>
                <a:latin typeface="Yu Gothic UI" pitchFamily="34" charset="0"/>
                <a:ea typeface="Yu Gothic UI" pitchFamily="34" charset="-122"/>
                <a:cs typeface="Yu Gothic UI" pitchFamily="34" charset="-120"/>
              </a:rPr>
              <a:t>▼ シチュエーション</a:t>
            </a:r>
            <a:endParaRPr lang="en-US" sz="2000" dirty="0"/>
          </a:p>
        </p:txBody>
      </p:sp>
      <p:sp>
        <p:nvSpPr>
          <p:cNvPr id="11" name="Text 9"/>
          <p:cNvSpPr/>
          <p:nvPr/>
        </p:nvSpPr>
        <p:spPr>
          <a:xfrm>
            <a:off x="640080" y="2423160"/>
            <a:ext cx="10927080" cy="685800"/>
          </a:xfrm>
          <a:prstGeom prst="rect">
            <a:avLst/>
          </a:prstGeom>
          <a:noFill/>
          <a:ln/>
        </p:spPr>
        <p:txBody>
          <a:bodyPr wrap="square" rtlCol="0" anchor="t">
            <a:normAutofit/>
          </a:bodyPr>
          <a:lstStyle/>
          <a:p>
            <a:pPr indent="0" marL="0">
              <a:buNone/>
            </a:pPr>
            <a:r>
              <a:rPr lang="en-US" sz="2000" dirty="0">
                <a:solidFill>
                  <a:srgbClr val="222222"/>
                </a:solidFill>
                <a:latin typeface="Yu Gothic UI" pitchFamily="34" charset="0"/>
                <a:ea typeface="Yu Gothic UI" pitchFamily="34" charset="-122"/>
                <a:cs typeface="Yu Gothic UI" pitchFamily="34" charset="-120"/>
              </a:rPr>
              <a:t>配信は続けているが、何が当たって何が外したか分からない。</a:t>
            </a:r>
            <a:endParaRPr lang="en-US" sz="2000" dirty="0"/>
          </a:p>
        </p:txBody>
      </p:sp>
      <p:sp>
        <p:nvSpPr>
          <p:cNvPr id="12" name="Text 10"/>
          <p:cNvSpPr/>
          <p:nvPr/>
        </p:nvSpPr>
        <p:spPr>
          <a:xfrm>
            <a:off x="594360" y="3108960"/>
            <a:ext cx="10972800" cy="320040"/>
          </a:xfrm>
          <a:prstGeom prst="rect">
            <a:avLst/>
          </a:prstGeom>
          <a:noFill/>
          <a:ln/>
        </p:spPr>
        <p:txBody>
          <a:bodyPr wrap="square" rtlCol="0" anchor="ctr">
            <a:normAutofit/>
          </a:bodyPr>
          <a:lstStyle/>
          <a:p>
            <a:pPr indent="0" marL="0">
              <a:buNone/>
            </a:pPr>
            <a:r>
              <a:rPr lang="en-US" sz="2000" b="1" dirty="0">
                <a:solidFill>
                  <a:srgbClr val="E65100"/>
                </a:solidFill>
                <a:latin typeface="Yu Gothic UI" pitchFamily="34" charset="0"/>
                <a:ea typeface="Yu Gothic UI" pitchFamily="34" charset="-122"/>
                <a:cs typeface="Yu Gothic UI" pitchFamily="34" charset="-120"/>
              </a:rPr>
              <a:t>▼ 作るもの</a:t>
            </a:r>
            <a:endParaRPr lang="en-US" sz="2000" dirty="0"/>
          </a:p>
        </p:txBody>
      </p:sp>
      <p:sp>
        <p:nvSpPr>
          <p:cNvPr id="13" name="Text 11"/>
          <p:cNvSpPr/>
          <p:nvPr/>
        </p:nvSpPr>
        <p:spPr>
          <a:xfrm>
            <a:off x="640080" y="3429000"/>
            <a:ext cx="10927080" cy="685800"/>
          </a:xfrm>
          <a:prstGeom prst="rect">
            <a:avLst/>
          </a:prstGeom>
          <a:noFill/>
          <a:ln/>
        </p:spPr>
        <p:txBody>
          <a:bodyPr wrap="square" rtlCol="0" anchor="t">
            <a:normAutofit/>
          </a:bodyPr>
          <a:lstStyle/>
          <a:p>
            <a:pPr indent="0" marL="0">
              <a:buNone/>
            </a:pPr>
            <a:r>
              <a:rPr lang="en-US" sz="2000" dirty="0">
                <a:solidFill>
                  <a:srgbClr val="222222"/>
                </a:solidFill>
                <a:latin typeface="Yu Gothic UI" pitchFamily="34" charset="0"/>
                <a:ea typeface="Yu Gothic UI" pitchFamily="34" charset="-122"/>
                <a:cs typeface="Yu Gothic UI" pitchFamily="34" charset="-120"/>
              </a:rPr>
              <a:t>配信分析レポート(反応率の高い投稿の共通点+改善案5つ)</a:t>
            </a:r>
            <a:endParaRPr lang="en-US" sz="2000" dirty="0"/>
          </a:p>
        </p:txBody>
      </p:sp>
      <p:sp>
        <p:nvSpPr>
          <p:cNvPr id="14" name="Text 12"/>
          <p:cNvSpPr/>
          <p:nvPr/>
        </p:nvSpPr>
        <p:spPr>
          <a:xfrm>
            <a:off x="594360" y="4114800"/>
            <a:ext cx="10972800" cy="320040"/>
          </a:xfrm>
          <a:prstGeom prst="rect">
            <a:avLst/>
          </a:prstGeom>
          <a:noFill/>
          <a:ln/>
        </p:spPr>
        <p:txBody>
          <a:bodyPr wrap="square" rtlCol="0" anchor="ctr">
            <a:normAutofit/>
          </a:bodyPr>
          <a:lstStyle/>
          <a:p>
            <a:pPr indent="0" marL="0">
              <a:buNone/>
            </a:pPr>
            <a:r>
              <a:rPr lang="en-US" sz="2000" b="1" dirty="0">
                <a:solidFill>
                  <a:srgbClr val="E65100"/>
                </a:solidFill>
                <a:latin typeface="Yu Gothic UI" pitchFamily="34" charset="0"/>
                <a:ea typeface="Yu Gothic UI" pitchFamily="34" charset="-122"/>
                <a:cs typeface="Yu Gothic UI" pitchFamily="34" charset="-120"/>
              </a:rPr>
              <a:t>▼ 制約・こだわり</a:t>
            </a:r>
            <a:endParaRPr lang="en-US" sz="2000" dirty="0"/>
          </a:p>
        </p:txBody>
      </p:sp>
      <p:sp>
        <p:nvSpPr>
          <p:cNvPr id="15" name="Text 13"/>
          <p:cNvSpPr/>
          <p:nvPr/>
        </p:nvSpPr>
        <p:spPr>
          <a:xfrm>
            <a:off x="640080" y="4434840"/>
            <a:ext cx="10927080" cy="685800"/>
          </a:xfrm>
          <a:prstGeom prst="rect">
            <a:avLst/>
          </a:prstGeom>
          <a:noFill/>
          <a:ln/>
        </p:spPr>
        <p:txBody>
          <a:bodyPr wrap="square" rtlCol="0" anchor="t">
            <a:normAutofit/>
          </a:bodyPr>
          <a:lstStyle/>
          <a:p>
            <a:pPr indent="0" marL="0">
              <a:buNone/>
            </a:pPr>
            <a:r>
              <a:rPr lang="en-US" sz="2000" dirty="0">
                <a:solidFill>
                  <a:srgbClr val="222222"/>
                </a:solidFill>
                <a:latin typeface="Yu Gothic UI" pitchFamily="34" charset="0"/>
                <a:ea typeface="Yu Gothic UI" pitchFamily="34" charset="-122"/>
                <a:cs typeface="Yu Gothic UI" pitchFamily="34" charset="-120"/>
              </a:rPr>
              <a:t>スプシに配信ログを整える／Geminiに渡せる形にする／改善案は具体的な次のアクションに落とす</a:t>
            </a:r>
            <a:endParaRPr lang="en-US" sz="2000" dirty="0"/>
          </a:p>
        </p:txBody>
      </p:sp>
      <p:sp>
        <p:nvSpPr>
          <p:cNvPr id="16" name="Shape 14"/>
          <p:cNvSpPr/>
          <p:nvPr/>
        </p:nvSpPr>
        <p:spPr>
          <a:xfrm>
            <a:off x="365760" y="5303520"/>
            <a:ext cx="11430000" cy="1234440"/>
          </a:xfrm>
          <a:prstGeom prst="roundRect">
            <a:avLst>
              <a:gd name="adj" fmla="val 4444"/>
            </a:avLst>
          </a:prstGeom>
          <a:solidFill>
            <a:srgbClr val="F0FAF0"/>
          </a:solidFill>
          <a:ln w="25400">
            <a:solidFill>
              <a:srgbClr val="4CAF50"/>
            </a:solidFill>
            <a:prstDash val="solid"/>
          </a:ln>
        </p:spPr>
        <p:txBody>
          <a:bodyPr wrap="square">
            <a:normAutofit/>
          </a:bodyPr>
          <a:p/>
        </p:txBody>
      </p:sp>
      <p:sp>
        <p:nvSpPr>
          <p:cNvPr id="17" name="Text 15"/>
          <p:cNvSpPr/>
          <p:nvPr/>
        </p:nvSpPr>
        <p:spPr>
          <a:xfrm>
            <a:off x="548640" y="5394960"/>
            <a:ext cx="11064240" cy="411480"/>
          </a:xfrm>
          <a:prstGeom prst="rect">
            <a:avLst/>
          </a:prstGeom>
          <a:noFill/>
          <a:ln/>
        </p:spPr>
        <p:txBody>
          <a:bodyPr wrap="square" rtlCol="0" anchor="ctr">
            <a:normAutofit/>
          </a:bodyPr>
          <a:lstStyle/>
          <a:p>
            <a:pPr indent="0" marL="0">
              <a:buNone/>
            </a:pPr>
            <a:r>
              <a:rPr lang="en-US" sz="2200" b="1" dirty="0">
                <a:solidFill>
                  <a:srgbClr val="2E7D32"/>
                </a:solidFill>
                <a:latin typeface="Yu Gothic UI" pitchFamily="34" charset="0"/>
                <a:ea typeface="Yu Gothic UI" pitchFamily="34" charset="-122"/>
                <a:cs typeface="Yu Gothic UI" pitchFamily="34" charset="-120"/>
              </a:rPr>
              <a:t>▶ やってみよう</a:t>
            </a:r>
            <a:endParaRPr lang="en-US" sz="2200" dirty="0"/>
          </a:p>
        </p:txBody>
      </p:sp>
      <p:sp>
        <p:nvSpPr>
          <p:cNvPr id="18" name="Text 16"/>
          <p:cNvSpPr/>
          <p:nvPr/>
        </p:nvSpPr>
        <p:spPr>
          <a:xfrm>
            <a:off x="731520" y="5852160"/>
            <a:ext cx="10881360" cy="213360"/>
          </a:xfrm>
          <a:prstGeom prst="rect">
            <a:avLst/>
          </a:prstGeom>
          <a:noFill/>
          <a:ln/>
        </p:spPr>
        <p:txBody>
          <a:bodyPr wrap="square" rtlCol="0" anchor="t">
            <a:normAutofit/>
          </a:bodyPr>
          <a:lstStyle/>
          <a:p>
            <a:pPr indent="0" marL="0">
              <a:buNone/>
            </a:pPr>
            <a:r>
              <a:rPr lang="en-US" sz="2000" dirty="0">
                <a:solidFill>
                  <a:srgbClr val="222222"/>
                </a:solidFill>
                <a:latin typeface="Yu Gothic UI" pitchFamily="34" charset="0"/>
                <a:ea typeface="Yu Gothic UI" pitchFamily="34" charset="-122"/>
                <a:cs typeface="Yu Gothic UI" pitchFamily="34" charset="-120"/>
              </a:rPr>
              <a:t>1. 過去30〜90日の配信ログをスプシに整える</a:t>
            </a:r>
            <a:endParaRPr lang="en-US" sz="2000" dirty="0"/>
          </a:p>
        </p:txBody>
      </p:sp>
      <p:sp>
        <p:nvSpPr>
          <p:cNvPr id="19" name="Text 17"/>
          <p:cNvSpPr/>
          <p:nvPr/>
        </p:nvSpPr>
        <p:spPr>
          <a:xfrm>
            <a:off x="731520" y="6065520"/>
            <a:ext cx="10881360" cy="213360"/>
          </a:xfrm>
          <a:prstGeom prst="rect">
            <a:avLst/>
          </a:prstGeom>
          <a:noFill/>
          <a:ln/>
        </p:spPr>
        <p:txBody>
          <a:bodyPr wrap="square" rtlCol="0" anchor="t">
            <a:normAutofit/>
          </a:bodyPr>
          <a:lstStyle/>
          <a:p>
            <a:pPr indent="0" marL="0">
              <a:buNone/>
            </a:pPr>
            <a:r>
              <a:rPr lang="en-US" sz="2000" dirty="0">
                <a:solidFill>
                  <a:srgbClr val="222222"/>
                </a:solidFill>
                <a:latin typeface="Yu Gothic UI" pitchFamily="34" charset="0"/>
                <a:ea typeface="Yu Gothic UI" pitchFamily="34" charset="-122"/>
                <a:cs typeface="Yu Gothic UI" pitchFamily="34" charset="-120"/>
              </a:rPr>
              <a:t>2. Gemini に「この配信ログから反応率の高い投稿の共通点と改善案を5つ」と依頼</a:t>
            </a:r>
            <a:endParaRPr lang="en-US" sz="2000" dirty="0"/>
          </a:p>
        </p:txBody>
      </p:sp>
      <p:sp>
        <p:nvSpPr>
          <p:cNvPr id="20" name="Text 18"/>
          <p:cNvSpPr/>
          <p:nvPr/>
        </p:nvSpPr>
        <p:spPr>
          <a:xfrm>
            <a:off x="731520" y="6278880"/>
            <a:ext cx="10881360" cy="213360"/>
          </a:xfrm>
          <a:prstGeom prst="rect">
            <a:avLst/>
          </a:prstGeom>
          <a:noFill/>
          <a:ln/>
        </p:spPr>
        <p:txBody>
          <a:bodyPr wrap="square" rtlCol="0" anchor="t">
            <a:normAutofit/>
          </a:bodyPr>
          <a:lstStyle/>
          <a:p>
            <a:pPr indent="0" marL="0">
              <a:buNone/>
            </a:pPr>
            <a:r>
              <a:rPr lang="en-US" sz="2000" dirty="0">
                <a:solidFill>
                  <a:srgbClr val="222222"/>
                </a:solidFill>
                <a:latin typeface="Yu Gothic UI" pitchFamily="34" charset="0"/>
                <a:ea typeface="Yu Gothic UI" pitchFamily="34" charset="-122"/>
                <a:cs typeface="Yu Gothic UI" pitchFamily="34" charset="-120"/>
              </a:rPr>
              <a:t>3. 改善案を次回配信に反映する</a:t>
            </a:r>
            <a:endParaRPr lang="en-US" sz="2000" dirty="0"/>
          </a:p>
        </p:txBody>
      </p:sp>
      <p:sp>
        <p:nvSpPr>
          <p:cNvPr id="21" name="Text 19"/>
          <p:cNvSpPr/>
          <p:nvPr/>
        </p:nvSpPr>
        <p:spPr>
          <a:xfrm>
            <a:off x="11338560" y="6565392"/>
            <a:ext cx="640080" cy="274320"/>
          </a:xfrm>
          <a:prstGeom prst="rect">
            <a:avLst/>
          </a:prstGeom>
          <a:noFill/>
          <a:ln/>
        </p:spPr>
        <p:txBody>
          <a:bodyPr wrap="square" rtlCol="0" anchor="ctr">
            <a:normAutofit/>
          </a:bodyPr>
          <a:lstStyle/>
          <a:p>
            <a:pPr algn="r" indent="0" marL="0">
              <a:buNone/>
            </a:pPr>
            <a:r>
              <a:rPr lang="en-US" sz="1400" dirty="0">
                <a:solidFill>
                  <a:srgbClr val="888888"/>
                </a:solidFill>
                <a:latin typeface="Yu Gothic UI" pitchFamily="34" charset="0"/>
                <a:ea typeface="Yu Gothic UI" pitchFamily="34" charset="-122"/>
                <a:cs typeface="Yu Gothic UI" pitchFamily="34" charset="-120"/>
              </a:rPr>
              <a:t>5 / 8</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F39C12"/>
          </a:solidFill>
          <a:ln w="12700">
            <a:solidFill>
              <a:srgbClr val="F39C12"/>
            </a:solidFill>
            <a:prstDash val="solid"/>
          </a:ln>
        </p:spPr>
        <p:txBody>
          <a:bodyPr wrap="square">
            <a:normAutofit/>
          </a:bodyPr>
          <a:p/>
        </p:txBody>
      </p:sp>
      <p:sp>
        <p:nvSpPr>
          <p:cNvPr id="3" name="Shape 1"/>
          <p:cNvSpPr/>
          <p:nvPr/>
        </p:nvSpPr>
        <p:spPr>
          <a:xfrm>
            <a:off x="0" y="777240"/>
            <a:ext cx="12191695" cy="54864"/>
          </a:xfrm>
          <a:prstGeom prst="rect">
            <a:avLst/>
          </a:prstGeom>
          <a:solidFill>
            <a:srgbClr val="E08300"/>
          </a:solidFill>
          <a:ln w="12700">
            <a:solidFill>
              <a:srgbClr val="E08300"/>
            </a:solidFill>
            <a:prstDash val="solid"/>
          </a:ln>
        </p:spPr>
        <p:txBody>
          <a:bodyPr wrap="square">
            <a:normAutofit/>
          </a:bodyPr>
          <a:p/>
        </p:txBody>
      </p:sp>
      <p:sp>
        <p:nvSpPr>
          <p:cNvPr id="4" name="Shape 2"/>
          <p:cNvSpPr/>
          <p:nvPr/>
        </p:nvSpPr>
        <p:spPr>
          <a:xfrm>
            <a:off x="274320" y="137160"/>
            <a:ext cx="1691640" cy="502920"/>
          </a:xfrm>
          <a:prstGeom prst="roundRect">
            <a:avLst>
              <a:gd name="adj" fmla="val 10909"/>
            </a:avLst>
          </a:prstGeom>
          <a:solidFill>
            <a:srgbClr val="FFFFFF"/>
          </a:solidFill>
          <a:ln w="12700">
            <a:solidFill>
              <a:srgbClr val="FFFFFF"/>
            </a:solidFill>
            <a:prstDash val="solid"/>
          </a:ln>
        </p:spPr>
        <p:txBody>
          <a:bodyPr wrap="square">
            <a:normAutofit/>
          </a:bodyPr>
          <a:p/>
        </p:txBody>
      </p:sp>
      <p:sp>
        <p:nvSpPr>
          <p:cNvPr id="5" name="Text 3"/>
          <p:cNvSpPr/>
          <p:nvPr/>
        </p:nvSpPr>
        <p:spPr>
          <a:xfrm>
            <a:off x="274320" y="137160"/>
            <a:ext cx="1691640" cy="502920"/>
          </a:xfrm>
          <a:prstGeom prst="rect">
            <a:avLst/>
          </a:prstGeom>
          <a:noFill/>
          <a:ln/>
        </p:spPr>
        <p:txBody>
          <a:bodyPr wrap="square" rtlCol="0" anchor="ctr">
            <a:normAutofit/>
          </a:bodyPr>
          <a:lstStyle/>
          <a:p>
            <a:pPr algn="ctr" indent="0" marL="0">
              <a:buNone/>
            </a:pPr>
            <a:r>
              <a:rPr lang="en-US" sz="2200" b="1" dirty="0">
                <a:solidFill>
                  <a:srgbClr val="F39C12"/>
                </a:solidFill>
                <a:latin typeface="Yu Gothic UI" pitchFamily="34" charset="0"/>
                <a:ea typeface="Yu Gothic UI" pitchFamily="34" charset="-122"/>
                <a:cs typeface="Yu Gothic UI" pitchFamily="34" charset="-120"/>
              </a:rPr>
              <a:t>演習 5</a:t>
            </a:r>
            <a:endParaRPr lang="en-US" sz="2200" dirty="0"/>
          </a:p>
        </p:txBody>
      </p:sp>
      <p:sp>
        <p:nvSpPr>
          <p:cNvPr id="6" name="Text 4"/>
          <p:cNvSpPr/>
          <p:nvPr/>
        </p:nvSpPr>
        <p:spPr>
          <a:xfrm>
            <a:off x="2194560" y="91440"/>
            <a:ext cx="9784080" cy="640080"/>
          </a:xfrm>
          <a:prstGeom prst="rect">
            <a:avLst/>
          </a:prstGeom>
          <a:noFill/>
          <a:ln/>
        </p:spPr>
        <p:txBody>
          <a:bodyPr wrap="square" rtlCol="0" anchor="ctr">
            <a:normAutofit/>
          </a:bodyPr>
          <a:lstStyle/>
          <a:p>
            <a:pPr indent="0" marL="0">
              <a:buNone/>
            </a:pPr>
            <a:r>
              <a:rPr lang="en-US" sz="2600" b="1" dirty="0">
                <a:solidFill>
                  <a:srgbClr val="FFFFFF"/>
                </a:solidFill>
                <a:latin typeface="Yu Gothic UI" pitchFamily="34" charset="0"/>
                <a:ea typeface="Yu Gothic UI" pitchFamily="34" charset="-122"/>
                <a:cs typeface="Yu Gothic UI" pitchFamily="34" charset="-120"/>
              </a:rPr>
              <a:t>【中級】配信最適化プロンプトを作成</a:t>
            </a:r>
            <a:endParaRPr lang="en-US" sz="2600" dirty="0"/>
          </a:p>
        </p:txBody>
      </p:sp>
      <p:sp>
        <p:nvSpPr>
          <p:cNvPr id="7" name="Text 5"/>
          <p:cNvSpPr/>
          <p:nvPr/>
        </p:nvSpPr>
        <p:spPr>
          <a:xfrm>
            <a:off x="457200" y="960120"/>
            <a:ext cx="11247120" cy="457200"/>
          </a:xfrm>
          <a:prstGeom prst="rect">
            <a:avLst/>
          </a:prstGeom>
          <a:noFill/>
          <a:ln/>
        </p:spPr>
        <p:txBody>
          <a:bodyPr wrap="square" rtlCol="0" anchor="ctr">
            <a:normAutofit/>
          </a:bodyPr>
          <a:lstStyle/>
          <a:p>
            <a:pPr indent="0" marL="0">
              <a:buNone/>
            </a:pPr>
            <a:r>
              <a:rPr lang="en-US" sz="2000" dirty="0">
                <a:solidFill>
                  <a:srgbClr val="222222"/>
                </a:solidFill>
                <a:latin typeface="Yu Gothic UI" pitchFamily="34" charset="0"/>
                <a:ea typeface="Yu Gothic UI" pitchFamily="34" charset="-122"/>
                <a:cs typeface="Yu Gothic UI" pitchFamily="34" charset="-120"/>
              </a:rPr>
              <a:t>今後の配信を「分析結果を踏まえて」自動で最適化するプロンプトを作ります。</a:t>
            </a:r>
            <a:endParaRPr lang="en-US" sz="2000" dirty="0"/>
          </a:p>
        </p:txBody>
      </p:sp>
      <p:sp>
        <p:nvSpPr>
          <p:cNvPr id="8" name="Shape 6"/>
          <p:cNvSpPr/>
          <p:nvPr/>
        </p:nvSpPr>
        <p:spPr>
          <a:xfrm>
            <a:off x="365760" y="1508760"/>
            <a:ext cx="11430000" cy="3657600"/>
          </a:xfrm>
          <a:prstGeom prst="roundRect">
            <a:avLst>
              <a:gd name="adj" fmla="val 1500"/>
            </a:avLst>
          </a:prstGeom>
          <a:solidFill>
            <a:srgbClr val="FFF4E5"/>
          </a:solidFill>
          <a:ln w="19050">
            <a:solidFill>
              <a:srgbClr val="FF9800"/>
            </a:solidFill>
            <a:prstDash val="solid"/>
          </a:ln>
        </p:spPr>
        <p:txBody>
          <a:bodyPr wrap="square">
            <a:normAutofit/>
          </a:bodyPr>
          <a:p/>
        </p:txBody>
      </p:sp>
      <p:sp>
        <p:nvSpPr>
          <p:cNvPr id="9" name="Text 7"/>
          <p:cNvSpPr/>
          <p:nvPr/>
        </p:nvSpPr>
        <p:spPr>
          <a:xfrm>
            <a:off x="548640" y="1600200"/>
            <a:ext cx="11064240" cy="457200"/>
          </a:xfrm>
          <a:prstGeom prst="rect">
            <a:avLst/>
          </a:prstGeom>
          <a:noFill/>
          <a:ln/>
        </p:spPr>
        <p:txBody>
          <a:bodyPr wrap="square" rtlCol="0" anchor="ctr">
            <a:normAutofit/>
          </a:bodyPr>
          <a:lstStyle/>
          <a:p>
            <a:pPr indent="0" marL="0">
              <a:buNone/>
            </a:pPr>
            <a:r>
              <a:rPr lang="en-US" sz="2200" b="1" dirty="0">
                <a:solidFill>
                  <a:srgbClr val="E65100"/>
                </a:solidFill>
                <a:latin typeface="Yu Gothic UI" pitchFamily="34" charset="0"/>
                <a:ea typeface="Yu Gothic UI" pitchFamily="34" charset="-122"/>
                <a:cs typeface="Yu Gothic UI" pitchFamily="34" charset="-120"/>
              </a:rPr>
              <a:t>🟠 お題</a:t>
            </a:r>
            <a:endParaRPr lang="en-US" sz="2200" dirty="0"/>
          </a:p>
        </p:txBody>
      </p:sp>
      <p:sp>
        <p:nvSpPr>
          <p:cNvPr id="10" name="Text 8"/>
          <p:cNvSpPr/>
          <p:nvPr/>
        </p:nvSpPr>
        <p:spPr>
          <a:xfrm>
            <a:off x="594360" y="2103120"/>
            <a:ext cx="10972800" cy="320040"/>
          </a:xfrm>
          <a:prstGeom prst="rect">
            <a:avLst/>
          </a:prstGeom>
          <a:noFill/>
          <a:ln/>
        </p:spPr>
        <p:txBody>
          <a:bodyPr wrap="square" rtlCol="0" anchor="ctr">
            <a:normAutofit/>
          </a:bodyPr>
          <a:lstStyle/>
          <a:p>
            <a:pPr indent="0" marL="0">
              <a:buNone/>
            </a:pPr>
            <a:r>
              <a:rPr lang="en-US" sz="2000" b="1" dirty="0">
                <a:solidFill>
                  <a:srgbClr val="E65100"/>
                </a:solidFill>
                <a:latin typeface="Yu Gothic UI" pitchFamily="34" charset="0"/>
                <a:ea typeface="Yu Gothic UI" pitchFamily="34" charset="-122"/>
                <a:cs typeface="Yu Gothic UI" pitchFamily="34" charset="-120"/>
              </a:rPr>
              <a:t>▼ シチュエーション</a:t>
            </a:r>
            <a:endParaRPr lang="en-US" sz="2000" dirty="0"/>
          </a:p>
        </p:txBody>
      </p:sp>
      <p:sp>
        <p:nvSpPr>
          <p:cNvPr id="11" name="Text 9"/>
          <p:cNvSpPr/>
          <p:nvPr/>
        </p:nvSpPr>
        <p:spPr>
          <a:xfrm>
            <a:off x="640080" y="2423160"/>
            <a:ext cx="10927080" cy="685800"/>
          </a:xfrm>
          <a:prstGeom prst="rect">
            <a:avLst/>
          </a:prstGeom>
          <a:noFill/>
          <a:ln/>
        </p:spPr>
        <p:txBody>
          <a:bodyPr wrap="square" rtlCol="0" anchor="t">
            <a:normAutofit/>
          </a:bodyPr>
          <a:lstStyle/>
          <a:p>
            <a:pPr indent="0" marL="0">
              <a:buNone/>
            </a:pPr>
            <a:r>
              <a:rPr lang="en-US" sz="2000" dirty="0">
                <a:solidFill>
                  <a:srgbClr val="222222"/>
                </a:solidFill>
                <a:latin typeface="Yu Gothic UI" pitchFamily="34" charset="0"/>
                <a:ea typeface="Yu Gothic UI" pitchFamily="34" charset="-122"/>
                <a:cs typeface="Yu Gothic UI" pitchFamily="34" charset="-120"/>
              </a:rPr>
              <a:t>毎回改善するのが面倒。自動で最適化できる仕組みが欲しい。</a:t>
            </a:r>
            <a:endParaRPr lang="en-US" sz="2000" dirty="0"/>
          </a:p>
        </p:txBody>
      </p:sp>
      <p:sp>
        <p:nvSpPr>
          <p:cNvPr id="12" name="Text 10"/>
          <p:cNvSpPr/>
          <p:nvPr/>
        </p:nvSpPr>
        <p:spPr>
          <a:xfrm>
            <a:off x="594360" y="3108960"/>
            <a:ext cx="10972800" cy="320040"/>
          </a:xfrm>
          <a:prstGeom prst="rect">
            <a:avLst/>
          </a:prstGeom>
          <a:noFill/>
          <a:ln/>
        </p:spPr>
        <p:txBody>
          <a:bodyPr wrap="square" rtlCol="0" anchor="ctr">
            <a:normAutofit/>
          </a:bodyPr>
          <a:lstStyle/>
          <a:p>
            <a:pPr indent="0" marL="0">
              <a:buNone/>
            </a:pPr>
            <a:r>
              <a:rPr lang="en-US" sz="2000" b="1" dirty="0">
                <a:solidFill>
                  <a:srgbClr val="E65100"/>
                </a:solidFill>
                <a:latin typeface="Yu Gothic UI" pitchFamily="34" charset="0"/>
                <a:ea typeface="Yu Gothic UI" pitchFamily="34" charset="-122"/>
                <a:cs typeface="Yu Gothic UI" pitchFamily="34" charset="-120"/>
              </a:rPr>
              <a:t>▼ 作るもの</a:t>
            </a:r>
            <a:endParaRPr lang="en-US" sz="2000" dirty="0"/>
          </a:p>
        </p:txBody>
      </p:sp>
      <p:sp>
        <p:nvSpPr>
          <p:cNvPr id="13" name="Text 11"/>
          <p:cNvSpPr/>
          <p:nvPr/>
        </p:nvSpPr>
        <p:spPr>
          <a:xfrm>
            <a:off x="640080" y="3429000"/>
            <a:ext cx="10927080" cy="685800"/>
          </a:xfrm>
          <a:prstGeom prst="rect">
            <a:avLst/>
          </a:prstGeom>
          <a:noFill/>
          <a:ln/>
        </p:spPr>
        <p:txBody>
          <a:bodyPr wrap="square" rtlCol="0" anchor="t">
            <a:normAutofit/>
          </a:bodyPr>
          <a:lstStyle/>
          <a:p>
            <a:pPr indent="0" marL="0">
              <a:buNone/>
            </a:pPr>
            <a:r>
              <a:rPr lang="en-US" sz="2000" dirty="0">
                <a:solidFill>
                  <a:srgbClr val="222222"/>
                </a:solidFill>
                <a:latin typeface="Yu Gothic UI" pitchFamily="34" charset="0"/>
                <a:ea typeface="Yu Gothic UI" pitchFamily="34" charset="-122"/>
                <a:cs typeface="Yu Gothic UI" pitchFamily="34" charset="-120"/>
              </a:rPr>
              <a:t>配信最適化プロンプト(過去ログ+今日のお題→最適配信を返す)</a:t>
            </a:r>
            <a:endParaRPr lang="en-US" sz="2000" dirty="0"/>
          </a:p>
        </p:txBody>
      </p:sp>
      <p:sp>
        <p:nvSpPr>
          <p:cNvPr id="14" name="Text 12"/>
          <p:cNvSpPr/>
          <p:nvPr/>
        </p:nvSpPr>
        <p:spPr>
          <a:xfrm>
            <a:off x="594360" y="4114800"/>
            <a:ext cx="10972800" cy="320040"/>
          </a:xfrm>
          <a:prstGeom prst="rect">
            <a:avLst/>
          </a:prstGeom>
          <a:noFill/>
          <a:ln/>
        </p:spPr>
        <p:txBody>
          <a:bodyPr wrap="square" rtlCol="0" anchor="ctr">
            <a:normAutofit/>
          </a:bodyPr>
          <a:lstStyle/>
          <a:p>
            <a:pPr indent="0" marL="0">
              <a:buNone/>
            </a:pPr>
            <a:r>
              <a:rPr lang="en-US" sz="2000" b="1" dirty="0">
                <a:solidFill>
                  <a:srgbClr val="E65100"/>
                </a:solidFill>
                <a:latin typeface="Yu Gothic UI" pitchFamily="34" charset="0"/>
                <a:ea typeface="Yu Gothic UI" pitchFamily="34" charset="-122"/>
                <a:cs typeface="Yu Gothic UI" pitchFamily="34" charset="-120"/>
              </a:rPr>
              <a:t>▼ 制約・こだわり</a:t>
            </a:r>
            <a:endParaRPr lang="en-US" sz="2000" dirty="0"/>
          </a:p>
        </p:txBody>
      </p:sp>
      <p:sp>
        <p:nvSpPr>
          <p:cNvPr id="15" name="Text 13"/>
          <p:cNvSpPr/>
          <p:nvPr/>
        </p:nvSpPr>
        <p:spPr>
          <a:xfrm>
            <a:off x="640080" y="4434840"/>
            <a:ext cx="10927080" cy="685800"/>
          </a:xfrm>
          <a:prstGeom prst="rect">
            <a:avLst/>
          </a:prstGeom>
          <a:noFill/>
          <a:ln/>
        </p:spPr>
        <p:txBody>
          <a:bodyPr wrap="square" rtlCol="0" anchor="t">
            <a:normAutofit/>
          </a:bodyPr>
          <a:lstStyle/>
          <a:p>
            <a:pPr indent="0" marL="0">
              <a:buNone/>
            </a:pPr>
            <a:r>
              <a:rPr lang="en-US" sz="2000" dirty="0">
                <a:solidFill>
                  <a:srgbClr val="222222"/>
                </a:solidFill>
                <a:latin typeface="Yu Gothic UI" pitchFamily="34" charset="0"/>
                <a:ea typeface="Yu Gothic UI" pitchFamily="34" charset="-122"/>
                <a:cs typeface="Yu Gothic UI" pitchFamily="34" charset="-120"/>
              </a:rPr>
              <a:t>過去ログのサマリを含める／3軸と興味度別シナリオに沿う／LINEに最適化された文字量</a:t>
            </a:r>
            <a:endParaRPr lang="en-US" sz="2000" dirty="0"/>
          </a:p>
        </p:txBody>
      </p:sp>
      <p:sp>
        <p:nvSpPr>
          <p:cNvPr id="16" name="Shape 14"/>
          <p:cNvSpPr/>
          <p:nvPr/>
        </p:nvSpPr>
        <p:spPr>
          <a:xfrm>
            <a:off x="365760" y="5303520"/>
            <a:ext cx="11430000" cy="1234440"/>
          </a:xfrm>
          <a:prstGeom prst="roundRect">
            <a:avLst>
              <a:gd name="adj" fmla="val 4444"/>
            </a:avLst>
          </a:prstGeom>
          <a:solidFill>
            <a:srgbClr val="F0FAF0"/>
          </a:solidFill>
          <a:ln w="25400">
            <a:solidFill>
              <a:srgbClr val="4CAF50"/>
            </a:solidFill>
            <a:prstDash val="solid"/>
          </a:ln>
        </p:spPr>
        <p:txBody>
          <a:bodyPr wrap="square">
            <a:normAutofit/>
          </a:bodyPr>
          <a:p/>
        </p:txBody>
      </p:sp>
      <p:sp>
        <p:nvSpPr>
          <p:cNvPr id="17" name="Text 15"/>
          <p:cNvSpPr/>
          <p:nvPr/>
        </p:nvSpPr>
        <p:spPr>
          <a:xfrm>
            <a:off x="548640" y="5394960"/>
            <a:ext cx="11064240" cy="411480"/>
          </a:xfrm>
          <a:prstGeom prst="rect">
            <a:avLst/>
          </a:prstGeom>
          <a:noFill/>
          <a:ln/>
        </p:spPr>
        <p:txBody>
          <a:bodyPr wrap="square" rtlCol="0" anchor="ctr">
            <a:normAutofit/>
          </a:bodyPr>
          <a:lstStyle/>
          <a:p>
            <a:pPr indent="0" marL="0">
              <a:buNone/>
            </a:pPr>
            <a:r>
              <a:rPr lang="en-US" sz="2200" b="1" dirty="0">
                <a:solidFill>
                  <a:srgbClr val="2E7D32"/>
                </a:solidFill>
                <a:latin typeface="Yu Gothic UI" pitchFamily="34" charset="0"/>
                <a:ea typeface="Yu Gothic UI" pitchFamily="34" charset="-122"/>
                <a:cs typeface="Yu Gothic UI" pitchFamily="34" charset="-120"/>
              </a:rPr>
              <a:t>▶ やってみよう</a:t>
            </a:r>
            <a:endParaRPr lang="en-US" sz="2200" dirty="0"/>
          </a:p>
        </p:txBody>
      </p:sp>
      <p:sp>
        <p:nvSpPr>
          <p:cNvPr id="18" name="Text 16"/>
          <p:cNvSpPr/>
          <p:nvPr/>
        </p:nvSpPr>
        <p:spPr>
          <a:xfrm>
            <a:off x="731520" y="5852160"/>
            <a:ext cx="10881360" cy="213360"/>
          </a:xfrm>
          <a:prstGeom prst="rect">
            <a:avLst/>
          </a:prstGeom>
          <a:noFill/>
          <a:ln/>
        </p:spPr>
        <p:txBody>
          <a:bodyPr wrap="square" rtlCol="0" anchor="t">
            <a:normAutofit/>
          </a:bodyPr>
          <a:lstStyle/>
          <a:p>
            <a:pPr indent="0" marL="0">
              <a:buNone/>
            </a:pPr>
            <a:r>
              <a:rPr lang="en-US" sz="2000" dirty="0">
                <a:solidFill>
                  <a:srgbClr val="222222"/>
                </a:solidFill>
                <a:latin typeface="Yu Gothic UI" pitchFamily="34" charset="0"/>
                <a:ea typeface="Yu Gothic UI" pitchFamily="34" charset="-122"/>
                <a:cs typeface="Yu Gothic UI" pitchFamily="34" charset="-120"/>
              </a:rPr>
              <a:t>1. Gemini に「過去ログのサマリと今日のお題を入れたら最適配信を返すプロンプトを作って」と依頼</a:t>
            </a:r>
            <a:endParaRPr lang="en-US" sz="2000" dirty="0"/>
          </a:p>
        </p:txBody>
      </p:sp>
      <p:sp>
        <p:nvSpPr>
          <p:cNvPr id="19" name="Text 17"/>
          <p:cNvSpPr/>
          <p:nvPr/>
        </p:nvSpPr>
        <p:spPr>
          <a:xfrm>
            <a:off x="731520" y="6065520"/>
            <a:ext cx="10881360" cy="213360"/>
          </a:xfrm>
          <a:prstGeom prst="rect">
            <a:avLst/>
          </a:prstGeom>
          <a:noFill/>
          <a:ln/>
        </p:spPr>
        <p:txBody>
          <a:bodyPr wrap="square" rtlCol="0" anchor="t">
            <a:normAutofit/>
          </a:bodyPr>
          <a:lstStyle/>
          <a:p>
            <a:pPr indent="0" marL="0">
              <a:buNone/>
            </a:pPr>
            <a:r>
              <a:rPr lang="en-US" sz="2000" dirty="0">
                <a:solidFill>
                  <a:srgbClr val="222222"/>
                </a:solidFill>
                <a:latin typeface="Yu Gothic UI" pitchFamily="34" charset="0"/>
                <a:ea typeface="Yu Gothic UI" pitchFamily="34" charset="-122"/>
                <a:cs typeface="Yu Gothic UI" pitchFamily="34" charset="-120"/>
              </a:rPr>
              <a:t>2. プロンプトを保存して再利用可能にする</a:t>
            </a:r>
            <a:endParaRPr lang="en-US" sz="2000" dirty="0"/>
          </a:p>
        </p:txBody>
      </p:sp>
      <p:sp>
        <p:nvSpPr>
          <p:cNvPr id="20" name="Text 18"/>
          <p:cNvSpPr/>
          <p:nvPr/>
        </p:nvSpPr>
        <p:spPr>
          <a:xfrm>
            <a:off x="731520" y="6278880"/>
            <a:ext cx="10881360" cy="213360"/>
          </a:xfrm>
          <a:prstGeom prst="rect">
            <a:avLst/>
          </a:prstGeom>
          <a:noFill/>
          <a:ln/>
        </p:spPr>
        <p:txBody>
          <a:bodyPr wrap="square" rtlCol="0" anchor="t">
            <a:normAutofit/>
          </a:bodyPr>
          <a:lstStyle/>
          <a:p>
            <a:pPr indent="0" marL="0">
              <a:buNone/>
            </a:pPr>
            <a:r>
              <a:rPr lang="en-US" sz="2000" dirty="0">
                <a:solidFill>
                  <a:srgbClr val="222222"/>
                </a:solidFill>
                <a:latin typeface="Yu Gothic UI" pitchFamily="34" charset="0"/>
                <a:ea typeface="Yu Gothic UI" pitchFamily="34" charset="-122"/>
                <a:cs typeface="Yu Gothic UI" pitchFamily="34" charset="-120"/>
              </a:rPr>
              <a:t>3. テストで実行し、出力の質を確認</a:t>
            </a:r>
            <a:endParaRPr lang="en-US" sz="2000" dirty="0"/>
          </a:p>
        </p:txBody>
      </p:sp>
      <p:sp>
        <p:nvSpPr>
          <p:cNvPr id="21" name="Text 19"/>
          <p:cNvSpPr/>
          <p:nvPr/>
        </p:nvSpPr>
        <p:spPr>
          <a:xfrm>
            <a:off x="11338560" y="6565392"/>
            <a:ext cx="640080" cy="274320"/>
          </a:xfrm>
          <a:prstGeom prst="rect">
            <a:avLst/>
          </a:prstGeom>
          <a:noFill/>
          <a:ln/>
        </p:spPr>
        <p:txBody>
          <a:bodyPr wrap="square" rtlCol="0" anchor="ctr">
            <a:normAutofit/>
          </a:bodyPr>
          <a:lstStyle/>
          <a:p>
            <a:pPr algn="r" indent="0" marL="0">
              <a:buNone/>
            </a:pPr>
            <a:r>
              <a:rPr lang="en-US" sz="1400" dirty="0">
                <a:solidFill>
                  <a:srgbClr val="888888"/>
                </a:solidFill>
                <a:latin typeface="Yu Gothic UI" pitchFamily="34" charset="0"/>
                <a:ea typeface="Yu Gothic UI" pitchFamily="34" charset="-122"/>
                <a:cs typeface="Yu Gothic UI" pitchFamily="34" charset="-120"/>
              </a:rPr>
              <a:t>6 / 8</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F39C12"/>
          </a:solidFill>
          <a:ln w="12700">
            <a:solidFill>
              <a:srgbClr val="F39C12"/>
            </a:solidFill>
            <a:prstDash val="solid"/>
          </a:ln>
        </p:spPr>
        <p:txBody>
          <a:bodyPr wrap="square">
            <a:normAutofit/>
          </a:bodyPr>
          <a:p/>
        </p:txBody>
      </p:sp>
      <p:sp>
        <p:nvSpPr>
          <p:cNvPr id="3" name="Shape 1"/>
          <p:cNvSpPr/>
          <p:nvPr/>
        </p:nvSpPr>
        <p:spPr>
          <a:xfrm>
            <a:off x="0" y="777240"/>
            <a:ext cx="12191695" cy="54864"/>
          </a:xfrm>
          <a:prstGeom prst="rect">
            <a:avLst/>
          </a:prstGeom>
          <a:solidFill>
            <a:srgbClr val="E08300"/>
          </a:solidFill>
          <a:ln w="12700">
            <a:solidFill>
              <a:srgbClr val="E08300"/>
            </a:solidFill>
            <a:prstDash val="solid"/>
          </a:ln>
        </p:spPr>
        <p:txBody>
          <a:bodyPr wrap="square">
            <a:normAutofit/>
          </a:bodyPr>
          <a:p/>
        </p:txBody>
      </p:sp>
      <p:sp>
        <p:nvSpPr>
          <p:cNvPr id="4" name="Shape 2"/>
          <p:cNvSpPr/>
          <p:nvPr/>
        </p:nvSpPr>
        <p:spPr>
          <a:xfrm>
            <a:off x="274320" y="137160"/>
            <a:ext cx="1691640" cy="502920"/>
          </a:xfrm>
          <a:prstGeom prst="roundRect">
            <a:avLst>
              <a:gd name="adj" fmla="val 10909"/>
            </a:avLst>
          </a:prstGeom>
          <a:solidFill>
            <a:srgbClr val="FFFFFF"/>
          </a:solidFill>
          <a:ln w="12700">
            <a:solidFill>
              <a:srgbClr val="FFFFFF"/>
            </a:solidFill>
            <a:prstDash val="solid"/>
          </a:ln>
        </p:spPr>
        <p:txBody>
          <a:bodyPr wrap="square">
            <a:normAutofit/>
          </a:bodyPr>
          <a:p/>
        </p:txBody>
      </p:sp>
      <p:sp>
        <p:nvSpPr>
          <p:cNvPr id="5" name="Text 3"/>
          <p:cNvSpPr/>
          <p:nvPr/>
        </p:nvSpPr>
        <p:spPr>
          <a:xfrm>
            <a:off x="274320" y="137160"/>
            <a:ext cx="1691640" cy="502920"/>
          </a:xfrm>
          <a:prstGeom prst="rect">
            <a:avLst/>
          </a:prstGeom>
          <a:noFill/>
          <a:ln/>
        </p:spPr>
        <p:txBody>
          <a:bodyPr wrap="square" rtlCol="0" anchor="ctr">
            <a:normAutofit/>
          </a:bodyPr>
          <a:lstStyle/>
          <a:p>
            <a:pPr algn="ctr" indent="0" marL="0">
              <a:buNone/>
            </a:pPr>
            <a:r>
              <a:rPr lang="en-US" sz="2200" b="1" dirty="0">
                <a:solidFill>
                  <a:srgbClr val="F39C12"/>
                </a:solidFill>
                <a:latin typeface="Yu Gothic UI" pitchFamily="34" charset="0"/>
                <a:ea typeface="Yu Gothic UI" pitchFamily="34" charset="-122"/>
                <a:cs typeface="Yu Gothic UI" pitchFamily="34" charset="-120"/>
              </a:rPr>
              <a:t>演習 6</a:t>
            </a:r>
            <a:endParaRPr lang="en-US" sz="2200" dirty="0"/>
          </a:p>
        </p:txBody>
      </p:sp>
      <p:sp>
        <p:nvSpPr>
          <p:cNvPr id="6" name="Text 4"/>
          <p:cNvSpPr/>
          <p:nvPr/>
        </p:nvSpPr>
        <p:spPr>
          <a:xfrm>
            <a:off x="2194560" y="91440"/>
            <a:ext cx="9784080" cy="640080"/>
          </a:xfrm>
          <a:prstGeom prst="rect">
            <a:avLst/>
          </a:prstGeom>
          <a:noFill/>
          <a:ln/>
        </p:spPr>
        <p:txBody>
          <a:bodyPr wrap="square" rtlCol="0" anchor="ctr">
            <a:normAutofit/>
          </a:bodyPr>
          <a:lstStyle/>
          <a:p>
            <a:pPr indent="0" marL="0">
              <a:buNone/>
            </a:pPr>
            <a:r>
              <a:rPr lang="en-US" sz="2600" b="1" dirty="0">
                <a:solidFill>
                  <a:srgbClr val="FFFFFF"/>
                </a:solidFill>
                <a:latin typeface="Yu Gothic UI" pitchFamily="34" charset="0"/>
                <a:ea typeface="Yu Gothic UI" pitchFamily="34" charset="-122"/>
                <a:cs typeface="Yu Gothic UI" pitchFamily="34" charset="-120"/>
              </a:rPr>
              <a:t>【基礎組】1ヶ月の配信プラン素案を作成</a:t>
            </a:r>
            <a:endParaRPr lang="en-US" sz="2600" dirty="0"/>
          </a:p>
        </p:txBody>
      </p:sp>
      <p:sp>
        <p:nvSpPr>
          <p:cNvPr id="7" name="Text 5"/>
          <p:cNvSpPr/>
          <p:nvPr/>
        </p:nvSpPr>
        <p:spPr>
          <a:xfrm>
            <a:off x="457200" y="960120"/>
            <a:ext cx="11247120" cy="457200"/>
          </a:xfrm>
          <a:prstGeom prst="rect">
            <a:avLst/>
          </a:prstGeom>
          <a:noFill/>
          <a:ln/>
        </p:spPr>
        <p:txBody>
          <a:bodyPr wrap="square" rtlCol="0" anchor="ctr">
            <a:normAutofit/>
          </a:bodyPr>
          <a:lstStyle/>
          <a:p>
            <a:pPr indent="0" marL="0">
              <a:buNone/>
            </a:pPr>
            <a:r>
              <a:rPr lang="en-US" sz="2000" dirty="0">
                <a:solidFill>
                  <a:srgbClr val="222222"/>
                </a:solidFill>
                <a:latin typeface="Yu Gothic UI" pitchFamily="34" charset="0"/>
                <a:ea typeface="Yu Gothic UI" pitchFamily="34" charset="-122"/>
                <a:cs typeface="Yu Gothic UI" pitchFamily="34" charset="-120"/>
              </a:rPr>
              <a:t>コードを使わず、Gemini チャットで配信プランをまとめます。</a:t>
            </a:r>
            <a:endParaRPr lang="en-US" sz="2000" dirty="0"/>
          </a:p>
        </p:txBody>
      </p:sp>
      <p:sp>
        <p:nvSpPr>
          <p:cNvPr id="8" name="Shape 6"/>
          <p:cNvSpPr/>
          <p:nvPr/>
        </p:nvSpPr>
        <p:spPr>
          <a:xfrm>
            <a:off x="365760" y="1508760"/>
            <a:ext cx="11430000" cy="3657600"/>
          </a:xfrm>
          <a:prstGeom prst="roundRect">
            <a:avLst>
              <a:gd name="adj" fmla="val 1500"/>
            </a:avLst>
          </a:prstGeom>
          <a:solidFill>
            <a:srgbClr val="FFF4E5"/>
          </a:solidFill>
          <a:ln w="19050">
            <a:solidFill>
              <a:srgbClr val="FF9800"/>
            </a:solidFill>
            <a:prstDash val="solid"/>
          </a:ln>
        </p:spPr>
        <p:txBody>
          <a:bodyPr wrap="square">
            <a:normAutofit/>
          </a:bodyPr>
          <a:p/>
        </p:txBody>
      </p:sp>
      <p:sp>
        <p:nvSpPr>
          <p:cNvPr id="9" name="Text 7"/>
          <p:cNvSpPr/>
          <p:nvPr/>
        </p:nvSpPr>
        <p:spPr>
          <a:xfrm>
            <a:off x="548640" y="1600200"/>
            <a:ext cx="11064240" cy="457200"/>
          </a:xfrm>
          <a:prstGeom prst="rect">
            <a:avLst/>
          </a:prstGeom>
          <a:noFill/>
          <a:ln/>
        </p:spPr>
        <p:txBody>
          <a:bodyPr wrap="square" rtlCol="0" anchor="ctr">
            <a:normAutofit/>
          </a:bodyPr>
          <a:lstStyle/>
          <a:p>
            <a:pPr indent="0" marL="0">
              <a:buNone/>
            </a:pPr>
            <a:r>
              <a:rPr lang="en-US" sz="2200" b="1" dirty="0">
                <a:solidFill>
                  <a:srgbClr val="E65100"/>
                </a:solidFill>
                <a:latin typeface="Yu Gothic UI" pitchFamily="34" charset="0"/>
                <a:ea typeface="Yu Gothic UI" pitchFamily="34" charset="-122"/>
                <a:cs typeface="Yu Gothic UI" pitchFamily="34" charset="-120"/>
              </a:rPr>
              <a:t>🟠 お題</a:t>
            </a:r>
            <a:endParaRPr lang="en-US" sz="2200" dirty="0"/>
          </a:p>
        </p:txBody>
      </p:sp>
      <p:sp>
        <p:nvSpPr>
          <p:cNvPr id="10" name="Text 8"/>
          <p:cNvSpPr/>
          <p:nvPr/>
        </p:nvSpPr>
        <p:spPr>
          <a:xfrm>
            <a:off x="594360" y="2103120"/>
            <a:ext cx="10972800" cy="320040"/>
          </a:xfrm>
          <a:prstGeom prst="rect">
            <a:avLst/>
          </a:prstGeom>
          <a:noFill/>
          <a:ln/>
        </p:spPr>
        <p:txBody>
          <a:bodyPr wrap="square" rtlCol="0" anchor="ctr">
            <a:normAutofit/>
          </a:bodyPr>
          <a:lstStyle/>
          <a:p>
            <a:pPr indent="0" marL="0">
              <a:buNone/>
            </a:pPr>
            <a:r>
              <a:rPr lang="en-US" sz="2000" b="1" dirty="0">
                <a:solidFill>
                  <a:srgbClr val="E65100"/>
                </a:solidFill>
                <a:latin typeface="Yu Gothic UI" pitchFamily="34" charset="0"/>
                <a:ea typeface="Yu Gothic UI" pitchFamily="34" charset="-122"/>
                <a:cs typeface="Yu Gothic UI" pitchFamily="34" charset="-120"/>
              </a:rPr>
              <a:t>▼ シチュエーション</a:t>
            </a:r>
            <a:endParaRPr lang="en-US" sz="2000" dirty="0"/>
          </a:p>
        </p:txBody>
      </p:sp>
      <p:sp>
        <p:nvSpPr>
          <p:cNvPr id="11" name="Text 9"/>
          <p:cNvSpPr/>
          <p:nvPr/>
        </p:nvSpPr>
        <p:spPr>
          <a:xfrm>
            <a:off x="640080" y="2423160"/>
            <a:ext cx="10927080" cy="685800"/>
          </a:xfrm>
          <a:prstGeom prst="rect">
            <a:avLst/>
          </a:prstGeom>
          <a:noFill/>
          <a:ln/>
        </p:spPr>
        <p:txBody>
          <a:bodyPr wrap="square" rtlCol="0" anchor="t">
            <a:normAutofit/>
          </a:bodyPr>
          <a:lstStyle/>
          <a:p>
            <a:pPr indent="0" marL="0">
              <a:buNone/>
            </a:pPr>
            <a:r>
              <a:rPr lang="en-US" sz="2000" dirty="0">
                <a:solidFill>
                  <a:srgbClr val="222222"/>
                </a:solidFill>
                <a:latin typeface="Yu Gothic UI" pitchFamily="34" charset="0"/>
                <a:ea typeface="Yu Gothic UI" pitchFamily="34" charset="-122"/>
                <a:cs typeface="Yu Gothic UI" pitchFamily="34" charset="-120"/>
              </a:rPr>
              <a:t>配信スケジュールが決まっておらず、その場しのぎになっている。</a:t>
            </a:r>
            <a:endParaRPr lang="en-US" sz="2000" dirty="0"/>
          </a:p>
        </p:txBody>
      </p:sp>
      <p:sp>
        <p:nvSpPr>
          <p:cNvPr id="12" name="Text 10"/>
          <p:cNvSpPr/>
          <p:nvPr/>
        </p:nvSpPr>
        <p:spPr>
          <a:xfrm>
            <a:off x="594360" y="3108960"/>
            <a:ext cx="10972800" cy="320040"/>
          </a:xfrm>
          <a:prstGeom prst="rect">
            <a:avLst/>
          </a:prstGeom>
          <a:noFill/>
          <a:ln/>
        </p:spPr>
        <p:txBody>
          <a:bodyPr wrap="square" rtlCol="0" anchor="ctr">
            <a:normAutofit/>
          </a:bodyPr>
          <a:lstStyle/>
          <a:p>
            <a:pPr indent="0" marL="0">
              <a:buNone/>
            </a:pPr>
            <a:r>
              <a:rPr lang="en-US" sz="2000" b="1" dirty="0">
                <a:solidFill>
                  <a:srgbClr val="E65100"/>
                </a:solidFill>
                <a:latin typeface="Yu Gothic UI" pitchFamily="34" charset="0"/>
                <a:ea typeface="Yu Gothic UI" pitchFamily="34" charset="-122"/>
                <a:cs typeface="Yu Gothic UI" pitchFamily="34" charset="-120"/>
              </a:rPr>
              <a:t>▼ 作るもの</a:t>
            </a:r>
            <a:endParaRPr lang="en-US" sz="2000" dirty="0"/>
          </a:p>
        </p:txBody>
      </p:sp>
      <p:sp>
        <p:nvSpPr>
          <p:cNvPr id="13" name="Text 11"/>
          <p:cNvSpPr/>
          <p:nvPr/>
        </p:nvSpPr>
        <p:spPr>
          <a:xfrm>
            <a:off x="640080" y="3429000"/>
            <a:ext cx="10927080" cy="685800"/>
          </a:xfrm>
          <a:prstGeom prst="rect">
            <a:avLst/>
          </a:prstGeom>
          <a:noFill/>
          <a:ln/>
        </p:spPr>
        <p:txBody>
          <a:bodyPr wrap="square" rtlCol="0" anchor="t">
            <a:normAutofit/>
          </a:bodyPr>
          <a:lstStyle/>
          <a:p>
            <a:pPr indent="0" marL="0">
              <a:buNone/>
            </a:pPr>
            <a:r>
              <a:rPr lang="en-US" sz="2000" dirty="0">
                <a:solidFill>
                  <a:srgbClr val="222222"/>
                </a:solidFill>
                <a:latin typeface="Yu Gothic UI" pitchFamily="34" charset="0"/>
                <a:ea typeface="Yu Gothic UI" pitchFamily="34" charset="-122"/>
                <a:cs typeface="Yu Gothic UI" pitchFamily="34" charset="-120"/>
              </a:rPr>
              <a:t>1ヶ月分の配信プラン(日付/テーマ/カテゴリ)をスプシに作成</a:t>
            </a:r>
            <a:endParaRPr lang="en-US" sz="2000" dirty="0"/>
          </a:p>
        </p:txBody>
      </p:sp>
      <p:sp>
        <p:nvSpPr>
          <p:cNvPr id="14" name="Text 12"/>
          <p:cNvSpPr/>
          <p:nvPr/>
        </p:nvSpPr>
        <p:spPr>
          <a:xfrm>
            <a:off x="594360" y="4114800"/>
            <a:ext cx="10972800" cy="320040"/>
          </a:xfrm>
          <a:prstGeom prst="rect">
            <a:avLst/>
          </a:prstGeom>
          <a:noFill/>
          <a:ln/>
        </p:spPr>
        <p:txBody>
          <a:bodyPr wrap="square" rtlCol="0" anchor="ctr">
            <a:normAutofit/>
          </a:bodyPr>
          <a:lstStyle/>
          <a:p>
            <a:pPr indent="0" marL="0">
              <a:buNone/>
            </a:pPr>
            <a:r>
              <a:rPr lang="en-US" sz="2000" b="1" dirty="0">
                <a:solidFill>
                  <a:srgbClr val="E65100"/>
                </a:solidFill>
                <a:latin typeface="Yu Gothic UI" pitchFamily="34" charset="0"/>
                <a:ea typeface="Yu Gothic UI" pitchFamily="34" charset="-122"/>
                <a:cs typeface="Yu Gothic UI" pitchFamily="34" charset="-120"/>
              </a:rPr>
              <a:t>▼ 制約・こだわり</a:t>
            </a:r>
            <a:endParaRPr lang="en-US" sz="2000" dirty="0"/>
          </a:p>
        </p:txBody>
      </p:sp>
      <p:sp>
        <p:nvSpPr>
          <p:cNvPr id="15" name="Text 13"/>
          <p:cNvSpPr/>
          <p:nvPr/>
        </p:nvSpPr>
        <p:spPr>
          <a:xfrm>
            <a:off x="640080" y="4434840"/>
            <a:ext cx="10927080" cy="685800"/>
          </a:xfrm>
          <a:prstGeom prst="rect">
            <a:avLst/>
          </a:prstGeom>
          <a:noFill/>
          <a:ln/>
        </p:spPr>
        <p:txBody>
          <a:bodyPr wrap="square" rtlCol="0" anchor="t">
            <a:normAutofit/>
          </a:bodyPr>
          <a:lstStyle/>
          <a:p>
            <a:pPr indent="0" marL="0">
              <a:buNone/>
            </a:pPr>
            <a:r>
              <a:rPr lang="en-US" sz="2000" dirty="0">
                <a:solidFill>
                  <a:srgbClr val="222222"/>
                </a:solidFill>
                <a:latin typeface="Yu Gothic UI" pitchFamily="34" charset="0"/>
                <a:ea typeface="Yu Gothic UI" pitchFamily="34" charset="-122"/>
                <a:cs typeface="Yu Gothic UI" pitchFamily="34" charset="-120"/>
              </a:rPr>
              <a:t>GAS不要／3軸と興味度別シナリオを反映／週ごとに目的を変える</a:t>
            </a:r>
            <a:endParaRPr lang="en-US" sz="2000" dirty="0"/>
          </a:p>
        </p:txBody>
      </p:sp>
      <p:sp>
        <p:nvSpPr>
          <p:cNvPr id="16" name="Shape 14"/>
          <p:cNvSpPr/>
          <p:nvPr/>
        </p:nvSpPr>
        <p:spPr>
          <a:xfrm>
            <a:off x="365760" y="5303520"/>
            <a:ext cx="11430000" cy="1234440"/>
          </a:xfrm>
          <a:prstGeom prst="roundRect">
            <a:avLst>
              <a:gd name="adj" fmla="val 4444"/>
            </a:avLst>
          </a:prstGeom>
          <a:solidFill>
            <a:srgbClr val="F0FAF0"/>
          </a:solidFill>
          <a:ln w="25400">
            <a:solidFill>
              <a:srgbClr val="4CAF50"/>
            </a:solidFill>
            <a:prstDash val="solid"/>
          </a:ln>
        </p:spPr>
        <p:txBody>
          <a:bodyPr wrap="square">
            <a:normAutofit/>
          </a:bodyPr>
          <a:p/>
        </p:txBody>
      </p:sp>
      <p:sp>
        <p:nvSpPr>
          <p:cNvPr id="17" name="Text 15"/>
          <p:cNvSpPr/>
          <p:nvPr/>
        </p:nvSpPr>
        <p:spPr>
          <a:xfrm>
            <a:off x="548640" y="5394960"/>
            <a:ext cx="11064240" cy="411480"/>
          </a:xfrm>
          <a:prstGeom prst="rect">
            <a:avLst/>
          </a:prstGeom>
          <a:noFill/>
          <a:ln/>
        </p:spPr>
        <p:txBody>
          <a:bodyPr wrap="square" rtlCol="0" anchor="ctr">
            <a:normAutofit/>
          </a:bodyPr>
          <a:lstStyle/>
          <a:p>
            <a:pPr indent="0" marL="0">
              <a:buNone/>
            </a:pPr>
            <a:r>
              <a:rPr lang="en-US" sz="2200" b="1" dirty="0">
                <a:solidFill>
                  <a:srgbClr val="2E7D32"/>
                </a:solidFill>
                <a:latin typeface="Yu Gothic UI" pitchFamily="34" charset="0"/>
                <a:ea typeface="Yu Gothic UI" pitchFamily="34" charset="-122"/>
                <a:cs typeface="Yu Gothic UI" pitchFamily="34" charset="-120"/>
              </a:rPr>
              <a:t>▶ やってみよう</a:t>
            </a:r>
            <a:endParaRPr lang="en-US" sz="2200" dirty="0"/>
          </a:p>
        </p:txBody>
      </p:sp>
      <p:sp>
        <p:nvSpPr>
          <p:cNvPr id="18" name="Text 16"/>
          <p:cNvSpPr/>
          <p:nvPr/>
        </p:nvSpPr>
        <p:spPr>
          <a:xfrm>
            <a:off x="731520" y="5852160"/>
            <a:ext cx="10881360" cy="213360"/>
          </a:xfrm>
          <a:prstGeom prst="rect">
            <a:avLst/>
          </a:prstGeom>
          <a:noFill/>
          <a:ln/>
        </p:spPr>
        <p:txBody>
          <a:bodyPr wrap="square" rtlCol="0" anchor="t">
            <a:normAutofit/>
          </a:bodyPr>
          <a:lstStyle/>
          <a:p>
            <a:pPr indent="0" marL="0">
              <a:buNone/>
            </a:pPr>
            <a:r>
              <a:rPr lang="en-US" sz="2000" dirty="0">
                <a:solidFill>
                  <a:srgbClr val="222222"/>
                </a:solidFill>
                <a:latin typeface="Yu Gothic UI" pitchFamily="34" charset="0"/>
                <a:ea typeface="Yu Gothic UI" pitchFamily="34" charset="-122"/>
                <a:cs typeface="Yu Gothic UI" pitchFamily="34" charset="-120"/>
              </a:rPr>
              <a:t>1. Gemini に「1ヶ月分の配信プランを、3軸と興味度別シナリオで作って」と依頼</a:t>
            </a:r>
            <a:endParaRPr lang="en-US" sz="2000" dirty="0"/>
          </a:p>
        </p:txBody>
      </p:sp>
      <p:sp>
        <p:nvSpPr>
          <p:cNvPr id="19" name="Text 17"/>
          <p:cNvSpPr/>
          <p:nvPr/>
        </p:nvSpPr>
        <p:spPr>
          <a:xfrm>
            <a:off x="731520" y="6065520"/>
            <a:ext cx="10881360" cy="213360"/>
          </a:xfrm>
          <a:prstGeom prst="rect">
            <a:avLst/>
          </a:prstGeom>
          <a:noFill/>
          <a:ln/>
        </p:spPr>
        <p:txBody>
          <a:bodyPr wrap="square" rtlCol="0" anchor="t">
            <a:normAutofit/>
          </a:bodyPr>
          <a:lstStyle/>
          <a:p>
            <a:pPr indent="0" marL="0">
              <a:buNone/>
            </a:pPr>
            <a:r>
              <a:rPr lang="en-US" sz="2000" dirty="0">
                <a:solidFill>
                  <a:srgbClr val="222222"/>
                </a:solidFill>
                <a:latin typeface="Yu Gothic UI" pitchFamily="34" charset="0"/>
                <a:ea typeface="Yu Gothic UI" pitchFamily="34" charset="-122"/>
                <a:cs typeface="Yu Gothic UI" pitchFamily="34" charset="-120"/>
              </a:rPr>
              <a:t>2. 出力をスプシに貼り、配信予定表とする</a:t>
            </a:r>
            <a:endParaRPr lang="en-US" sz="2000" dirty="0"/>
          </a:p>
        </p:txBody>
      </p:sp>
      <p:sp>
        <p:nvSpPr>
          <p:cNvPr id="20" name="Text 18"/>
          <p:cNvSpPr/>
          <p:nvPr/>
        </p:nvSpPr>
        <p:spPr>
          <a:xfrm>
            <a:off x="731520" y="6278880"/>
            <a:ext cx="10881360" cy="213360"/>
          </a:xfrm>
          <a:prstGeom prst="rect">
            <a:avLst/>
          </a:prstGeom>
          <a:noFill/>
          <a:ln/>
        </p:spPr>
        <p:txBody>
          <a:bodyPr wrap="square" rtlCol="0" anchor="t">
            <a:normAutofit/>
          </a:bodyPr>
          <a:lstStyle/>
          <a:p>
            <a:pPr indent="0" marL="0">
              <a:buNone/>
            </a:pPr>
            <a:r>
              <a:rPr lang="en-US" sz="2000" dirty="0">
                <a:solidFill>
                  <a:srgbClr val="222222"/>
                </a:solidFill>
                <a:latin typeface="Yu Gothic UI" pitchFamily="34" charset="0"/>
                <a:ea typeface="Yu Gothic UI" pitchFamily="34" charset="-122"/>
                <a:cs typeface="Yu Gothic UI" pitchFamily="34" charset="-120"/>
              </a:rPr>
              <a:t>3. 上位5本だけ実際に書き上げてみる</a:t>
            </a:r>
            <a:endParaRPr lang="en-US" sz="2000" dirty="0"/>
          </a:p>
        </p:txBody>
      </p:sp>
      <p:sp>
        <p:nvSpPr>
          <p:cNvPr id="21" name="Text 19"/>
          <p:cNvSpPr/>
          <p:nvPr/>
        </p:nvSpPr>
        <p:spPr>
          <a:xfrm>
            <a:off x="11338560" y="6565392"/>
            <a:ext cx="640080" cy="274320"/>
          </a:xfrm>
          <a:prstGeom prst="rect">
            <a:avLst/>
          </a:prstGeom>
          <a:noFill/>
          <a:ln/>
        </p:spPr>
        <p:txBody>
          <a:bodyPr wrap="square" rtlCol="0" anchor="ctr">
            <a:normAutofit/>
          </a:bodyPr>
          <a:lstStyle/>
          <a:p>
            <a:pPr algn="r" indent="0" marL="0">
              <a:buNone/>
            </a:pPr>
            <a:r>
              <a:rPr lang="en-US" sz="1400" dirty="0">
                <a:solidFill>
                  <a:srgbClr val="888888"/>
                </a:solidFill>
                <a:latin typeface="Yu Gothic UI" pitchFamily="34" charset="0"/>
                <a:ea typeface="Yu Gothic UI" pitchFamily="34" charset="-122"/>
                <a:cs typeface="Yu Gothic UI" pitchFamily="34" charset="-120"/>
              </a:rPr>
              <a:t>7 / 8</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1F3A5F"/>
          </a:solidFill>
          <a:ln w="12700">
            <a:solidFill>
              <a:srgbClr val="1F3A5F"/>
            </a:solidFill>
            <a:prstDash val="solid"/>
          </a:ln>
        </p:spPr>
        <p:txBody>
          <a:bodyPr wrap="square">
            <a:normAutofit/>
          </a:bodyPr>
          <a:p/>
        </p:txBody>
      </p:sp>
      <p:sp>
        <p:nvSpPr>
          <p:cNvPr id="3" name="Shape 1"/>
          <p:cNvSpPr/>
          <p:nvPr/>
        </p:nvSpPr>
        <p:spPr>
          <a:xfrm>
            <a:off x="0" y="777240"/>
            <a:ext cx="12191695" cy="73152"/>
          </a:xfrm>
          <a:prstGeom prst="rect">
            <a:avLst/>
          </a:prstGeom>
          <a:solidFill>
            <a:srgbClr val="F39C12"/>
          </a:solidFill>
          <a:ln w="12700">
            <a:solidFill>
              <a:srgbClr val="F39C12"/>
            </a:solidFill>
            <a:prstDash val="solid"/>
          </a:ln>
        </p:spPr>
        <p:txBody>
          <a:bodyPr wrap="square">
            <a:normAutofit/>
          </a:bodyPr>
          <a:p/>
        </p:txBody>
      </p:sp>
      <p:sp>
        <p:nvSpPr>
          <p:cNvPr id="4" name="Text 2"/>
          <p:cNvSpPr/>
          <p:nvPr/>
        </p:nvSpPr>
        <p:spPr>
          <a:xfrm>
            <a:off x="365760" y="91440"/>
            <a:ext cx="11430000" cy="640080"/>
          </a:xfrm>
          <a:prstGeom prst="rect">
            <a:avLst/>
          </a:prstGeom>
          <a:noFill/>
          <a:ln/>
        </p:spPr>
        <p:txBody>
          <a:bodyPr wrap="square" rtlCol="0" anchor="ctr">
            <a:normAutofit/>
          </a:bodyPr>
          <a:lstStyle/>
          <a:p>
            <a:pPr indent="0" marL="0">
              <a:buNone/>
            </a:pPr>
            <a:r>
              <a:rPr lang="en-US" sz="2600" b="1" dirty="0">
                <a:solidFill>
                  <a:srgbClr val="FFFFFF"/>
                </a:solidFill>
                <a:latin typeface="Yu Gothic UI" pitchFamily="34" charset="0"/>
                <a:ea typeface="Yu Gothic UI" pitchFamily="34" charset="-122"/>
                <a:cs typeface="Yu Gothic UI" pitchFamily="34" charset="-120"/>
              </a:rPr>
              <a:t>お疲れさまでした</a:t>
            </a:r>
            <a:endParaRPr lang="en-US" sz="2600" dirty="0"/>
          </a:p>
        </p:txBody>
      </p:sp>
      <p:sp>
        <p:nvSpPr>
          <p:cNvPr id="5" name="Text 3"/>
          <p:cNvSpPr/>
          <p:nvPr/>
        </p:nvSpPr>
        <p:spPr>
          <a:xfrm>
            <a:off x="457200" y="1097280"/>
            <a:ext cx="11247120" cy="548640"/>
          </a:xfrm>
          <a:prstGeom prst="rect">
            <a:avLst/>
          </a:prstGeom>
          <a:noFill/>
          <a:ln/>
        </p:spPr>
        <p:txBody>
          <a:bodyPr wrap="square" rtlCol="0" anchor="ctr">
            <a:normAutofit/>
          </a:bodyPr>
          <a:lstStyle/>
          <a:p>
            <a:pPr algn="ctr" indent="0" marL="0">
              <a:buNone/>
            </a:pPr>
            <a:r>
              <a:rPr lang="en-US" sz="2000" dirty="0">
                <a:solidFill>
                  <a:srgbClr val="222222"/>
                </a:solidFill>
                <a:latin typeface="Yu Gothic UI" pitchFamily="34" charset="0"/>
                <a:ea typeface="Yu Gothic UI" pitchFamily="34" charset="-122"/>
                <a:cs typeface="Yu Gothic UI" pitchFamily="34" charset="-120"/>
              </a:rPr>
              <a:t>シナリオ設計編まで完走。「興味度別の動線」と「AIで量産する型」が手に入りました。</a:t>
            </a:r>
            <a:endParaRPr lang="en-US" sz="2000" dirty="0"/>
          </a:p>
        </p:txBody>
      </p:sp>
      <p:sp>
        <p:nvSpPr>
          <p:cNvPr id="6" name="Text 4"/>
          <p:cNvSpPr/>
          <p:nvPr/>
        </p:nvSpPr>
        <p:spPr>
          <a:xfrm>
            <a:off x="457200" y="1783080"/>
            <a:ext cx="11247120" cy="502920"/>
          </a:xfrm>
          <a:prstGeom prst="rect">
            <a:avLst/>
          </a:prstGeom>
          <a:noFill/>
          <a:ln/>
        </p:spPr>
        <p:txBody>
          <a:bodyPr wrap="square" rtlCol="0" anchor="ctr">
            <a:normAutofit/>
          </a:bodyPr>
          <a:lstStyle/>
          <a:p>
            <a:pPr algn="ctr" indent="0" marL="0">
              <a:buNone/>
            </a:pPr>
            <a:r>
              <a:rPr lang="en-US" sz="2400" b="1" dirty="0">
                <a:solidFill>
                  <a:srgbClr val="1F3A5F"/>
                </a:solidFill>
                <a:latin typeface="Yu Gothic UI" pitchFamily="34" charset="0"/>
                <a:ea typeface="Yu Gothic UI" pitchFamily="34" charset="-122"/>
                <a:cs typeface="Yu Gothic UI" pitchFamily="34" charset="-120"/>
              </a:rPr>
              <a:t>今日の持ち帰り 3 点</a:t>
            </a:r>
            <a:endParaRPr lang="en-US" sz="2400" dirty="0"/>
          </a:p>
        </p:txBody>
      </p:sp>
      <p:sp>
        <p:nvSpPr>
          <p:cNvPr id="7" name="Shape 5"/>
          <p:cNvSpPr/>
          <p:nvPr/>
        </p:nvSpPr>
        <p:spPr>
          <a:xfrm>
            <a:off x="457200" y="2514600"/>
            <a:ext cx="11247120" cy="1143000"/>
          </a:xfrm>
          <a:prstGeom prst="roundRect">
            <a:avLst>
              <a:gd name="adj" fmla="val 6400"/>
            </a:avLst>
          </a:prstGeom>
          <a:solidFill>
            <a:srgbClr val="F4F8FC"/>
          </a:solidFill>
          <a:ln w="19050">
            <a:solidFill>
              <a:srgbClr val="F39C12"/>
            </a:solidFill>
            <a:prstDash val="solid"/>
          </a:ln>
        </p:spPr>
        <p:txBody>
          <a:bodyPr wrap="square">
            <a:normAutofit/>
          </a:bodyPr>
          <a:p/>
        </p:txBody>
      </p:sp>
      <p:sp>
        <p:nvSpPr>
          <p:cNvPr id="8" name="Shape 6"/>
          <p:cNvSpPr/>
          <p:nvPr/>
        </p:nvSpPr>
        <p:spPr>
          <a:xfrm>
            <a:off x="640080" y="2743200"/>
            <a:ext cx="731520" cy="731520"/>
          </a:xfrm>
          <a:prstGeom prst="ellipse">
            <a:avLst/>
          </a:prstGeom>
          <a:solidFill>
            <a:srgbClr val="F39C12"/>
          </a:solidFill>
          <a:ln w="12700">
            <a:solidFill>
              <a:srgbClr val="F39C12"/>
            </a:solidFill>
            <a:prstDash val="solid"/>
          </a:ln>
        </p:spPr>
        <p:txBody>
          <a:bodyPr wrap="square">
            <a:normAutofit/>
          </a:bodyPr>
          <a:p/>
        </p:txBody>
      </p:sp>
      <p:sp>
        <p:nvSpPr>
          <p:cNvPr id="9" name="Text 7"/>
          <p:cNvSpPr/>
          <p:nvPr/>
        </p:nvSpPr>
        <p:spPr>
          <a:xfrm>
            <a:off x="640080" y="2743200"/>
            <a:ext cx="731520" cy="731520"/>
          </a:xfrm>
          <a:prstGeom prst="rect">
            <a:avLst/>
          </a:prstGeom>
          <a:noFill/>
          <a:ln/>
        </p:spPr>
        <p:txBody>
          <a:bodyPr wrap="square" rtlCol="0" anchor="ctr">
            <a:normAutofit/>
          </a:bodyPr>
          <a:lstStyle/>
          <a:p>
            <a:pPr algn="ctr" indent="0" marL="0">
              <a:buNone/>
            </a:pPr>
            <a:r>
              <a:rPr lang="en-US" sz="3000" b="1" dirty="0">
                <a:solidFill>
                  <a:srgbClr val="FFFFFF"/>
                </a:solidFill>
                <a:latin typeface="Yu Gothic UI" pitchFamily="34" charset="0"/>
                <a:ea typeface="Yu Gothic UI" pitchFamily="34" charset="-122"/>
                <a:cs typeface="Yu Gothic UI" pitchFamily="34" charset="-120"/>
              </a:rPr>
              <a:t>1</a:t>
            </a:r>
            <a:endParaRPr lang="en-US" sz="3000" dirty="0"/>
          </a:p>
        </p:txBody>
      </p:sp>
      <p:sp>
        <p:nvSpPr>
          <p:cNvPr id="10" name="Text 8"/>
          <p:cNvSpPr/>
          <p:nvPr/>
        </p:nvSpPr>
        <p:spPr>
          <a:xfrm>
            <a:off x="1554480" y="2651760"/>
            <a:ext cx="9692640" cy="457200"/>
          </a:xfrm>
          <a:prstGeom prst="rect">
            <a:avLst/>
          </a:prstGeom>
          <a:noFill/>
          <a:ln/>
        </p:spPr>
        <p:txBody>
          <a:bodyPr wrap="square" rtlCol="0" anchor="ctr">
            <a:normAutofit/>
          </a:bodyPr>
          <a:lstStyle/>
          <a:p>
            <a:pPr indent="0" marL="0">
              <a:buNone/>
            </a:pPr>
            <a:r>
              <a:rPr lang="en-US" sz="2200" b="1" dirty="0">
                <a:solidFill>
                  <a:srgbClr val="1F3A5F"/>
                </a:solidFill>
                <a:latin typeface="Yu Gothic UI" pitchFamily="34" charset="0"/>
                <a:ea typeface="Yu Gothic UI" pitchFamily="34" charset="-122"/>
                <a:cs typeface="Yu Gothic UI" pitchFamily="34" charset="-120"/>
              </a:rPr>
              <a:t>興味度で配信を分けられる</a:t>
            </a:r>
            <a:endParaRPr lang="en-US" sz="2200" dirty="0"/>
          </a:p>
        </p:txBody>
      </p:sp>
      <p:sp>
        <p:nvSpPr>
          <p:cNvPr id="11" name="Text 9"/>
          <p:cNvSpPr/>
          <p:nvPr/>
        </p:nvSpPr>
        <p:spPr>
          <a:xfrm>
            <a:off x="1554480" y="3154680"/>
            <a:ext cx="9692640" cy="457200"/>
          </a:xfrm>
          <a:prstGeom prst="rect">
            <a:avLst/>
          </a:prstGeom>
          <a:noFill/>
          <a:ln/>
        </p:spPr>
        <p:txBody>
          <a:bodyPr wrap="square" rtlCol="0" anchor="ctr">
            <a:normAutofit/>
          </a:bodyPr>
          <a:lstStyle/>
          <a:p>
            <a:pPr indent="0" marL="0">
              <a:buNone/>
            </a:pPr>
            <a:r>
              <a:rPr lang="en-US" sz="2000" dirty="0">
                <a:solidFill>
                  <a:srgbClr val="222222"/>
                </a:solidFill>
                <a:latin typeface="Yu Gothic UI" pitchFamily="34" charset="0"/>
                <a:ea typeface="Yu Gothic UI" pitchFamily="34" charset="-122"/>
                <a:cs typeface="Yu Gothic UI" pitchFamily="34" charset="-120"/>
              </a:rPr>
              <a:t>響く人にだけ届く設計</a:t>
            </a:r>
            <a:endParaRPr lang="en-US" sz="2000" dirty="0"/>
          </a:p>
        </p:txBody>
      </p:sp>
      <p:sp>
        <p:nvSpPr>
          <p:cNvPr id="12" name="Shape 10"/>
          <p:cNvSpPr/>
          <p:nvPr/>
        </p:nvSpPr>
        <p:spPr>
          <a:xfrm>
            <a:off x="457200" y="3794760"/>
            <a:ext cx="11247120" cy="1143000"/>
          </a:xfrm>
          <a:prstGeom prst="roundRect">
            <a:avLst>
              <a:gd name="adj" fmla="val 6400"/>
            </a:avLst>
          </a:prstGeom>
          <a:solidFill>
            <a:srgbClr val="F4F8FC"/>
          </a:solidFill>
          <a:ln w="19050">
            <a:solidFill>
              <a:srgbClr val="F39C12"/>
            </a:solidFill>
            <a:prstDash val="solid"/>
          </a:ln>
        </p:spPr>
        <p:txBody>
          <a:bodyPr wrap="square">
            <a:normAutofit/>
          </a:bodyPr>
          <a:p/>
        </p:txBody>
      </p:sp>
      <p:sp>
        <p:nvSpPr>
          <p:cNvPr id="13" name="Shape 11"/>
          <p:cNvSpPr/>
          <p:nvPr/>
        </p:nvSpPr>
        <p:spPr>
          <a:xfrm>
            <a:off x="640080" y="4023360"/>
            <a:ext cx="731520" cy="731520"/>
          </a:xfrm>
          <a:prstGeom prst="ellipse">
            <a:avLst/>
          </a:prstGeom>
          <a:solidFill>
            <a:srgbClr val="F39C12"/>
          </a:solidFill>
          <a:ln w="12700">
            <a:solidFill>
              <a:srgbClr val="F39C12"/>
            </a:solidFill>
            <a:prstDash val="solid"/>
          </a:ln>
        </p:spPr>
        <p:txBody>
          <a:bodyPr wrap="square">
            <a:normAutofit/>
          </a:bodyPr>
          <a:p/>
        </p:txBody>
      </p:sp>
      <p:sp>
        <p:nvSpPr>
          <p:cNvPr id="14" name="Text 12"/>
          <p:cNvSpPr/>
          <p:nvPr/>
        </p:nvSpPr>
        <p:spPr>
          <a:xfrm>
            <a:off x="640080" y="4023360"/>
            <a:ext cx="731520" cy="731520"/>
          </a:xfrm>
          <a:prstGeom prst="rect">
            <a:avLst/>
          </a:prstGeom>
          <a:noFill/>
          <a:ln/>
        </p:spPr>
        <p:txBody>
          <a:bodyPr wrap="square" rtlCol="0" anchor="ctr">
            <a:normAutofit/>
          </a:bodyPr>
          <a:lstStyle/>
          <a:p>
            <a:pPr algn="ctr" indent="0" marL="0">
              <a:buNone/>
            </a:pPr>
            <a:r>
              <a:rPr lang="en-US" sz="3000" b="1" dirty="0">
                <a:solidFill>
                  <a:srgbClr val="FFFFFF"/>
                </a:solidFill>
                <a:latin typeface="Yu Gothic UI" pitchFamily="34" charset="0"/>
                <a:ea typeface="Yu Gothic UI" pitchFamily="34" charset="-122"/>
                <a:cs typeface="Yu Gothic UI" pitchFamily="34" charset="-120"/>
              </a:rPr>
              <a:t>2</a:t>
            </a:r>
            <a:endParaRPr lang="en-US" sz="3000" dirty="0"/>
          </a:p>
        </p:txBody>
      </p:sp>
      <p:sp>
        <p:nvSpPr>
          <p:cNvPr id="15" name="Text 13"/>
          <p:cNvSpPr/>
          <p:nvPr/>
        </p:nvSpPr>
        <p:spPr>
          <a:xfrm>
            <a:off x="1554480" y="3931920"/>
            <a:ext cx="9692640" cy="457200"/>
          </a:xfrm>
          <a:prstGeom prst="rect">
            <a:avLst/>
          </a:prstGeom>
          <a:noFill/>
          <a:ln/>
        </p:spPr>
        <p:txBody>
          <a:bodyPr wrap="square" rtlCol="0" anchor="ctr">
            <a:normAutofit/>
          </a:bodyPr>
          <a:lstStyle/>
          <a:p>
            <a:pPr indent="0" marL="0">
              <a:buNone/>
            </a:pPr>
            <a:r>
              <a:rPr lang="en-US" sz="2200" b="1" dirty="0">
                <a:solidFill>
                  <a:srgbClr val="1F3A5F"/>
                </a:solidFill>
                <a:latin typeface="Yu Gothic UI" pitchFamily="34" charset="0"/>
                <a:ea typeface="Yu Gothic UI" pitchFamily="34" charset="-122"/>
                <a:cs typeface="Yu Gothic UI" pitchFamily="34" charset="-120"/>
              </a:rPr>
              <a:t>ステップ配信は型で量産</a:t>
            </a:r>
            <a:endParaRPr lang="en-US" sz="2200" dirty="0"/>
          </a:p>
        </p:txBody>
      </p:sp>
      <p:sp>
        <p:nvSpPr>
          <p:cNvPr id="16" name="Text 14"/>
          <p:cNvSpPr/>
          <p:nvPr/>
        </p:nvSpPr>
        <p:spPr>
          <a:xfrm>
            <a:off x="1554480" y="4434840"/>
            <a:ext cx="9692640" cy="457200"/>
          </a:xfrm>
          <a:prstGeom prst="rect">
            <a:avLst/>
          </a:prstGeom>
          <a:noFill/>
          <a:ln/>
        </p:spPr>
        <p:txBody>
          <a:bodyPr wrap="square" rtlCol="0" anchor="ctr">
            <a:normAutofit/>
          </a:bodyPr>
          <a:lstStyle/>
          <a:p>
            <a:pPr indent="0" marL="0">
              <a:buNone/>
            </a:pPr>
            <a:r>
              <a:rPr lang="en-US" sz="2000" dirty="0">
                <a:solidFill>
                  <a:srgbClr val="222222"/>
                </a:solidFill>
                <a:latin typeface="Yu Gothic UI" pitchFamily="34" charset="0"/>
                <a:ea typeface="Yu Gothic UI" pitchFamily="34" charset="-122"/>
                <a:cs typeface="Yu Gothic UI" pitchFamily="34" charset="-120"/>
              </a:rPr>
              <a:t>5日分を半日で作れる</a:t>
            </a:r>
            <a:endParaRPr lang="en-US" sz="2000" dirty="0"/>
          </a:p>
        </p:txBody>
      </p:sp>
      <p:sp>
        <p:nvSpPr>
          <p:cNvPr id="17" name="Shape 15"/>
          <p:cNvSpPr/>
          <p:nvPr/>
        </p:nvSpPr>
        <p:spPr>
          <a:xfrm>
            <a:off x="457200" y="5074920"/>
            <a:ext cx="11247120" cy="1143000"/>
          </a:xfrm>
          <a:prstGeom prst="roundRect">
            <a:avLst>
              <a:gd name="adj" fmla="val 6400"/>
            </a:avLst>
          </a:prstGeom>
          <a:solidFill>
            <a:srgbClr val="F4F8FC"/>
          </a:solidFill>
          <a:ln w="19050">
            <a:solidFill>
              <a:srgbClr val="F39C12"/>
            </a:solidFill>
            <a:prstDash val="solid"/>
          </a:ln>
        </p:spPr>
        <p:txBody>
          <a:bodyPr wrap="square">
            <a:normAutofit/>
          </a:bodyPr>
          <a:p/>
        </p:txBody>
      </p:sp>
      <p:sp>
        <p:nvSpPr>
          <p:cNvPr id="18" name="Shape 16"/>
          <p:cNvSpPr/>
          <p:nvPr/>
        </p:nvSpPr>
        <p:spPr>
          <a:xfrm>
            <a:off x="640080" y="5303520"/>
            <a:ext cx="731520" cy="731520"/>
          </a:xfrm>
          <a:prstGeom prst="ellipse">
            <a:avLst/>
          </a:prstGeom>
          <a:solidFill>
            <a:srgbClr val="F39C12"/>
          </a:solidFill>
          <a:ln w="12700">
            <a:solidFill>
              <a:srgbClr val="F39C12"/>
            </a:solidFill>
            <a:prstDash val="solid"/>
          </a:ln>
        </p:spPr>
        <p:txBody>
          <a:bodyPr wrap="square">
            <a:normAutofit/>
          </a:bodyPr>
          <a:p/>
        </p:txBody>
      </p:sp>
      <p:sp>
        <p:nvSpPr>
          <p:cNvPr id="19" name="Text 17"/>
          <p:cNvSpPr/>
          <p:nvPr/>
        </p:nvSpPr>
        <p:spPr>
          <a:xfrm>
            <a:off x="640080" y="5303520"/>
            <a:ext cx="731520" cy="731520"/>
          </a:xfrm>
          <a:prstGeom prst="rect">
            <a:avLst/>
          </a:prstGeom>
          <a:noFill/>
          <a:ln/>
        </p:spPr>
        <p:txBody>
          <a:bodyPr wrap="square" rtlCol="0" anchor="ctr">
            <a:normAutofit/>
          </a:bodyPr>
          <a:lstStyle/>
          <a:p>
            <a:pPr algn="ctr" indent="0" marL="0">
              <a:buNone/>
            </a:pPr>
            <a:r>
              <a:rPr lang="en-US" sz="3000" b="1" dirty="0">
                <a:solidFill>
                  <a:srgbClr val="FFFFFF"/>
                </a:solidFill>
                <a:latin typeface="Yu Gothic UI" pitchFamily="34" charset="0"/>
                <a:ea typeface="Yu Gothic UI" pitchFamily="34" charset="-122"/>
                <a:cs typeface="Yu Gothic UI" pitchFamily="34" charset="-120"/>
              </a:rPr>
              <a:t>3</a:t>
            </a:r>
            <a:endParaRPr lang="en-US" sz="3000" dirty="0"/>
          </a:p>
        </p:txBody>
      </p:sp>
      <p:sp>
        <p:nvSpPr>
          <p:cNvPr id="20" name="Text 18"/>
          <p:cNvSpPr/>
          <p:nvPr/>
        </p:nvSpPr>
        <p:spPr>
          <a:xfrm>
            <a:off x="1554480" y="5212080"/>
            <a:ext cx="9692640" cy="457200"/>
          </a:xfrm>
          <a:prstGeom prst="rect">
            <a:avLst/>
          </a:prstGeom>
          <a:noFill/>
          <a:ln/>
        </p:spPr>
        <p:txBody>
          <a:bodyPr wrap="square" rtlCol="0" anchor="ctr">
            <a:normAutofit/>
          </a:bodyPr>
          <a:lstStyle/>
          <a:p>
            <a:pPr indent="0" marL="0">
              <a:buNone/>
            </a:pPr>
            <a:r>
              <a:rPr lang="en-US" sz="2200" b="1" dirty="0">
                <a:solidFill>
                  <a:srgbClr val="1F3A5F"/>
                </a:solidFill>
                <a:latin typeface="Yu Gothic UI" pitchFamily="34" charset="0"/>
                <a:ea typeface="Yu Gothic UI" pitchFamily="34" charset="-122"/>
                <a:cs typeface="Yu Gothic UI" pitchFamily="34" charset="-120"/>
              </a:rPr>
              <a:t>PDCAをAIに任せられる</a:t>
            </a:r>
            <a:endParaRPr lang="en-US" sz="2200" dirty="0"/>
          </a:p>
        </p:txBody>
      </p:sp>
      <p:sp>
        <p:nvSpPr>
          <p:cNvPr id="21" name="Text 19"/>
          <p:cNvSpPr/>
          <p:nvPr/>
        </p:nvSpPr>
        <p:spPr>
          <a:xfrm>
            <a:off x="1554480" y="5715000"/>
            <a:ext cx="9692640" cy="457200"/>
          </a:xfrm>
          <a:prstGeom prst="rect">
            <a:avLst/>
          </a:prstGeom>
          <a:noFill/>
          <a:ln/>
        </p:spPr>
        <p:txBody>
          <a:bodyPr wrap="square" rtlCol="0" anchor="ctr">
            <a:normAutofit/>
          </a:bodyPr>
          <a:lstStyle/>
          <a:p>
            <a:pPr indent="0" marL="0">
              <a:buNone/>
            </a:pPr>
            <a:r>
              <a:rPr lang="en-US" sz="2000" dirty="0">
                <a:solidFill>
                  <a:srgbClr val="222222"/>
                </a:solidFill>
                <a:latin typeface="Yu Gothic UI" pitchFamily="34" charset="0"/>
                <a:ea typeface="Yu Gothic UI" pitchFamily="34" charset="-122"/>
                <a:cs typeface="Yu Gothic UI" pitchFamily="34" charset="-120"/>
              </a:rPr>
              <a:t>配信が育つ仕組み</a:t>
            </a:r>
            <a:endParaRPr lang="en-US" sz="2000" dirty="0"/>
          </a:p>
        </p:txBody>
      </p:sp>
      <p:sp>
        <p:nvSpPr>
          <p:cNvPr id="22" name="Text 20"/>
          <p:cNvSpPr/>
          <p:nvPr/>
        </p:nvSpPr>
        <p:spPr>
          <a:xfrm>
            <a:off x="11338560" y="6565392"/>
            <a:ext cx="640080" cy="274320"/>
          </a:xfrm>
          <a:prstGeom prst="rect">
            <a:avLst/>
          </a:prstGeom>
          <a:noFill/>
          <a:ln/>
        </p:spPr>
        <p:txBody>
          <a:bodyPr wrap="square" rtlCol="0" anchor="ctr">
            <a:normAutofit/>
          </a:bodyPr>
          <a:lstStyle/>
          <a:p>
            <a:pPr algn="r" indent="0" marL="0">
              <a:buNone/>
            </a:pPr>
            <a:r>
              <a:rPr lang="en-US" sz="1400" dirty="0">
                <a:solidFill>
                  <a:srgbClr val="888888"/>
                </a:solidFill>
                <a:latin typeface="Yu Gothic UI" pitchFamily="34" charset="0"/>
                <a:ea typeface="Yu Gothic UI" pitchFamily="34" charset="-122"/>
                <a:cs typeface="Yu Gothic UI" pitchFamily="34" charset="-120"/>
              </a:rPr>
              <a:t>8 / 8</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第7回 GASを使いこなす（応用）（応用編） 講師用</dc:title>
  <dc:subject>PptxGenJS Presentation</dc:subject>
  <dc:creator>PptxGenJS</dc:creator>
  <cp:lastModifiedBy>PptxGenJS</cp:lastModifiedBy>
  <cp:revision>1</cp:revision>
  <dcterms:created xsi:type="dcterms:W3CDTF">2026-05-24T02:55:07Z</dcterms:created>
  <dcterms:modified xsi:type="dcterms:W3CDTF">2026-05-24T02:55:07Z</dcterms:modified>
</cp:coreProperties>
</file>