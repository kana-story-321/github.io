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【オープニング】第6回の続き。商談記録GASを「実務で使える形」に育てる回。
【講師補足】第6回でついていけなかった人向けに「コードを書かないコース」も用意（演習3）。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【話す内容】前回の状態を確認して、今日のスタート位置を揃える。前回欠席者向けに簡単な説明も。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【ポイント】「同じお客様は重複させない」を AI に伝えるのがコツ。
【講師の依頼プロンプト例】「次の機能を追加してください：商談ログに記録するとき、お客様名が『顧客マスター』シートにあれば最終商談日を更新、なければ新規追加する。」
【時間配分】20分。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【話す内容】「自動で動く」を体感させると、業務改善のイメージが一気に広がる。
【ポイント】時間トリガーは初心者でも設定しやすい。イベントトリガーは少し慣れてから。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【講師の準備】時間トリガーの設定画面の場所を画面共有で見せる。
【ポイント】「初回設定するときに権限承認」がもう一段必要なケースあり。
【時間配分】20分。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【講師の意図】「GASが難しい」と感じる人を置き去りにしないコース。スプシの基礎関数だけで分析ができることを体感。
【ポイント】「GASは万能ではなく、関数で十分なこともある」を伝える。
【時間配分】20分（演習2と並行で実施可能）。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2468880"/>
            <a:ext cx="12191695" cy="109728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2578608"/>
            <a:ext cx="12191695" cy="36576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457200" y="822960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第 16 回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1463040"/>
            <a:ext cx="112471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GASを使いこなす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2834640"/>
            <a:ext cx="11247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4A6FA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〜 引受判定Gemを作って精度検証 〜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457200" y="402336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基礎編（01）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4572000" y="5029200"/>
            <a:ext cx="3047695" cy="640080"/>
          </a:xfrm>
          <a:prstGeom prst="roundRect">
            <a:avLst>
              <a:gd name="adj" fmla="val 11429"/>
            </a:avLst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572000" y="5029200"/>
            <a:ext cx="304769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73152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365760" y="9144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今日のゴール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前回設計した引受判定プロンプトを Gem 化し、精度を検証します。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457200" y="1828800"/>
            <a:ext cx="11247120" cy="1280160"/>
          </a:xfrm>
          <a:prstGeom prst="roundRect">
            <a:avLst>
              <a:gd name="adj" fmla="val 4286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40080" y="2011680"/>
            <a:ext cx="822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①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1691640" y="196596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引受判定Gemを作成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1691640" y="251460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繰り返し使える形に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457200" y="3246120"/>
            <a:ext cx="11247120" cy="1280160"/>
          </a:xfrm>
          <a:prstGeom prst="roundRect">
            <a:avLst>
              <a:gd name="adj" fmla="val 4286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40080" y="3429000"/>
            <a:ext cx="822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②</a:t>
            </a:r>
            <a:endParaRPr lang="en-US" sz="4400" dirty="0"/>
          </a:p>
        </p:txBody>
      </p:sp>
      <p:sp>
        <p:nvSpPr>
          <p:cNvPr id="12" name="Text 10"/>
          <p:cNvSpPr/>
          <p:nvPr/>
        </p:nvSpPr>
        <p:spPr>
          <a:xfrm>
            <a:off x="1691640" y="338328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数十パターンで精度検証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1691640" y="393192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実用に耐えるか確認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457200" y="4663440"/>
            <a:ext cx="11247120" cy="1280160"/>
          </a:xfrm>
          <a:prstGeom prst="roundRect">
            <a:avLst>
              <a:gd name="adj" fmla="val 4286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640080" y="4846320"/>
            <a:ext cx="822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③</a:t>
            </a:r>
            <a:endParaRPr lang="en-US" sz="4400" dirty="0"/>
          </a:p>
        </p:txBody>
      </p:sp>
      <p:sp>
        <p:nvSpPr>
          <p:cNvPr id="16" name="Text 14"/>
          <p:cNvSpPr/>
          <p:nvPr/>
        </p:nvSpPr>
        <p:spPr>
          <a:xfrm>
            <a:off x="1691640" y="480060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コードが苦手な人もOK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1691640" y="534924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基礎組向けのチャット活用コースを用意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 / 8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73152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365760" y="9144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今日の流れ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スライドの色で「解説」と「演習」を分けています。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457200" y="1691640"/>
            <a:ext cx="5486400" cy="86868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640080" y="1828800"/>
            <a:ext cx="1051560" cy="59436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40080" y="1828800"/>
            <a:ext cx="10515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解説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828800" y="1691640"/>
            <a:ext cx="40233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話を聞く時間（短め）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6245352" y="1691640"/>
            <a:ext cx="5486400" cy="86868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6428232" y="1828800"/>
            <a:ext cx="1554480" cy="59436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428232" y="1828800"/>
            <a:ext cx="1554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N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8119872" y="1691640"/>
            <a:ext cx="3474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手を動かす時間（長め）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457200" y="2743200"/>
            <a:ext cx="11247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全体の流れ</a:t>
            </a:r>
            <a:endParaRPr lang="en-US" sz="2200" dirty="0"/>
          </a:p>
        </p:txBody>
      </p:sp>
      <p:sp>
        <p:nvSpPr>
          <p:cNvPr id="15" name="Shape 13"/>
          <p:cNvSpPr/>
          <p:nvPr/>
        </p:nvSpPr>
        <p:spPr>
          <a:xfrm>
            <a:off x="457200" y="3246120"/>
            <a:ext cx="11247120" cy="557784"/>
          </a:xfrm>
          <a:prstGeom prst="roundRect">
            <a:avLst>
              <a:gd name="adj" fmla="val 8197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594360" y="3332988"/>
            <a:ext cx="1051560" cy="384048"/>
          </a:xfrm>
          <a:prstGeom prst="roundRect">
            <a:avLst>
              <a:gd name="adj" fmla="val 9524"/>
            </a:avLst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594360" y="3332988"/>
            <a:ext cx="10515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解説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783080" y="3314700"/>
            <a:ext cx="97383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前回の振り返り(引受基準とプロンプト)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457200" y="3895344"/>
            <a:ext cx="11247120" cy="557784"/>
          </a:xfrm>
          <a:prstGeom prst="roundRect">
            <a:avLst>
              <a:gd name="adj" fmla="val 8197"/>
            </a:avLst>
          </a:prstGeom>
          <a:solidFill>
            <a:srgbClr val="FFF4E5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594360" y="3982212"/>
            <a:ext cx="1371600" cy="384048"/>
          </a:xfrm>
          <a:prstGeom prst="roundRect">
            <a:avLst>
              <a:gd name="adj" fmla="val 9524"/>
            </a:avLst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594360" y="3982212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1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2103120" y="3963924"/>
            <a:ext cx="94183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引受判定 Gem を作成する</a:t>
            </a:r>
            <a:endParaRPr lang="en-US" sz="2000" dirty="0"/>
          </a:p>
        </p:txBody>
      </p:sp>
      <p:sp>
        <p:nvSpPr>
          <p:cNvPr id="23" name="Shape 21"/>
          <p:cNvSpPr/>
          <p:nvPr/>
        </p:nvSpPr>
        <p:spPr>
          <a:xfrm>
            <a:off x="457200" y="4544568"/>
            <a:ext cx="11247120" cy="557784"/>
          </a:xfrm>
          <a:prstGeom prst="roundRect">
            <a:avLst>
              <a:gd name="adj" fmla="val 8197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/>
          <a:p/>
        </p:txBody>
      </p:sp>
      <p:sp>
        <p:nvSpPr>
          <p:cNvPr id="24" name="Shape 22"/>
          <p:cNvSpPr/>
          <p:nvPr/>
        </p:nvSpPr>
        <p:spPr>
          <a:xfrm>
            <a:off x="594360" y="4631436"/>
            <a:ext cx="1051560" cy="384048"/>
          </a:xfrm>
          <a:prstGeom prst="roundRect">
            <a:avLst>
              <a:gd name="adj" fmla="val 9524"/>
            </a:avLst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594360" y="4631436"/>
            <a:ext cx="10515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解説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1783080" y="4613148"/>
            <a:ext cx="97383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Gem 作成のコツと社内共有方法</a:t>
            </a:r>
            <a:endParaRPr lang="en-US" sz="2000" dirty="0"/>
          </a:p>
        </p:txBody>
      </p:sp>
      <p:sp>
        <p:nvSpPr>
          <p:cNvPr id="27" name="Shape 25"/>
          <p:cNvSpPr/>
          <p:nvPr/>
        </p:nvSpPr>
        <p:spPr>
          <a:xfrm>
            <a:off x="457200" y="5193792"/>
            <a:ext cx="11247120" cy="557784"/>
          </a:xfrm>
          <a:prstGeom prst="roundRect">
            <a:avLst>
              <a:gd name="adj" fmla="val 8197"/>
            </a:avLst>
          </a:prstGeom>
          <a:solidFill>
            <a:srgbClr val="FFF4E5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28" name="Shape 26"/>
          <p:cNvSpPr/>
          <p:nvPr/>
        </p:nvSpPr>
        <p:spPr>
          <a:xfrm>
            <a:off x="594360" y="5280660"/>
            <a:ext cx="1371600" cy="384048"/>
          </a:xfrm>
          <a:prstGeom prst="roundRect">
            <a:avLst>
              <a:gd name="adj" fmla="val 9524"/>
            </a:avLst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594360" y="5280660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2</a:t>
            </a:r>
            <a:endParaRPr lang="en-US" sz="2000" dirty="0"/>
          </a:p>
        </p:txBody>
      </p:sp>
      <p:sp>
        <p:nvSpPr>
          <p:cNvPr id="30" name="Text 28"/>
          <p:cNvSpPr/>
          <p:nvPr/>
        </p:nvSpPr>
        <p:spPr>
          <a:xfrm>
            <a:off x="2103120" y="5262372"/>
            <a:ext cx="94183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20パターンの精度検証</a:t>
            </a:r>
            <a:endParaRPr lang="en-US" sz="2000" dirty="0"/>
          </a:p>
        </p:txBody>
      </p:sp>
      <p:sp>
        <p:nvSpPr>
          <p:cNvPr id="31" name="Shape 29"/>
          <p:cNvSpPr/>
          <p:nvPr/>
        </p:nvSpPr>
        <p:spPr>
          <a:xfrm>
            <a:off x="457200" y="5843016"/>
            <a:ext cx="11247120" cy="557784"/>
          </a:xfrm>
          <a:prstGeom prst="roundRect">
            <a:avLst>
              <a:gd name="adj" fmla="val 8197"/>
            </a:avLst>
          </a:prstGeom>
          <a:solidFill>
            <a:srgbClr val="FFF4E5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32" name="Shape 30"/>
          <p:cNvSpPr/>
          <p:nvPr/>
        </p:nvSpPr>
        <p:spPr>
          <a:xfrm>
            <a:off x="594360" y="5929884"/>
            <a:ext cx="1371600" cy="384048"/>
          </a:xfrm>
          <a:prstGeom prst="roundRect">
            <a:avLst>
              <a:gd name="adj" fmla="val 9524"/>
            </a:avLst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33" name="Text 31"/>
          <p:cNvSpPr/>
          <p:nvPr/>
        </p:nvSpPr>
        <p:spPr>
          <a:xfrm>
            <a:off x="594360" y="5929884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3</a:t>
            </a:r>
            <a:endParaRPr lang="en-US" sz="2000" dirty="0"/>
          </a:p>
        </p:txBody>
      </p:sp>
      <p:sp>
        <p:nvSpPr>
          <p:cNvPr id="34" name="Text 32"/>
          <p:cNvSpPr/>
          <p:nvPr/>
        </p:nvSpPr>
        <p:spPr>
          <a:xfrm>
            <a:off x="2103120" y="5911596"/>
            <a:ext cx="94183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【基礎組】判定結果を活かす対応マニュアル作成</a:t>
            </a:r>
            <a:endParaRPr lang="en-US" sz="2000" dirty="0"/>
          </a:p>
        </p:txBody>
      </p:sp>
      <p:sp>
        <p:nvSpPr>
          <p:cNvPr id="35" name="Text 33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 / 8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4A6FA5"/>
          </a:solidFill>
          <a:ln w="12700">
            <a:solidFill>
              <a:srgbClr val="4A6FA5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274320" y="164592"/>
            <a:ext cx="105156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274320" y="164592"/>
            <a:ext cx="1051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解説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508760" y="91440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前回の振り返りと今日のテーマ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1051560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前回で引受基準とプロンプトが完成。今日は Gem 化と精度検証です。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457200" y="1737360"/>
            <a:ext cx="11247120" cy="4663440"/>
          </a:xfrm>
          <a:prstGeom prst="roundRect">
            <a:avLst>
              <a:gd name="adj" fmla="val 1176"/>
            </a:avLst>
          </a:prstGeom>
          <a:solidFill>
            <a:srgbClr val="F4F8FC"/>
          </a:solidFill>
          <a:ln w="19050">
            <a:solidFill>
              <a:srgbClr val="4A6FA5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640080" y="187452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ここまでで作ったもの／今日のテーマ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640080" y="2468880"/>
            <a:ext cx="10972800" cy="3794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【第15回で作ったもの】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・引受基準シート(YES/NO/要確認 20件)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・一次判定プロンプト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・NG/要確認テンプレ集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【今日のテーマ】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プロンプトを Gem 化して、毎回コピペ不要にする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20パターンでテストして精度を見極める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 / 8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E08300"/>
          </a:solidFill>
          <a:ln w="12700">
            <a:solidFill>
              <a:srgbClr val="E08300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274320" y="137160"/>
            <a:ext cx="169164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274320" y="137160"/>
            <a:ext cx="1691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1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194560" y="91440"/>
            <a:ext cx="9784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引受判定 Gem を作成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前回のプロンプトを Gem として登録し、繰り返し使える形にします。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65760" y="1508760"/>
            <a:ext cx="11430000" cy="3657600"/>
          </a:xfrm>
          <a:prstGeom prst="roundRect">
            <a:avLst>
              <a:gd name="adj" fmla="val 1500"/>
            </a:avLst>
          </a:prstGeom>
          <a:solidFill>
            <a:srgbClr val="FFF4E5"/>
          </a:solidFill>
          <a:ln w="19050">
            <a:solidFill>
              <a:srgbClr val="FF9800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548640" y="16002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🟠 お題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94360" y="21031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シチュエーション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40080" y="242316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プロンプトはあるが、毎回コピペで使うのが手間。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594360" y="310896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作るもの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40080" y="342900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引受判定 Gem(顧客情報を入力 → 一次判定が返る)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94360" y="41148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制約・こだわり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40080" y="443484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指示文に基準シートを含める／知識(Knowledge)に NG/要確認テンプレを登録／日本語で完結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365760" y="5303520"/>
            <a:ext cx="11430000" cy="1234440"/>
          </a:xfrm>
          <a:prstGeom prst="roundRect">
            <a:avLst>
              <a:gd name="adj" fmla="val 4444"/>
            </a:avLst>
          </a:prstGeom>
          <a:solidFill>
            <a:srgbClr val="F0FAF0"/>
          </a:solidFill>
          <a:ln w="25400">
            <a:solidFill>
              <a:srgbClr val="4CAF50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548640" y="5394960"/>
            <a:ext cx="11064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E7D3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▶ やってみよう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731520" y="585216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1. Gemini の Gem 作成画面で新規Gemを作成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731520" y="606552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2. 指示文に前回のプロンプトを貼り付け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731520" y="627888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3. 知識として NG/要確認テンプレをアップロード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 / 8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4A6FA5"/>
          </a:solidFill>
          <a:ln w="12700">
            <a:solidFill>
              <a:srgbClr val="4A6FA5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274320" y="164592"/>
            <a:ext cx="105156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274320" y="164592"/>
            <a:ext cx="1051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解説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508760" y="91440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Gem 作成のコツと社内共有方法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1051560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Gem を「自分専用ツール」から「チーム共有ツール」にするコツを学びます。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457200" y="1737360"/>
            <a:ext cx="11247120" cy="4663440"/>
          </a:xfrm>
          <a:prstGeom prst="roundRect">
            <a:avLst>
              <a:gd name="adj" fmla="val 1176"/>
            </a:avLst>
          </a:prstGeom>
          <a:solidFill>
            <a:srgbClr val="F4F8FC"/>
          </a:solidFill>
          <a:ln w="19050">
            <a:solidFill>
              <a:srgbClr val="4A6FA5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640080" y="187452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良い Gem の条件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640080" y="2468880"/>
            <a:ext cx="10972800" cy="3794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【指示文のコツ】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・「あなたは〇〇です」とロール設定で精度UP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・「以下の手順で考えてください」と段階指示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・「分からないときは『不明』と答えてください」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【知識(Knowledge)の活用】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・PDFや表をそのままアップロード可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・更新があったら即時反映できる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・10MB以下のファイルが安全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【社内共有】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・Gem を組織内共有設定にする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・利用ルールをドキュメントで配布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・更新履歴を残す(誰が何を変えたか)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【ポイント】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・Gem は「育てるツール」、最初は不完全でOK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・テストパターンを積み重ねて改善する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6 / 8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E08300"/>
          </a:solidFill>
          <a:ln w="12700">
            <a:solidFill>
              <a:srgbClr val="E08300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274320" y="137160"/>
            <a:ext cx="169164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274320" y="137160"/>
            <a:ext cx="1691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2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194560" y="91440"/>
            <a:ext cx="9784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20パターンで精度検証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テストシナリオ20件で Gem の精度を確認します。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65760" y="1508760"/>
            <a:ext cx="11430000" cy="3657600"/>
          </a:xfrm>
          <a:prstGeom prst="roundRect">
            <a:avLst>
              <a:gd name="adj" fmla="val 1500"/>
            </a:avLst>
          </a:prstGeom>
          <a:solidFill>
            <a:srgbClr val="FFF4E5"/>
          </a:solidFill>
          <a:ln w="19050">
            <a:solidFill>
              <a:srgbClr val="FF9800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548640" y="16002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🟠 お題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94360" y="21031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シチュエーション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40080" y="242316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作った Gem の精度が分からない。実運用前に検証したい。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594360" y="310896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作るもの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40080" y="342900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20パターンの判定結果一覧(期待値と Gem 出力の比較)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94360" y="41148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制約・こだわり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40080" y="443484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YES/NO/要確認 のバランスを揃える／既知ケースとエッジケースを混ぜる／結果はスプシで記録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365760" y="5303520"/>
            <a:ext cx="11430000" cy="1234440"/>
          </a:xfrm>
          <a:prstGeom prst="roundRect">
            <a:avLst>
              <a:gd name="adj" fmla="val 4444"/>
            </a:avLst>
          </a:prstGeom>
          <a:solidFill>
            <a:srgbClr val="F0FAF0"/>
          </a:solidFill>
          <a:ln w="25400">
            <a:solidFill>
              <a:srgbClr val="4CAF50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548640" y="5394960"/>
            <a:ext cx="11064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E7D3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▶ やってみよう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731520" y="585216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1. テストシナリオ20件をスプシに作る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731520" y="606552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2. Gem に1件ずつ入れて結果を記録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731520" y="627888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3. 期待値と一致しなかったケースを分析しプロンプト改善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7 / 8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E08300"/>
          </a:solidFill>
          <a:ln w="12700">
            <a:solidFill>
              <a:srgbClr val="E08300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274320" y="137160"/>
            <a:ext cx="169164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274320" y="137160"/>
            <a:ext cx="1691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3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194560" y="91440"/>
            <a:ext cx="9784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【基礎組】判定結果を活かす対応マニュアル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Gem の判定結果を受けて、現場でどう動くかをマニュアル化します。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65760" y="1508760"/>
            <a:ext cx="11430000" cy="3657600"/>
          </a:xfrm>
          <a:prstGeom prst="roundRect">
            <a:avLst>
              <a:gd name="adj" fmla="val 1500"/>
            </a:avLst>
          </a:prstGeom>
          <a:solidFill>
            <a:srgbClr val="FFF4E5"/>
          </a:solidFill>
          <a:ln w="19050">
            <a:solidFill>
              <a:srgbClr val="FF9800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548640" y="16002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🟠 お題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94360" y="21031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シチュエーション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40080" y="242316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AI判定の結果を受け取った後の「次の動き」が決まっていない。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594360" y="310896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作るもの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40080" y="342900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判定結果別 対応フロー(YES/NO/要確認それぞれの次のアクション)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94360" y="41148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制約・こだわり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40080" y="443484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GAS不要／A4 1枚に収める／所要時間も明記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365760" y="5303520"/>
            <a:ext cx="11430000" cy="1234440"/>
          </a:xfrm>
          <a:prstGeom prst="roundRect">
            <a:avLst>
              <a:gd name="adj" fmla="val 4444"/>
            </a:avLst>
          </a:prstGeom>
          <a:solidFill>
            <a:srgbClr val="F0FAF0"/>
          </a:solidFill>
          <a:ln w="25400">
            <a:solidFill>
              <a:srgbClr val="4CAF50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548640" y="5394960"/>
            <a:ext cx="11064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E7D3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▶ やってみよう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731520" y="585216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1. YES/NO/要確認 それぞれの次のアクションを書き出す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731520" y="606552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2. 出力された議事録をスプレッドシートにコピー＆ペースト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731520" y="627888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3. A4 1枚のマニュアルにまとめる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8 / 8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第7回 GASを使いこなす（応用）（基礎編） 講師用</dc:title>
  <dc:subject>PptxGenJS Presentation</dc:subject>
  <dc:creator>PptxGenJS</dc:creator>
  <cp:lastModifiedBy>PptxGenJS</cp:lastModifiedBy>
  <cp:revision>1</cp:revision>
  <dcterms:created xsi:type="dcterms:W3CDTF">2026-05-24T02:55:07Z</dcterms:created>
  <dcterms:modified xsi:type="dcterms:W3CDTF">2026-05-24T02:55:07Z</dcterms:modified>
</cp:coreProperties>
</file>