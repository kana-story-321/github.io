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【オープニング】中級者向け：リマインドメール自動化。基礎組向け：商談ログをデータベース的に分析する体験。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【話す内容】「無理しない」を強調。中級コースを選んでもエラー連発で進まない場合は途中で基礎組に切替OK。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【ポイント】中級者向けの演習。エラーは Gemini との往復で解消。
【時間配分】20分。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【ポイント】「自動化したシステムが、いつ動かなくなるか分からない」を体感。エラー通知は実務必須。
【時間配分】15分。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【ポイント】「コードを書かなくてもこれだけできる」を体感。GASは万能ではなく、ピボットだけで十分なことも多い。
【時間配分】20分。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【締めトーク】GAS編はここまで。次回は別テーマに進む。
【講師補足】業務で実際に運用する際は社内ルール（自動送信メールの取扱い、データ連携の範囲など）を必ず確認、と一言。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468880"/>
            <a:ext cx="12191695" cy="109728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2578608"/>
            <a:ext cx="12191695" cy="36576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 17 回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1124712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GASを使いこなす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4A6FA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〜 ヒアリングAIフォーム化と質問テンプレ 〜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40233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応用編（02）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0" y="5029200"/>
            <a:ext cx="3047695" cy="640080"/>
          </a:xfrm>
          <a:prstGeom prst="roundRect">
            <a:avLst>
              <a:gd name="adj" fmla="val 11429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9" name="Text 7"/>
          <p:cNvSpPr/>
          <p:nvPr/>
        </p:nvSpPr>
        <p:spPr>
          <a:xfrm>
            <a:off x="4572000" y="5029200"/>
            <a:ext cx="3047695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講師用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今日のゴール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応用編は「ヒアリングのフォーム化」と「対面ヒアリング用チェックリスト」の2本立てです。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7" name="Text 5"/>
          <p:cNvSpPr/>
          <p:nvPr/>
        </p:nvSpPr>
        <p:spPr>
          <a:xfrm>
            <a:off x="640080" y="201168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①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1691640" y="196596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中級:Googleフォーム+GASでヒアリング自動化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691640" y="251460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回答を自動でスプシに整理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200" y="324612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1" name="Text 9"/>
          <p:cNvSpPr/>
          <p:nvPr/>
        </p:nvSpPr>
        <p:spPr>
          <a:xfrm>
            <a:off x="640080" y="342900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②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1691640" y="338328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基礎:対面ヒアリングチェックリスト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691640" y="393192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モレなく聞くためのカード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57200" y="466344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5" name="Text 13"/>
          <p:cNvSpPr/>
          <p:nvPr/>
        </p:nvSpPr>
        <p:spPr>
          <a:xfrm>
            <a:off x="640080" y="484632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③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1691640" y="480060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両者共通：自分のペースで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691640" y="534924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無理せず、できる範囲で完成させる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 / 8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今日の流れ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スライドの色で「解説」と「演習」を分けています。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5486400" cy="86868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7" name="Shape 5"/>
          <p:cNvSpPr/>
          <p:nvPr/>
        </p:nvSpPr>
        <p:spPr>
          <a:xfrm>
            <a:off x="640080" y="1828800"/>
            <a:ext cx="10515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8" name="Text 6"/>
          <p:cNvSpPr/>
          <p:nvPr/>
        </p:nvSpPr>
        <p:spPr>
          <a:xfrm>
            <a:off x="640080" y="1828800"/>
            <a:ext cx="105156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828800" y="1691640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話を聞く時間（短め）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245352" y="1691640"/>
            <a:ext cx="5486400" cy="8686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1" name="Shape 9"/>
          <p:cNvSpPr/>
          <p:nvPr/>
        </p:nvSpPr>
        <p:spPr>
          <a:xfrm>
            <a:off x="6428232" y="1828800"/>
            <a:ext cx="15544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2" name="Text 10"/>
          <p:cNvSpPr/>
          <p:nvPr/>
        </p:nvSpPr>
        <p:spPr>
          <a:xfrm>
            <a:off x="6428232" y="182880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119872" y="169164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手を動かす時間（長め）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7200" y="274320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全体の流れ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57200" y="3246120"/>
            <a:ext cx="11247120" cy="640080"/>
          </a:xfrm>
          <a:prstGeom prst="roundRect">
            <a:avLst>
              <a:gd name="adj" fmla="val 7143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6" name="Shape 14"/>
          <p:cNvSpPr/>
          <p:nvPr/>
        </p:nvSpPr>
        <p:spPr>
          <a:xfrm>
            <a:off x="594360" y="3374136"/>
            <a:ext cx="1051560" cy="384048"/>
          </a:xfrm>
          <a:prstGeom prst="roundRect">
            <a:avLst>
              <a:gd name="adj" fmla="val 9524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7" name="Text 15"/>
          <p:cNvSpPr/>
          <p:nvPr/>
        </p:nvSpPr>
        <p:spPr>
          <a:xfrm>
            <a:off x="594360" y="3374136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783080" y="3355848"/>
            <a:ext cx="973836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応用編の2コース（中級コース／基礎組コース）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57200" y="3977640"/>
            <a:ext cx="11247120" cy="640080"/>
          </a:xfrm>
          <a:prstGeom prst="roundRect">
            <a:avLst>
              <a:gd name="adj" fmla="val 7143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0" name="Shape 18"/>
          <p:cNvSpPr/>
          <p:nvPr/>
        </p:nvSpPr>
        <p:spPr>
          <a:xfrm>
            <a:off x="594360" y="4105656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1" name="Text 19"/>
          <p:cNvSpPr/>
          <p:nvPr/>
        </p:nvSpPr>
        <p:spPr>
          <a:xfrm>
            <a:off x="594360" y="410565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2103120" y="4087368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【中級】ヒアリングのGoogleフォーム化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457200" y="4709160"/>
            <a:ext cx="11247120" cy="640080"/>
          </a:xfrm>
          <a:prstGeom prst="roundRect">
            <a:avLst>
              <a:gd name="adj" fmla="val 7143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4" name="Shape 22"/>
          <p:cNvSpPr/>
          <p:nvPr/>
        </p:nvSpPr>
        <p:spPr>
          <a:xfrm>
            <a:off x="594360" y="4837176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5" name="Text 23"/>
          <p:cNvSpPr/>
          <p:nvPr/>
        </p:nvSpPr>
        <p:spPr>
          <a:xfrm>
            <a:off x="594360" y="483717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5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2103120" y="4818888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【中級】フォーム回答→スプシ整理 GAS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457200" y="5440680"/>
            <a:ext cx="11247120" cy="640080"/>
          </a:xfrm>
          <a:prstGeom prst="roundRect">
            <a:avLst>
              <a:gd name="adj" fmla="val 7143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8" name="Shape 26"/>
          <p:cNvSpPr/>
          <p:nvPr/>
        </p:nvSpPr>
        <p:spPr>
          <a:xfrm>
            <a:off x="594360" y="5568696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9" name="Text 27"/>
          <p:cNvSpPr/>
          <p:nvPr/>
        </p:nvSpPr>
        <p:spPr>
          <a:xfrm>
            <a:off x="594360" y="556869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6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2103120" y="5550408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【基礎組】対面ヒアリングチェックリスト作成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 / 8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Shape 2"/>
          <p:cNvSpPr/>
          <p:nvPr/>
        </p:nvSpPr>
        <p:spPr>
          <a:xfrm>
            <a:off x="274320" y="164592"/>
            <a:ext cx="10515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3"/>
          <p:cNvSpPr/>
          <p:nvPr/>
        </p:nvSpPr>
        <p:spPr>
          <a:xfrm>
            <a:off x="274320" y="164592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08760" y="9144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応用編の2コース ─ 自分のレベルで選ぶ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応用編は2つのコースを用意。基礎編で「コードが楽しい」と感じた方は中級、「GASは難しい」と感じた方は基礎組コースへ。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5577840" cy="4709160"/>
          </a:xfrm>
          <a:prstGeom prst="roundRect">
            <a:avLst>
              <a:gd name="adj" fmla="val 1165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9" name="Text 7"/>
          <p:cNvSpPr/>
          <p:nvPr/>
        </p:nvSpPr>
        <p:spPr>
          <a:xfrm>
            <a:off x="640080" y="182880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中級コース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2423160"/>
            <a:ext cx="5303520" cy="3886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【対象】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第17回基礎でヒアリング項目を整理できた方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【演習4・5を担当】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・ヒアリングフォーム作成+自動整理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・LP/SNSから直接ヒアリング誘導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【ゴール】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商談前ヒアリングが自動化された状態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245352" y="1691640"/>
            <a:ext cx="5486400" cy="4709160"/>
          </a:xfrm>
          <a:prstGeom prst="roundRect">
            <a:avLst>
              <a:gd name="adj" fmla="val 1165"/>
            </a:avLst>
          </a:prstGeom>
          <a:solidFill>
            <a:srgbClr val="E8F0FE"/>
          </a:solidFill>
          <a:ln w="19050">
            <a:solidFill>
              <a:srgbClr val="3F51B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2" name="Text 10"/>
          <p:cNvSpPr/>
          <p:nvPr/>
        </p:nvSpPr>
        <p:spPr>
          <a:xfrm>
            <a:off x="6428232" y="182880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A237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🔵 基礎組コース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28232" y="2423160"/>
            <a:ext cx="5212080" cy="3886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【対象】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「対面でしっかり聞きたい」と感じた方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【演習6を担当】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・対面ヒアリング用カード作成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・聞き忘れゼロの仕組み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【ゴール】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対面で漏れなく聞ける状態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 / 8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4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【中級】ヒアリングのGoogleフォーム化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整理した項目を Googleフォーム化して、商談前にヒアリングを完了させます。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商談時間にヒアリングで大半を使い、提案時間が足りない。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商談前ヒアリングフォーム(回答が自動でスプシに溜まる)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質問は20問以内／必須/任意を明確に／自由記述は最小限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Gemini に「30項目を20問のフォームに編成して」と依頼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Googleフォームを作成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テスト回答してスプシに反映されるか確認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 / 8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5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【中級】フォーム回答 → 整理GAS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フォーム回答を顧客情報シートに自動整理する GAS を作ります。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フォーム回答が来ても、顧客情報シートへの転記が手作業。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フォーム回答 → 顧客情報シート自動整理 GAS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回答が来たら自動実行(onFormSubmit)／既存顧客は更新／新規顧客は追加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Gemini に「フォーム回答を顧客情報シートに整理する GAS」を依頼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フォーム送信トリガーを設定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テスト回答で動作確認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6 / 8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6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【基礎組】対面ヒアリングチェックリスト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コードを使わず、対面で漏れなく聞けるチェックリストを作ります。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対面ヒアリングで毎回違う項目を聞き忘れる。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対面ヒアリングチェックカード(A4 1枚、30項目)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GAS不要／印刷して使える形／カテゴリで色分け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整理した30項目をカテゴリ別に並べる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Gemini に「対面で使えるチェックカードのレイアウト」を依頼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Word/Doc で印刷可能な形に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7 / 8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お疲れさまでした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ライフプランAIヒアリング編まで完走。提案の入口が自動化されました。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今日の持ち帰り 3 点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2514600"/>
            <a:ext cx="11247120" cy="1143000"/>
          </a:xfrm>
          <a:prstGeom prst="roundRect">
            <a:avLst>
              <a:gd name="adj" fmla="val 6400"/>
            </a:avLst>
          </a:prstGeom>
          <a:solidFill>
            <a:srgbClr val="F4F8FC"/>
          </a:solidFill>
          <a:ln w="1905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8" name="Shape 6"/>
          <p:cNvSpPr/>
          <p:nvPr/>
        </p:nvSpPr>
        <p:spPr>
          <a:xfrm>
            <a:off x="640080" y="2743200"/>
            <a:ext cx="731520" cy="73152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9" name="Text 7"/>
          <p:cNvSpPr/>
          <p:nvPr/>
        </p:nvSpPr>
        <p:spPr>
          <a:xfrm>
            <a:off x="640080" y="27432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554480" y="265176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ヒアリングが体系化された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554480" y="315468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聞き漏れがゼロに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57200" y="3794760"/>
            <a:ext cx="11247120" cy="1143000"/>
          </a:xfrm>
          <a:prstGeom prst="roundRect">
            <a:avLst>
              <a:gd name="adj" fmla="val 6400"/>
            </a:avLst>
          </a:prstGeom>
          <a:solidFill>
            <a:srgbClr val="F4F8FC"/>
          </a:solidFill>
          <a:ln w="1905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3" name="Shape 11"/>
          <p:cNvSpPr/>
          <p:nvPr/>
        </p:nvSpPr>
        <p:spPr>
          <a:xfrm>
            <a:off x="640080" y="4023360"/>
            <a:ext cx="731520" cy="73152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4" name="Text 12"/>
          <p:cNvSpPr/>
          <p:nvPr/>
        </p:nvSpPr>
        <p:spPr>
          <a:xfrm>
            <a:off x="640080" y="40233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554480" y="393192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数値化ロジックが完成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554480" y="443484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提案の根拠が示せる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57200" y="5074920"/>
            <a:ext cx="11247120" cy="1143000"/>
          </a:xfrm>
          <a:prstGeom prst="roundRect">
            <a:avLst>
              <a:gd name="adj" fmla="val 6400"/>
            </a:avLst>
          </a:prstGeom>
          <a:solidFill>
            <a:srgbClr val="F4F8FC"/>
          </a:solidFill>
          <a:ln w="1905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8" name="Shape 16"/>
          <p:cNvSpPr/>
          <p:nvPr/>
        </p:nvSpPr>
        <p:spPr>
          <a:xfrm>
            <a:off x="640080" y="5303520"/>
            <a:ext cx="731520" cy="73152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9" name="Text 17"/>
          <p:cNvSpPr/>
          <p:nvPr/>
        </p:nvSpPr>
        <p:spPr>
          <a:xfrm>
            <a:off x="640080" y="5303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1554480" y="521208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フォーム自動化も体験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554480" y="571500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AIが商談前準備を担う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8 / 8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第7回 GASを使いこなす（応用）（応用編） 講師用</dc:title>
  <dc:subject>PptxGenJS Presentation</dc:subject>
  <dc:creator>PptxGenJS</dc:creator>
  <cp:lastModifiedBy>PptxGenJS</cp:lastModifiedBy>
  <cp:revision>1</cp:revision>
  <dcterms:created xsi:type="dcterms:W3CDTF">2026-05-24T02:55:07Z</dcterms:created>
  <dcterms:modified xsi:type="dcterms:W3CDTF">2026-05-24T02:55:07Z</dcterms:modified>
</cp:coreProperties>
</file>