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研修 最終まとめ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まとめテスト &amp; Q&amp;A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5つのツールを "使いこなせる状態" になっているか、一緒に確認しましょう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全問正解を狙う場ではなく、"分からないところを発見する場" です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今日の進め方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3部構成、合計90分の予定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Part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ツール別 復習+テスト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5つのツール(Gemini / NotebookLM / Genspark / Canva / GAS)の特徴を確認、各3問ずつ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45分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43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432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Part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深掘り + 総合シナリオ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で作る時の設計の考え方(自動化・データベース・独自要素)、応用シナリオ 2件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834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30分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8620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862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Part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Q&amp;A タイム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206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分からなかった問題、実際の業務での活用相談、なんでも自由に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3977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15分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11480" y="4617720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回答は同梱の「回答シート.xlsx」に記入 → Part3 で答え合わせ+疑問解消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身につけた 5つのツール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それぞれの得意分野を、思い出してみましょう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155448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Gemini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対話AI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310896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なんでも相談、文章生成、要約、翻訳、コード生成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28016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280160"/>
            <a:ext cx="155448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874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📚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10312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F8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資料AI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310896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自分の資料を読ませて、その中から回答してくれる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4760" y="128016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280160"/>
            <a:ext cx="155448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Genspark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1874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🔍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79476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調査AI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67912" y="310896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深いリサーチ、複数ソースから 出典付きで回答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280160"/>
            <a:ext cx="1554480" cy="45720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Canva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874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🎨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548640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6B7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デザインAI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310896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資料・チラシ・SNS画像を "見せられる形" に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1280160"/>
            <a:ext cx="1554480" cy="301752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280160"/>
            <a:ext cx="155448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1280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18745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⚙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17804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自動化ツール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51192" y="3108960"/>
            <a:ext cx="14081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スプシと連携して 業務プロセスを自動化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① Gemini の復習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対話AI ─ なんでも相談できる万能パートナー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このツールの特徴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文章生成・要約・翻訳・アイデア出しが得意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対話を重ねて "壁打ち" で精度を上げていく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画像・PDF も読み込める(マルチモーダル)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プロンプトの書き方で結果の質が大きく変わる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「役割 + 目的 + 制約 + 出力形式」の4点を明示すると精度UP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業務で使うシーン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828800"/>
            <a:ext cx="358444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お客様への提案文の下書きを作る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複雑な資料を要約させる(A4 10ページ→3分)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アイデア出し(1人ブレスト)の相手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英語・専門用語の翻訳、業界用語の解説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文章のトーン調整(硬い→柔らかい 等)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① Gemini テスト (3問)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回答は「回答シート.xlsx」の該当欄に記入してください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Gemini でプロンプトの精度を上げる「4つの要素」は何と何と何と何?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お客様への提案文を Gemini に書かせる時、必ず伝えるべき情報を3つ挙げてください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同じ質問を投げても毎回違う答えが返る時、どう対処しますか?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② NotebookLM の復習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資料AI ─ あなたの資料を読ませて 中から答えてくれる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25400">
            <a:solidFill>
              <a:srgbClr val="7C5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このツールの特徴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自分がアップした資料(PDF/URL/テキスト)だけを元に回答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出典が明示される(この情報はこの資料のこのページから)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ハルシネーション(嘘の情報)が起きにくい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複数資料を横断して「この件どこに書いてある?」が可能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音声要約(Audio Overview)機能で ラジオ的に聴ける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業務で使うシーン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828800"/>
            <a:ext cx="358444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社内マニュアル100ページから FAQ を作成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契約書・約款の内容を検索・要約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複数の顧客レポートを横断して傾向分析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過去の議事録から「〇〇プロジェクト」の経緯を抽出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研修資料を聴く形で "ながら学習"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② NotebookLM テスト (3問)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回答は「回答シート.xlsx」の該当欄に記入してください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Gemini と NotebookLM の 一番大きな違いは何ですか?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出典が明示されることで、業務でどんなメリットがありますか?(2つ以上)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社内マニュアル(100ページPDF)から FAQ を作りたい時の 手順を3ステップで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③ Genspark の復習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調査AI ─ 深いリサーチを 出典付きで一気に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このツールの特徴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複数のWeb検索を裏で自動実行 → 統合レポート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Deep Research 機能で 数十のソースから 出典付き回答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通常検索より "調べる時間" を大幅に短縮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画像・動画・ニュース も横断的に取得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生成物を Sparkpage としてまとめて共有可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業務で使うシーン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828800"/>
            <a:ext cx="358444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業界動向・競合他社の調査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「保険業界の 2026年上半期トレンド」を10分で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新商品の市場調査(類似商品の口コミ・評価)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顧客企業の情報収集(面談前の下調べ)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法改正・制度変更の最新情報キャッチアップ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③ Genspark テスト (3問)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回答は「回答シート.xlsx」の該当欄に記入してください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通常のGoogle検索と Genspark の違いを 一言で答えてください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出典付きで返してくれるのは、業務で使う時に なぜ重要?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「保険業界 2026年上半期の動向」を調べたい時、Gensparkでどう指示しますか?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④ Canva の復習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デザインAI ─ 資料・チラシ・SNS画像を "見せられる形" 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45720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このツールの特徴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テンプレート豊富、デザインの素人でも "それっぽく" 作れる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Magic Design で テキストから自動デザイン生成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ブランドキット機能で 会社の色・ロゴを統一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プレゼン・チラシ・SNS投稿・動画・ロゴ 何でも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共有・共同編集も簡単、社内でチームで使える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業務で使うシーン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828800"/>
            <a:ext cx="358444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お客様配布用の月次レポート表紙・チラシ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社内研修資料の見栄えを整える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SNS投稿(Instagram・Facebook)用のバナー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名刺・商品パンフレット・ポスター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動画コンテンツ(お客様向けミニ動画)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④ Canva テスト (3問)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回答は「回答シート.xlsx」の該当欄に記入してください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Canva を業務で使う典型的な用途を 3つ挙げてください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Magic Design 機能の使い方を 手順で説明してください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C76B7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「お客様向け月次レポートの表紙」を作る時、Canvaで何を意識しますか?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⑤ GAS の復習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自動化ツール ─ スプシと連携して業務プロセスを自動化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3566160"/>
          </a:xfrm>
          <a:prstGeom prst="roundRect">
            <a:avLst>
              <a:gd name="adj" fmla="val 2051"/>
            </a:avLst>
          </a:prstGeom>
          <a:solidFill>
            <a:srgbClr val="F4F6F9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416052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このツールの特徴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スプシ・Gmail・Docs・Drive と連携できる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無料で使える、追加ソフト不要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JavaScript が書けなくても "バイブコーディング" で作れる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AI(Gemini API)と組み合わせて "AI業務ツール" が作れる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メニュー追加・自動実行(定時トリガー)・Web公開 も可能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業務で使うシーン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8616" y="1828800"/>
            <a:ext cx="358444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議事録の自動生成(第MTG回)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引受判定の一次判定(第15回)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 シミュレーション(第17回)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定時での配信・通知(第12-14回)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入力フォーム → スプシ自動整理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⑤ GAS テスト (3問)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回答は「回答シート.xlsx」の該当欄に記入してください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GAS を作る前に、まず何をすべきですか?(コードを書き始める前の工程)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Gemini API を GAS で使う時、API キーはどこに保存しますか? なぜ?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GAS で作ったツールを チームで使えるようにする方法を 2種類 説明してください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で自動化するときの "考え方"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 業務を分解して、"人 / AI / GAS" の分担を決める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👤 人がやる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判断・承認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お客様への説明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責任を持つ意思決定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例外対応・特殊ケース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2468880" cy="384048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03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責任は必ず 人に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🤖 AI に任せる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938528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情報の要約・整理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文章の生成・変換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提案の草案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分類・抽出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3703320"/>
            <a:ext cx="246888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703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得意 = 情報の "整形"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2801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280160"/>
            <a:ext cx="26517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⚙ GAS で自動化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938528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定型的な繰り返し操作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スプシへの読み書き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メール・通知送信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決まった時刻の実行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246888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703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"つなぎ役" として活躍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この3分担を決めずに GAS を書き始めると、"何を作ってるか分からないゴチャゴチャ" になります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のデータベース(スプシ)を "更新しやすく" 設計する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一度作ったら終わりではない、"育てる" ことを前提にした設計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更新しやすい設計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毎回変わる情報(顧客ごと) と 全員共通の情報(前提) を 別シートに分ける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独自の判断・提案パターンは スプシで管理(コードに書かない)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各項目の "根拠" 列を用意(なぜこの値か、後で追える)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更新頻度を明示(毎回/月1/年1)、担当も決める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削除ではなく "無効化" 運用(履歴を残す)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更新に困る設計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3852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顧客情報と共通前提を 1つのシートに混在 → 更新のたび全書き換え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独自ルールを GAS コードに直書き → 変更のたびに開発者呼ぶハメに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根拠なしで数値だけ → 半年後 "誰がなぜこの値?" が分からない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更新頻度・担当が未定 → 誰も更新しない放置ツールに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古い情報を削除 → "過去はどうだった?" に答えられない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特に「顧客情報 と 共通前提の分離」と「独自ルールはスプシで管理」は 全ワーク共通の学び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応用テスト (設計の考え方)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 GAS 演習の "共通点" を思い出しながら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162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議事録AI・引受判定AI・ライフプランAI に共通する "設計の考え方" は何?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4602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74320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3746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スプシをデータベースとして使う時、なぜ「顧客情報」と「共通前提」を別シートに分けるのですか?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478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54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452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独自の判断ルール(代理店ならではの提案パターン等)は、コードとスプシ どちらに書くべき? その理由は?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総合シナリオ ① ─ 新入社員向けQ&amp;Aボット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5ツールを組み合わせて解決してください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📖 シナリオ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入社1年目の若手社員から「社内規定・保険商品・営業のコツ」等について、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毎日30分ほど質問が来ます。似た質問も多く、毎回回答するのに時間がかかります。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ベテランの負担を減らしつつ、若手が いつでも回答を得られる仕組みを作りたい。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8321040" cy="1920240"/>
          </a:xfrm>
          <a:prstGeom prst="roundRect">
            <a:avLst>
              <a:gd name="adj" fmla="val 3810"/>
            </a:avLst>
          </a:prstGeom>
          <a:solidFill>
            <a:srgbClr val="FFF3E0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❓ 考えてみてください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33756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若手からの質問に自動で答える仕組みを作るなら、どのツールを使いますか?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「社内マニュアル100ページ」を根拠にした回答にしたい場合、どう組み合わせますか?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ベテランへのエスカレーション(AI が答えられない時)は どう設計しますか?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937760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9377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ヒント: 5ツールの得意分野を思い出して、"組み合わせ" で考えると解けます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総合シナリオ ② ─ 月次営業レポート自動化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5ツールを組み合わせて解決してください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📖 シナリオ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毎月末、各営業が「顧客との面談件数・成約・失注理由」を Excel に手入力して、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所長が集計 → 経営陣に配る 月次営業レポートを作成しています。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集計に半日、レポート作成に半日、合計1日 かかっています。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 "月末業務" を大幅に短縮したい。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8321040" cy="1920240"/>
          </a:xfrm>
          <a:prstGeom prst="roundRect">
            <a:avLst>
              <a:gd name="adj" fmla="val 3810"/>
            </a:avLst>
          </a:prstGeom>
          <a:solidFill>
            <a:srgbClr val="FFF3E0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❓ 考えてみてください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33756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Q1. 営業からのデータ収集を効率化するなら、どのツールが向いていますか?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Q2. 集計と "洞察コメント" 生成を自動化する仕組みは?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Q3. レポートを「経営陣が読みたくなる見た目」にするには?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937760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9377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💡 ヒント: 5ツールの得意分野を思い出して、"組み合わせ" で考えると解けます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この研修で持ち帰ってほしい "6つの要点"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実務で AI を使い続けるための、大事な考え方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11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1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は "万能" ではない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各ツールに得意分野あり、シーンで使い分ける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011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1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 → 実装 の順を守る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7099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いきなり作らず、まず "何を作るか" を全部言語化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536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20340"/>
            <a:ext cx="548640" cy="54864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2545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人 / AI / GAS の分担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9291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責任は人、情報整形はAI、繰り返し操作はGAS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36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720340"/>
            <a:ext cx="548640" cy="54864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20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545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更新しやすい構造で作る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9291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顧客情報と共通前提を分離、独自ルールはスプシで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6728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C76B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39540"/>
            <a:ext cx="548640" cy="548640"/>
          </a:xfrm>
          <a:prstGeom prst="ellipse">
            <a:avLst/>
          </a:prstGeom>
          <a:solidFill>
            <a:srgbClr val="C76B7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39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764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出力は必ず 人が確認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1483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"AI がやってくれる" ではなく "AI と一緒にやる"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72840"/>
            <a:ext cx="4023360" cy="1082040"/>
          </a:xfrm>
          <a:prstGeom prst="roundRect">
            <a:avLst>
              <a:gd name="adj" fmla="val 6761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93954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939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37642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動かして使いながら育てる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148328"/>
            <a:ext cx="3063240" cy="51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完璧を目指さない、月次で少しずつ改善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657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❓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 &amp; A タイム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分からなかった問題、実業務での活用相談、なんでもどうぞ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「このケースならどのツール?」の相談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858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「〇〇のプロンプトどう書けば?」の実演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428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「業務の△△を自動化したい」の設計相談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お疲れさまでした 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を "使いこなす" のはこれから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743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 完璧を目指さず、動かして 使いながら 育てる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324612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 1つずつでいい、"今日から始める" ものを1つ決める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 困ったら 同僚と / AIに / 講師に 相談する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皆さんの現場での "AI活用" を応援しています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2026-07-29T23:43:52Z</dcterms:created>
  <dcterms:modified xsi:type="dcterms:W3CDTF">2026-07-29T23:43:52Z</dcterms:modified>
</cp:coreProperties>
</file>