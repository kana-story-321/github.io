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2194560"/>
            <a:ext cx="9144000" cy="45720"/>
          </a:xfrm>
          <a:prstGeom prst="rect">
            <a:avLst/>
          </a:prstGeom>
          <a:solidFill>
            <a:srgbClr val="0E7C86"/>
          </a:solidFill>
          <a:ln/>
        </p:spPr>
      </p:sp>
      <p:sp>
        <p:nvSpPr>
          <p:cNvPr id="3" name="Text 1"/>
          <p:cNvSpPr/>
          <p:nvPr/>
        </p:nvSpPr>
        <p:spPr>
          <a:xfrm>
            <a:off x="548640" y="1188720"/>
            <a:ext cx="8046720" cy="960120"/>
          </a:xfrm>
          <a:prstGeom prst="rect">
            <a:avLst/>
          </a:prstGeom>
          <a:noFill/>
          <a:ln/>
        </p:spPr>
        <p:txBody>
          <a:bodyPr wrap="square" rtlCol="0" anchor="ctr"/>
          <a:lstStyle/>
          <a:p>
            <a:pPr algn="l" indent="0" marL="0">
              <a:buNone/>
            </a:pPr>
            <a:r>
              <a:rPr lang="en-US" sz="3800" b="1" dirty="0">
                <a:solidFill>
                  <a:srgbClr val="FFFFFF"/>
                </a:solidFill>
                <a:latin typeface="Yu Gothic UI Semibold" pitchFamily="34" charset="0"/>
                <a:ea typeface="Yu Gothic UI Semibold" pitchFamily="34" charset="-122"/>
                <a:cs typeface="Yu Gothic UI Semibold" pitchFamily="34" charset="-120"/>
              </a:rPr>
              <a:t>お金の有益情報「自動収集」を設計する</a:t>
            </a:r>
            <a:endParaRPr lang="en-US" sz="3800" dirty="0"/>
          </a:p>
        </p:txBody>
      </p:sp>
      <p:sp>
        <p:nvSpPr>
          <p:cNvPr id="4" name="Text 2"/>
          <p:cNvSpPr/>
          <p:nvPr/>
        </p:nvSpPr>
        <p:spPr>
          <a:xfrm>
            <a:off x="548640" y="2331720"/>
            <a:ext cx="8046720" cy="640080"/>
          </a:xfrm>
          <a:prstGeom prst="rect">
            <a:avLst/>
          </a:prstGeom>
          <a:noFill/>
          <a:ln/>
        </p:spPr>
        <p:txBody>
          <a:bodyPr wrap="square" rtlCol="0" anchor="ctr"/>
          <a:lstStyle/>
          <a:p>
            <a:pPr algn="l" indent="0" marL="0">
              <a:buNone/>
            </a:pPr>
            <a:r>
              <a:rPr lang="en-US" sz="1900" dirty="0">
                <a:solidFill>
                  <a:srgbClr val="E8A33D"/>
                </a:solidFill>
                <a:latin typeface="Yu Gothic UI" pitchFamily="34" charset="0"/>
                <a:ea typeface="Yu Gothic UI" pitchFamily="34" charset="-122"/>
                <a:cs typeface="Yu Gothic UI" pitchFamily="34" charset="-120"/>
              </a:rPr>
              <a:t>"何を届けるか"を先に決めてから、AIに探させる仕組みを組む</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86"/>
          </a:solidFill>
          <a:ln/>
        </p:spPr>
      </p:sp>
      <p:sp>
        <p:nvSpPr>
          <p:cNvPr id="3" name="Text 1"/>
          <p:cNvSpPr/>
          <p:nvPr/>
        </p:nvSpPr>
        <p:spPr>
          <a:xfrm>
            <a:off x="411480" y="201168"/>
            <a:ext cx="8412480" cy="594360"/>
          </a:xfrm>
          <a:prstGeom prst="rect">
            <a:avLst/>
          </a:prstGeom>
          <a:noFill/>
          <a:ln/>
        </p:spPr>
        <p:txBody>
          <a:bodyPr wrap="square" rtlCol="0" anchor="ctr"/>
          <a:lstStyle/>
          <a:p>
            <a:pPr indent="0" marL="0">
              <a:buNone/>
            </a:pPr>
            <a:r>
              <a:rPr lang="en-US" sz="2600" b="1" dirty="0">
                <a:solidFill>
                  <a:srgbClr val="1F3A5F"/>
                </a:solidFill>
                <a:latin typeface="Yu Gothic UI Semibold" pitchFamily="34" charset="0"/>
                <a:ea typeface="Yu Gothic UI Semibold" pitchFamily="34" charset="-122"/>
                <a:cs typeface="Yu Gothic UI Semibold" pitchFamily="34" charset="-120"/>
              </a:rPr>
              <a:t>学習目標</a:t>
            </a:r>
            <a:endParaRPr lang="en-US" sz="2600" dirty="0"/>
          </a:p>
        </p:txBody>
      </p:sp>
      <p:sp>
        <p:nvSpPr>
          <p:cNvPr id="4" name="Shape 2"/>
          <p:cNvSpPr/>
          <p:nvPr/>
        </p:nvSpPr>
        <p:spPr>
          <a:xfrm>
            <a:off x="411480" y="1417320"/>
            <a:ext cx="2651760" cy="2926080"/>
          </a:xfrm>
          <a:prstGeom prst="roundRect">
            <a:avLst>
              <a:gd name="adj" fmla="val 3448"/>
            </a:avLst>
          </a:prstGeom>
          <a:solidFill>
            <a:srgbClr val="F4F6F9"/>
          </a:solidFill>
          <a:ln w="19050">
            <a:solidFill>
              <a:srgbClr val="0E7C86"/>
            </a:solidFill>
            <a:prstDash val="solid"/>
          </a:ln>
        </p:spPr>
      </p:sp>
      <p:sp>
        <p:nvSpPr>
          <p:cNvPr id="5" name="Shape 3"/>
          <p:cNvSpPr/>
          <p:nvPr/>
        </p:nvSpPr>
        <p:spPr>
          <a:xfrm>
            <a:off x="502920" y="1417320"/>
            <a:ext cx="2468880" cy="73152"/>
          </a:xfrm>
          <a:prstGeom prst="rect">
            <a:avLst/>
          </a:prstGeom>
          <a:solidFill>
            <a:srgbClr val="0E7C86"/>
          </a:solidFill>
          <a:ln/>
        </p:spPr>
      </p:sp>
      <p:sp>
        <p:nvSpPr>
          <p:cNvPr id="6" name="Text 4"/>
          <p:cNvSpPr/>
          <p:nvPr/>
        </p:nvSpPr>
        <p:spPr>
          <a:xfrm>
            <a:off x="612648" y="1600200"/>
            <a:ext cx="914400" cy="640080"/>
          </a:xfrm>
          <a:prstGeom prst="rect">
            <a:avLst/>
          </a:prstGeom>
          <a:noFill/>
          <a:ln/>
        </p:spPr>
        <p:txBody>
          <a:bodyPr wrap="square" rtlCol="0" anchor="ctr"/>
          <a:lstStyle/>
          <a:p>
            <a:pPr indent="0" marL="0">
              <a:buNone/>
            </a:pPr>
            <a:r>
              <a:rPr lang="en-US" sz="3000" b="1" dirty="0">
                <a:solidFill>
                  <a:srgbClr val="0E7C86"/>
                </a:solidFill>
                <a:latin typeface="Yu Gothic UI Semibold" pitchFamily="34" charset="0"/>
                <a:ea typeface="Yu Gothic UI Semibold" pitchFamily="34" charset="-122"/>
                <a:cs typeface="Yu Gothic UI Semibold" pitchFamily="34" charset="-120"/>
              </a:rPr>
              <a:t>01</a:t>
            </a:r>
            <a:endParaRPr lang="en-US" sz="3000" dirty="0"/>
          </a:p>
        </p:txBody>
      </p:sp>
      <p:sp>
        <p:nvSpPr>
          <p:cNvPr id="7" name="Text 5"/>
          <p:cNvSpPr/>
          <p:nvPr/>
        </p:nvSpPr>
        <p:spPr>
          <a:xfrm>
            <a:off x="612648" y="2286000"/>
            <a:ext cx="2249424" cy="640080"/>
          </a:xfrm>
          <a:prstGeom prst="rect">
            <a:avLst/>
          </a:prstGeom>
          <a:noFill/>
          <a:ln/>
        </p:spPr>
        <p:txBody>
          <a:bodyPr wrap="square" rtlCol="0" anchor="t"/>
          <a:lstStyle/>
          <a:p>
            <a:pPr indent="0" marL="0">
              <a:buNone/>
            </a:pPr>
            <a:r>
              <a:rPr lang="en-US" sz="1700" b="1" dirty="0">
                <a:solidFill>
                  <a:srgbClr val="1F3A5F"/>
                </a:solidFill>
                <a:latin typeface="Yu Gothic UI Semibold" pitchFamily="34" charset="0"/>
                <a:ea typeface="Yu Gothic UI Semibold" pitchFamily="34" charset="-122"/>
                <a:cs typeface="Yu Gothic UI Semibold" pitchFamily="34" charset="-120"/>
              </a:rPr>
              <a:t>配信設計を明文化</a:t>
            </a:r>
            <a:endParaRPr lang="en-US" sz="1700" dirty="0"/>
          </a:p>
        </p:txBody>
      </p:sp>
      <p:sp>
        <p:nvSpPr>
          <p:cNvPr id="8" name="Text 6"/>
          <p:cNvSpPr/>
          <p:nvPr/>
        </p:nvSpPr>
        <p:spPr>
          <a:xfrm>
            <a:off x="612648" y="3017520"/>
            <a:ext cx="2249424" cy="1188720"/>
          </a:xfrm>
          <a:prstGeom prst="rect">
            <a:avLst/>
          </a:prstGeom>
          <a:noFill/>
          <a:ln/>
        </p:spPr>
        <p:txBody>
          <a:bodyPr wrap="square" rtlCol="0" anchor="t"/>
          <a:lstStyle/>
          <a:p>
            <a:pPr indent="0" marL="0">
              <a:buNone/>
            </a:pPr>
            <a:r>
              <a:rPr lang="en-US" sz="1300" dirty="0">
                <a:solidFill>
                  <a:srgbClr val="1A1A1A"/>
                </a:solidFill>
                <a:latin typeface="Yu Gothic UI" pitchFamily="34" charset="0"/>
                <a:ea typeface="Yu Gothic UI" pitchFamily="34" charset="-122"/>
                <a:cs typeface="Yu Gothic UI" pitchFamily="34" charset="-120"/>
              </a:rPr>
              <a:t>誰に・何を・どこから、を紙とスプシで固めてから実装に入る。</a:t>
            </a:r>
            <a:endParaRPr lang="en-US" sz="1300" dirty="0"/>
          </a:p>
        </p:txBody>
      </p:sp>
      <p:sp>
        <p:nvSpPr>
          <p:cNvPr id="9" name="Shape 7"/>
          <p:cNvSpPr/>
          <p:nvPr/>
        </p:nvSpPr>
        <p:spPr>
          <a:xfrm>
            <a:off x="3246120" y="1417320"/>
            <a:ext cx="2651760" cy="2926080"/>
          </a:xfrm>
          <a:prstGeom prst="roundRect">
            <a:avLst>
              <a:gd name="adj" fmla="val 3448"/>
            </a:avLst>
          </a:prstGeom>
          <a:solidFill>
            <a:srgbClr val="F4F6F9"/>
          </a:solidFill>
          <a:ln w="19050">
            <a:solidFill>
              <a:srgbClr val="E8A33D"/>
            </a:solidFill>
            <a:prstDash val="solid"/>
          </a:ln>
        </p:spPr>
      </p:sp>
      <p:sp>
        <p:nvSpPr>
          <p:cNvPr id="10" name="Shape 8"/>
          <p:cNvSpPr/>
          <p:nvPr/>
        </p:nvSpPr>
        <p:spPr>
          <a:xfrm>
            <a:off x="3337560" y="1417320"/>
            <a:ext cx="2468880" cy="73152"/>
          </a:xfrm>
          <a:prstGeom prst="rect">
            <a:avLst/>
          </a:prstGeom>
          <a:solidFill>
            <a:srgbClr val="E8A33D"/>
          </a:solidFill>
          <a:ln/>
        </p:spPr>
      </p:sp>
      <p:sp>
        <p:nvSpPr>
          <p:cNvPr id="11" name="Text 9"/>
          <p:cNvSpPr/>
          <p:nvPr/>
        </p:nvSpPr>
        <p:spPr>
          <a:xfrm>
            <a:off x="3447288" y="1600200"/>
            <a:ext cx="914400" cy="640080"/>
          </a:xfrm>
          <a:prstGeom prst="rect">
            <a:avLst/>
          </a:prstGeom>
          <a:noFill/>
          <a:ln/>
        </p:spPr>
        <p:txBody>
          <a:bodyPr wrap="square" rtlCol="0" anchor="ctr"/>
          <a:lstStyle/>
          <a:p>
            <a:pPr indent="0" marL="0">
              <a:buNone/>
            </a:pPr>
            <a:r>
              <a:rPr lang="en-US" sz="3000" b="1" dirty="0">
                <a:solidFill>
                  <a:srgbClr val="E8A33D"/>
                </a:solidFill>
                <a:latin typeface="Yu Gothic UI Semibold" pitchFamily="34" charset="0"/>
                <a:ea typeface="Yu Gothic UI Semibold" pitchFamily="34" charset="-122"/>
                <a:cs typeface="Yu Gothic UI Semibold" pitchFamily="34" charset="-120"/>
              </a:rPr>
              <a:t>02</a:t>
            </a:r>
            <a:endParaRPr lang="en-US" sz="3000" dirty="0"/>
          </a:p>
        </p:txBody>
      </p:sp>
      <p:sp>
        <p:nvSpPr>
          <p:cNvPr id="12" name="Text 10"/>
          <p:cNvSpPr/>
          <p:nvPr/>
        </p:nvSpPr>
        <p:spPr>
          <a:xfrm>
            <a:off x="3447288" y="2286000"/>
            <a:ext cx="2249424" cy="640080"/>
          </a:xfrm>
          <a:prstGeom prst="rect">
            <a:avLst/>
          </a:prstGeom>
          <a:noFill/>
          <a:ln/>
        </p:spPr>
        <p:txBody>
          <a:bodyPr wrap="square" rtlCol="0" anchor="t"/>
          <a:lstStyle/>
          <a:p>
            <a:pPr indent="0" marL="0">
              <a:buNone/>
            </a:pPr>
            <a:r>
              <a:rPr lang="en-US" sz="1700" b="1" dirty="0">
                <a:solidFill>
                  <a:srgbClr val="1F3A5F"/>
                </a:solidFill>
                <a:latin typeface="Yu Gothic UI Semibold" pitchFamily="34" charset="0"/>
                <a:ea typeface="Yu Gothic UI Semibold" pitchFamily="34" charset="-122"/>
                <a:cs typeface="Yu Gothic UI Semibold" pitchFamily="34" charset="-120"/>
              </a:rPr>
              <a:t>情報源をホワイトリスト化</a:t>
            </a:r>
            <a:endParaRPr lang="en-US" sz="1700" dirty="0"/>
          </a:p>
        </p:txBody>
      </p:sp>
      <p:sp>
        <p:nvSpPr>
          <p:cNvPr id="13" name="Text 11"/>
          <p:cNvSpPr/>
          <p:nvPr/>
        </p:nvSpPr>
        <p:spPr>
          <a:xfrm>
            <a:off x="3447288" y="3017520"/>
            <a:ext cx="2249424" cy="1188720"/>
          </a:xfrm>
          <a:prstGeom prst="rect">
            <a:avLst/>
          </a:prstGeom>
          <a:noFill/>
          <a:ln/>
        </p:spPr>
        <p:txBody>
          <a:bodyPr wrap="square" rtlCol="0" anchor="t"/>
          <a:lstStyle/>
          <a:p>
            <a:pPr indent="0" marL="0">
              <a:buNone/>
            </a:pPr>
            <a:r>
              <a:rPr lang="en-US" sz="1300" dirty="0">
                <a:solidFill>
                  <a:srgbClr val="1A1A1A"/>
                </a:solidFill>
                <a:latin typeface="Yu Gothic UI" pitchFamily="34" charset="0"/>
                <a:ea typeface="Yu Gothic UI" pitchFamily="34" charset="-122"/>
                <a:cs typeface="Yu Gothic UI" pitchFamily="34" charset="-120"/>
              </a:rPr>
              <a:t>公的機関中心の許可サイトを決め、AIの暴走を防ぐ枠を作る。</a:t>
            </a:r>
            <a:endParaRPr lang="en-US" sz="1300" dirty="0"/>
          </a:p>
        </p:txBody>
      </p:sp>
      <p:sp>
        <p:nvSpPr>
          <p:cNvPr id="14" name="Shape 12"/>
          <p:cNvSpPr/>
          <p:nvPr/>
        </p:nvSpPr>
        <p:spPr>
          <a:xfrm>
            <a:off x="6080760" y="1417320"/>
            <a:ext cx="2651760" cy="2926080"/>
          </a:xfrm>
          <a:prstGeom prst="roundRect">
            <a:avLst>
              <a:gd name="adj" fmla="val 3448"/>
            </a:avLst>
          </a:prstGeom>
          <a:solidFill>
            <a:srgbClr val="F4F6F9"/>
          </a:solidFill>
          <a:ln w="19050">
            <a:solidFill>
              <a:srgbClr val="1F3A5F"/>
            </a:solidFill>
            <a:prstDash val="solid"/>
          </a:ln>
        </p:spPr>
      </p:sp>
      <p:sp>
        <p:nvSpPr>
          <p:cNvPr id="15" name="Shape 13"/>
          <p:cNvSpPr/>
          <p:nvPr/>
        </p:nvSpPr>
        <p:spPr>
          <a:xfrm>
            <a:off x="6172200" y="1417320"/>
            <a:ext cx="2468880" cy="73152"/>
          </a:xfrm>
          <a:prstGeom prst="rect">
            <a:avLst/>
          </a:prstGeom>
          <a:solidFill>
            <a:srgbClr val="1F3A5F"/>
          </a:solidFill>
          <a:ln/>
        </p:spPr>
      </p:sp>
      <p:sp>
        <p:nvSpPr>
          <p:cNvPr id="16" name="Text 14"/>
          <p:cNvSpPr/>
          <p:nvPr/>
        </p:nvSpPr>
        <p:spPr>
          <a:xfrm>
            <a:off x="6281928" y="1600200"/>
            <a:ext cx="914400" cy="640080"/>
          </a:xfrm>
          <a:prstGeom prst="rect">
            <a:avLst/>
          </a:prstGeom>
          <a:noFill/>
          <a:ln/>
        </p:spPr>
        <p:txBody>
          <a:bodyPr wrap="square" rtlCol="0" anchor="ctr"/>
          <a:lstStyle/>
          <a:p>
            <a:pPr indent="0" marL="0">
              <a:buNone/>
            </a:pPr>
            <a:r>
              <a:rPr lang="en-US" sz="3000" b="1" dirty="0">
                <a:solidFill>
                  <a:srgbClr val="1F3A5F"/>
                </a:solidFill>
                <a:latin typeface="Yu Gothic UI Semibold" pitchFamily="34" charset="0"/>
                <a:ea typeface="Yu Gothic UI Semibold" pitchFamily="34" charset="-122"/>
                <a:cs typeface="Yu Gothic UI Semibold" pitchFamily="34" charset="-120"/>
              </a:rPr>
              <a:t>03</a:t>
            </a:r>
            <a:endParaRPr lang="en-US" sz="3000" dirty="0"/>
          </a:p>
        </p:txBody>
      </p:sp>
      <p:sp>
        <p:nvSpPr>
          <p:cNvPr id="17" name="Text 15"/>
          <p:cNvSpPr/>
          <p:nvPr/>
        </p:nvSpPr>
        <p:spPr>
          <a:xfrm>
            <a:off x="6281928" y="2286000"/>
            <a:ext cx="2249424" cy="640080"/>
          </a:xfrm>
          <a:prstGeom prst="rect">
            <a:avLst/>
          </a:prstGeom>
          <a:noFill/>
          <a:ln/>
        </p:spPr>
        <p:txBody>
          <a:bodyPr wrap="square" rtlCol="0" anchor="t"/>
          <a:lstStyle/>
          <a:p>
            <a:pPr indent="0" marL="0">
              <a:buNone/>
            </a:pPr>
            <a:r>
              <a:rPr lang="en-US" sz="1700" b="1" dirty="0">
                <a:solidFill>
                  <a:srgbClr val="1F3A5F"/>
                </a:solidFill>
                <a:latin typeface="Yu Gothic UI Semibold" pitchFamily="34" charset="0"/>
                <a:ea typeface="Yu Gothic UI Semibold" pitchFamily="34" charset="-122"/>
                <a:cs typeface="Yu Gothic UI Semibold" pitchFamily="34" charset="-120"/>
              </a:rPr>
              <a:t>情報収集GASをバイブコーディング</a:t>
            </a:r>
            <a:endParaRPr lang="en-US" sz="1700" dirty="0"/>
          </a:p>
        </p:txBody>
      </p:sp>
      <p:sp>
        <p:nvSpPr>
          <p:cNvPr id="18" name="Text 16"/>
          <p:cNvSpPr/>
          <p:nvPr/>
        </p:nvSpPr>
        <p:spPr>
          <a:xfrm>
            <a:off x="6281928" y="3017520"/>
            <a:ext cx="2249424" cy="1188720"/>
          </a:xfrm>
          <a:prstGeom prst="rect">
            <a:avLst/>
          </a:prstGeom>
          <a:noFill/>
          <a:ln/>
        </p:spPr>
        <p:txBody>
          <a:bodyPr wrap="square" rtlCol="0" anchor="t"/>
          <a:lstStyle/>
          <a:p>
            <a:pPr indent="0" marL="0">
              <a:buNone/>
            </a:pPr>
            <a:r>
              <a:rPr lang="en-US" sz="1300" dirty="0">
                <a:solidFill>
                  <a:srgbClr val="1A1A1A"/>
                </a:solidFill>
                <a:latin typeface="Yu Gothic UI" pitchFamily="34" charset="0"/>
                <a:ea typeface="Yu Gothic UI" pitchFamily="34" charset="-122"/>
                <a:cs typeface="Yu Gothic UI" pitchFamily="34" charset="-120"/>
              </a:rPr>
              <a:t>設計を土台に、Gemini+Google検索で自動収集を作る。</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86"/>
          </a:solidFill>
          <a:ln/>
        </p:spPr>
      </p:sp>
      <p:sp>
        <p:nvSpPr>
          <p:cNvPr id="3" name="Text 1"/>
          <p:cNvSpPr/>
          <p:nvPr/>
        </p:nvSpPr>
        <p:spPr>
          <a:xfrm>
            <a:off x="411480" y="201168"/>
            <a:ext cx="8412480" cy="594360"/>
          </a:xfrm>
          <a:prstGeom prst="rect">
            <a:avLst/>
          </a:prstGeom>
          <a:noFill/>
          <a:ln/>
        </p:spPr>
        <p:txBody>
          <a:bodyPr wrap="square" rtlCol="0" anchor="ctr"/>
          <a:lstStyle/>
          <a:p>
            <a:pPr indent="0" marL="0">
              <a:buNone/>
            </a:pPr>
            <a:r>
              <a:rPr lang="en-US" sz="2600" b="1" dirty="0">
                <a:solidFill>
                  <a:srgbClr val="1F3A5F"/>
                </a:solidFill>
                <a:latin typeface="Yu Gothic UI Semibold" pitchFamily="34" charset="0"/>
                <a:ea typeface="Yu Gothic UI Semibold" pitchFamily="34" charset="-122"/>
                <a:cs typeface="Yu Gothic UI Semibold" pitchFamily="34" charset="-120"/>
              </a:rPr>
              <a:t>STEP1: 用語と前提</a:t>
            </a:r>
            <a:endParaRPr lang="en-US" sz="2600" dirty="0"/>
          </a:p>
        </p:txBody>
      </p:sp>
      <p:sp>
        <p:nvSpPr>
          <p:cNvPr id="4" name="Shape 2"/>
          <p:cNvSpPr/>
          <p:nvPr/>
        </p:nvSpPr>
        <p:spPr>
          <a:xfrm>
            <a:off x="365760" y="1188720"/>
            <a:ext cx="1979676" cy="3017520"/>
          </a:xfrm>
          <a:prstGeom prst="roundRect">
            <a:avLst>
              <a:gd name="adj" fmla="val 4619"/>
            </a:avLst>
          </a:prstGeom>
          <a:solidFill>
            <a:srgbClr val="FFFFFF"/>
          </a:solidFill>
          <a:ln w="19050">
            <a:solidFill>
              <a:srgbClr val="0E7C86"/>
            </a:solidFill>
            <a:prstDash val="solid"/>
          </a:ln>
        </p:spPr>
      </p:sp>
      <p:sp>
        <p:nvSpPr>
          <p:cNvPr id="5" name="Shape 3"/>
          <p:cNvSpPr/>
          <p:nvPr/>
        </p:nvSpPr>
        <p:spPr>
          <a:xfrm>
            <a:off x="365760" y="1188720"/>
            <a:ext cx="1979676" cy="566928"/>
          </a:xfrm>
          <a:prstGeom prst="roundRect">
            <a:avLst>
              <a:gd name="adj" fmla="val 16129"/>
            </a:avLst>
          </a:prstGeom>
          <a:solidFill>
            <a:srgbClr val="0E7C86"/>
          </a:solidFill>
          <a:ln/>
        </p:spPr>
      </p:sp>
      <p:sp>
        <p:nvSpPr>
          <p:cNvPr id="6" name="Shape 4"/>
          <p:cNvSpPr/>
          <p:nvPr/>
        </p:nvSpPr>
        <p:spPr>
          <a:xfrm>
            <a:off x="365760" y="1417320"/>
            <a:ext cx="1979676" cy="338328"/>
          </a:xfrm>
          <a:prstGeom prst="rect">
            <a:avLst/>
          </a:prstGeom>
          <a:solidFill>
            <a:srgbClr val="0E7C86"/>
          </a:solidFill>
          <a:ln/>
        </p:spPr>
      </p:sp>
      <p:sp>
        <p:nvSpPr>
          <p:cNvPr id="7" name="Text 5"/>
          <p:cNvSpPr/>
          <p:nvPr/>
        </p:nvSpPr>
        <p:spPr>
          <a:xfrm>
            <a:off x="493776" y="1280160"/>
            <a:ext cx="1723644" cy="457200"/>
          </a:xfrm>
          <a:prstGeom prst="rect">
            <a:avLst/>
          </a:prstGeom>
          <a:noFill/>
          <a:ln/>
        </p:spPr>
        <p:txBody>
          <a:bodyPr wrap="square" rtlCol="0" anchor="ctr"/>
          <a:lstStyle/>
          <a:p>
            <a:pPr indent="0" marL="0">
              <a:buNone/>
            </a:pPr>
            <a:r>
              <a:rPr lang="en-US" sz="1600" b="1" dirty="0">
                <a:solidFill>
                  <a:srgbClr val="FFFFFF"/>
                </a:solidFill>
                <a:latin typeface="Yu Gothic UI Semibold" pitchFamily="34" charset="0"/>
                <a:ea typeface="Yu Gothic UI Semibold" pitchFamily="34" charset="-122"/>
                <a:cs typeface="Yu Gothic UI Semibold" pitchFamily="34" charset="-120"/>
              </a:rPr>
              <a:t>Google Search Grounding</a:t>
            </a:r>
            <a:endParaRPr lang="en-US" sz="1600" dirty="0"/>
          </a:p>
        </p:txBody>
      </p:sp>
      <p:sp>
        <p:nvSpPr>
          <p:cNvPr id="8" name="Text 6"/>
          <p:cNvSpPr/>
          <p:nvPr/>
        </p:nvSpPr>
        <p:spPr>
          <a:xfrm>
            <a:off x="530352" y="1938528"/>
            <a:ext cx="1650492" cy="2148840"/>
          </a:xfrm>
          <a:prstGeom prst="rect">
            <a:avLst/>
          </a:prstGeom>
          <a:noFill/>
          <a:ln/>
        </p:spPr>
        <p:txBody>
          <a:bodyPr wrap="square" rtlCol="0" anchor="t"/>
          <a:lstStyle/>
          <a:p>
            <a:pPr indent="0" marL="0">
              <a:spcAft>
                <a:spcPts val="600"/>
              </a:spcAft>
              <a:buNone/>
            </a:pPr>
            <a:r>
              <a:rPr lang="en-US" sz="1600" dirty="0">
                <a:solidFill>
                  <a:srgbClr val="1A1A1A"/>
                </a:solidFill>
                <a:latin typeface="Yu Gothic UI" pitchFamily="34" charset="0"/>
                <a:ea typeface="Yu Gothic UI" pitchFamily="34" charset="-122"/>
                <a:cs typeface="Yu Gothic UI" pitchFamily="34" charset="-120"/>
              </a:rPr>
              <a:t>Geminiが自動でGoogle検索をして、情報源URL付きで要約する機能。</a:t>
            </a:r>
            <a:endParaRPr lang="en-US" sz="1600" dirty="0"/>
          </a:p>
        </p:txBody>
      </p:sp>
      <p:sp>
        <p:nvSpPr>
          <p:cNvPr id="9" name="Shape 7"/>
          <p:cNvSpPr/>
          <p:nvPr/>
        </p:nvSpPr>
        <p:spPr>
          <a:xfrm>
            <a:off x="2510028" y="1188720"/>
            <a:ext cx="1979676" cy="3017520"/>
          </a:xfrm>
          <a:prstGeom prst="roundRect">
            <a:avLst>
              <a:gd name="adj" fmla="val 4619"/>
            </a:avLst>
          </a:prstGeom>
          <a:solidFill>
            <a:srgbClr val="FFFFFF"/>
          </a:solidFill>
          <a:ln w="19050">
            <a:solidFill>
              <a:srgbClr val="E8A33D"/>
            </a:solidFill>
            <a:prstDash val="solid"/>
          </a:ln>
        </p:spPr>
      </p:sp>
      <p:sp>
        <p:nvSpPr>
          <p:cNvPr id="10" name="Shape 8"/>
          <p:cNvSpPr/>
          <p:nvPr/>
        </p:nvSpPr>
        <p:spPr>
          <a:xfrm>
            <a:off x="2510028" y="1188720"/>
            <a:ext cx="1979676" cy="566928"/>
          </a:xfrm>
          <a:prstGeom prst="roundRect">
            <a:avLst>
              <a:gd name="adj" fmla="val 16129"/>
            </a:avLst>
          </a:prstGeom>
          <a:solidFill>
            <a:srgbClr val="E8A33D"/>
          </a:solidFill>
          <a:ln/>
        </p:spPr>
      </p:sp>
      <p:sp>
        <p:nvSpPr>
          <p:cNvPr id="11" name="Shape 9"/>
          <p:cNvSpPr/>
          <p:nvPr/>
        </p:nvSpPr>
        <p:spPr>
          <a:xfrm>
            <a:off x="2510028" y="1417320"/>
            <a:ext cx="1979676" cy="338328"/>
          </a:xfrm>
          <a:prstGeom prst="rect">
            <a:avLst/>
          </a:prstGeom>
          <a:solidFill>
            <a:srgbClr val="E8A33D"/>
          </a:solidFill>
          <a:ln/>
        </p:spPr>
      </p:sp>
      <p:sp>
        <p:nvSpPr>
          <p:cNvPr id="12" name="Text 10"/>
          <p:cNvSpPr/>
          <p:nvPr/>
        </p:nvSpPr>
        <p:spPr>
          <a:xfrm>
            <a:off x="2638044" y="1280160"/>
            <a:ext cx="1723644" cy="457200"/>
          </a:xfrm>
          <a:prstGeom prst="rect">
            <a:avLst/>
          </a:prstGeom>
          <a:noFill/>
          <a:ln/>
        </p:spPr>
        <p:txBody>
          <a:bodyPr wrap="square" rtlCol="0" anchor="ctr"/>
          <a:lstStyle/>
          <a:p>
            <a:pPr indent="0" marL="0">
              <a:buNone/>
            </a:pPr>
            <a:r>
              <a:rPr lang="en-US" sz="1600" b="1" dirty="0">
                <a:solidFill>
                  <a:srgbClr val="FFFFFF"/>
                </a:solidFill>
                <a:latin typeface="Yu Gothic UI Semibold" pitchFamily="34" charset="0"/>
                <a:ea typeface="Yu Gothic UI Semibold" pitchFamily="34" charset="-122"/>
                <a:cs typeface="Yu Gothic UI Semibold" pitchFamily="34" charset="-120"/>
              </a:rPr>
              <a:t>ホワイトリスト</a:t>
            </a:r>
            <a:endParaRPr lang="en-US" sz="1600" dirty="0"/>
          </a:p>
        </p:txBody>
      </p:sp>
      <p:sp>
        <p:nvSpPr>
          <p:cNvPr id="13" name="Text 11"/>
          <p:cNvSpPr/>
          <p:nvPr/>
        </p:nvSpPr>
        <p:spPr>
          <a:xfrm>
            <a:off x="2674620" y="1938528"/>
            <a:ext cx="1650492" cy="2148840"/>
          </a:xfrm>
          <a:prstGeom prst="rect">
            <a:avLst/>
          </a:prstGeom>
          <a:noFill/>
          <a:ln/>
        </p:spPr>
        <p:txBody>
          <a:bodyPr wrap="square" rtlCol="0" anchor="t"/>
          <a:lstStyle/>
          <a:p>
            <a:pPr indent="0" marL="0">
              <a:spcAft>
                <a:spcPts val="600"/>
              </a:spcAft>
              <a:buNone/>
            </a:pPr>
            <a:r>
              <a:rPr lang="en-US" sz="1600" dirty="0">
                <a:solidFill>
                  <a:srgbClr val="1A1A1A"/>
                </a:solidFill>
                <a:latin typeface="Yu Gothic UI" pitchFamily="34" charset="0"/>
                <a:ea typeface="Yu Gothic UI" pitchFamily="34" charset="-122"/>
                <a:cs typeface="Yu Gothic UI" pitchFamily="34" charset="-120"/>
              </a:rPr>
              <a:t>AIが情報を探しに行っていいサイトを事前に許可リスト化する仕組み。</a:t>
            </a:r>
            <a:endParaRPr lang="en-US" sz="1600" dirty="0"/>
          </a:p>
        </p:txBody>
      </p:sp>
      <p:sp>
        <p:nvSpPr>
          <p:cNvPr id="14" name="Shape 12"/>
          <p:cNvSpPr/>
          <p:nvPr/>
        </p:nvSpPr>
        <p:spPr>
          <a:xfrm>
            <a:off x="4654296" y="1188720"/>
            <a:ext cx="1979676" cy="3017520"/>
          </a:xfrm>
          <a:prstGeom prst="roundRect">
            <a:avLst>
              <a:gd name="adj" fmla="val 4619"/>
            </a:avLst>
          </a:prstGeom>
          <a:solidFill>
            <a:srgbClr val="FFFFFF"/>
          </a:solidFill>
          <a:ln w="19050">
            <a:solidFill>
              <a:srgbClr val="1F3A5F"/>
            </a:solidFill>
            <a:prstDash val="solid"/>
          </a:ln>
        </p:spPr>
      </p:sp>
      <p:sp>
        <p:nvSpPr>
          <p:cNvPr id="15" name="Shape 13"/>
          <p:cNvSpPr/>
          <p:nvPr/>
        </p:nvSpPr>
        <p:spPr>
          <a:xfrm>
            <a:off x="4654296" y="1188720"/>
            <a:ext cx="1979676" cy="566928"/>
          </a:xfrm>
          <a:prstGeom prst="roundRect">
            <a:avLst>
              <a:gd name="adj" fmla="val 16129"/>
            </a:avLst>
          </a:prstGeom>
          <a:solidFill>
            <a:srgbClr val="1F3A5F"/>
          </a:solidFill>
          <a:ln/>
        </p:spPr>
      </p:sp>
      <p:sp>
        <p:nvSpPr>
          <p:cNvPr id="16" name="Shape 14"/>
          <p:cNvSpPr/>
          <p:nvPr/>
        </p:nvSpPr>
        <p:spPr>
          <a:xfrm>
            <a:off x="4654296" y="1417320"/>
            <a:ext cx="1979676" cy="338328"/>
          </a:xfrm>
          <a:prstGeom prst="rect">
            <a:avLst/>
          </a:prstGeom>
          <a:solidFill>
            <a:srgbClr val="1F3A5F"/>
          </a:solidFill>
          <a:ln/>
        </p:spPr>
      </p:sp>
      <p:sp>
        <p:nvSpPr>
          <p:cNvPr id="17" name="Text 15"/>
          <p:cNvSpPr/>
          <p:nvPr/>
        </p:nvSpPr>
        <p:spPr>
          <a:xfrm>
            <a:off x="4782312" y="1280160"/>
            <a:ext cx="1723644" cy="457200"/>
          </a:xfrm>
          <a:prstGeom prst="rect">
            <a:avLst/>
          </a:prstGeom>
          <a:noFill/>
          <a:ln/>
        </p:spPr>
        <p:txBody>
          <a:bodyPr wrap="square" rtlCol="0" anchor="ctr"/>
          <a:lstStyle/>
          <a:p>
            <a:pPr indent="0" marL="0">
              <a:buNone/>
            </a:pPr>
            <a:r>
              <a:rPr lang="en-US" sz="1600" b="1" dirty="0">
                <a:solidFill>
                  <a:srgbClr val="FFFFFF"/>
                </a:solidFill>
                <a:latin typeface="Yu Gothic UI Semibold" pitchFamily="34" charset="0"/>
                <a:ea typeface="Yu Gothic UI Semibold" pitchFamily="34" charset="-122"/>
                <a:cs typeface="Yu Gothic UI Semibold" pitchFamily="34" charset="-120"/>
              </a:rPr>
              <a:t>情報源URL</a:t>
            </a:r>
            <a:endParaRPr lang="en-US" sz="1600" dirty="0"/>
          </a:p>
        </p:txBody>
      </p:sp>
      <p:sp>
        <p:nvSpPr>
          <p:cNvPr id="18" name="Text 16"/>
          <p:cNvSpPr/>
          <p:nvPr/>
        </p:nvSpPr>
        <p:spPr>
          <a:xfrm>
            <a:off x="4818888" y="1938528"/>
            <a:ext cx="1650492" cy="2148840"/>
          </a:xfrm>
          <a:prstGeom prst="rect">
            <a:avLst/>
          </a:prstGeom>
          <a:noFill/>
          <a:ln/>
        </p:spPr>
        <p:txBody>
          <a:bodyPr wrap="square" rtlCol="0" anchor="t"/>
          <a:lstStyle/>
          <a:p>
            <a:pPr indent="0" marL="0">
              <a:spcAft>
                <a:spcPts val="600"/>
              </a:spcAft>
              <a:buNone/>
            </a:pPr>
            <a:r>
              <a:rPr lang="en-US" sz="1600" dirty="0">
                <a:solidFill>
                  <a:srgbClr val="1A1A1A"/>
                </a:solidFill>
                <a:latin typeface="Yu Gothic UI" pitchFamily="34" charset="0"/>
                <a:ea typeface="Yu Gothic UI" pitchFamily="34" charset="-122"/>
                <a:cs typeface="Yu Gothic UI" pitchFamily="34" charset="-120"/>
              </a:rPr>
              <a:t>配信の信頼性を担保するため、本文末に必ず添付する参照リンク。</a:t>
            </a:r>
            <a:endParaRPr lang="en-US" sz="1600" dirty="0"/>
          </a:p>
        </p:txBody>
      </p:sp>
      <p:sp>
        <p:nvSpPr>
          <p:cNvPr id="19" name="Shape 17"/>
          <p:cNvSpPr/>
          <p:nvPr/>
        </p:nvSpPr>
        <p:spPr>
          <a:xfrm>
            <a:off x="6798564" y="1188720"/>
            <a:ext cx="1979676" cy="3017520"/>
          </a:xfrm>
          <a:prstGeom prst="roundRect">
            <a:avLst>
              <a:gd name="adj" fmla="val 4619"/>
            </a:avLst>
          </a:prstGeom>
          <a:solidFill>
            <a:srgbClr val="FFFFFF"/>
          </a:solidFill>
          <a:ln w="19050">
            <a:solidFill>
              <a:srgbClr val="7C5F8A"/>
            </a:solidFill>
            <a:prstDash val="solid"/>
          </a:ln>
        </p:spPr>
      </p:sp>
      <p:sp>
        <p:nvSpPr>
          <p:cNvPr id="20" name="Shape 18"/>
          <p:cNvSpPr/>
          <p:nvPr/>
        </p:nvSpPr>
        <p:spPr>
          <a:xfrm>
            <a:off x="6798564" y="1188720"/>
            <a:ext cx="1979676" cy="566928"/>
          </a:xfrm>
          <a:prstGeom prst="roundRect">
            <a:avLst>
              <a:gd name="adj" fmla="val 16129"/>
            </a:avLst>
          </a:prstGeom>
          <a:solidFill>
            <a:srgbClr val="7C5F8A"/>
          </a:solidFill>
          <a:ln/>
        </p:spPr>
      </p:sp>
      <p:sp>
        <p:nvSpPr>
          <p:cNvPr id="21" name="Shape 19"/>
          <p:cNvSpPr/>
          <p:nvPr/>
        </p:nvSpPr>
        <p:spPr>
          <a:xfrm>
            <a:off x="6798564" y="1417320"/>
            <a:ext cx="1979676" cy="338328"/>
          </a:xfrm>
          <a:prstGeom prst="rect">
            <a:avLst/>
          </a:prstGeom>
          <a:solidFill>
            <a:srgbClr val="7C5F8A"/>
          </a:solidFill>
          <a:ln/>
        </p:spPr>
      </p:sp>
      <p:sp>
        <p:nvSpPr>
          <p:cNvPr id="22" name="Text 20"/>
          <p:cNvSpPr/>
          <p:nvPr/>
        </p:nvSpPr>
        <p:spPr>
          <a:xfrm>
            <a:off x="6926580" y="1280160"/>
            <a:ext cx="1723644" cy="457200"/>
          </a:xfrm>
          <a:prstGeom prst="rect">
            <a:avLst/>
          </a:prstGeom>
          <a:noFill/>
          <a:ln/>
        </p:spPr>
        <p:txBody>
          <a:bodyPr wrap="square" rtlCol="0" anchor="ctr"/>
          <a:lstStyle/>
          <a:p>
            <a:pPr indent="0" marL="0">
              <a:buNone/>
            </a:pPr>
            <a:r>
              <a:rPr lang="en-US" sz="1600" b="1" dirty="0">
                <a:solidFill>
                  <a:srgbClr val="FFFFFF"/>
                </a:solidFill>
                <a:latin typeface="Yu Gothic UI Semibold" pitchFamily="34" charset="0"/>
                <a:ea typeface="Yu Gothic UI Semibold" pitchFamily="34" charset="-122"/>
                <a:cs typeface="Yu Gothic UI Semibold" pitchFamily="34" charset="-120"/>
              </a:rPr>
              <a:t>承認フロー</a:t>
            </a:r>
            <a:endParaRPr lang="en-US" sz="1600" dirty="0"/>
          </a:p>
        </p:txBody>
      </p:sp>
      <p:sp>
        <p:nvSpPr>
          <p:cNvPr id="23" name="Text 21"/>
          <p:cNvSpPr/>
          <p:nvPr/>
        </p:nvSpPr>
        <p:spPr>
          <a:xfrm>
            <a:off x="6963156" y="1938528"/>
            <a:ext cx="1650492" cy="2148840"/>
          </a:xfrm>
          <a:prstGeom prst="rect">
            <a:avLst/>
          </a:prstGeom>
          <a:noFill/>
          <a:ln/>
        </p:spPr>
        <p:txBody>
          <a:bodyPr wrap="square" rtlCol="0" anchor="t"/>
          <a:lstStyle/>
          <a:p>
            <a:pPr indent="0" marL="0">
              <a:spcAft>
                <a:spcPts val="600"/>
              </a:spcAft>
              <a:buNone/>
            </a:pPr>
            <a:r>
              <a:rPr lang="en-US" sz="1600" dirty="0">
                <a:solidFill>
                  <a:srgbClr val="1A1A1A"/>
                </a:solidFill>
                <a:latin typeface="Yu Gothic UI" pitchFamily="34" charset="0"/>
                <a:ea typeface="Yu Gothic UI" pitchFamily="34" charset="-122"/>
                <a:cs typeface="Yu Gothic UI" pitchFamily="34" charset="-120"/>
              </a:rPr>
              <a:t>AI生成をそのまま送らず、人がOK/NG判定してから配信する運用の仕組み。</a:t>
            </a:r>
            <a:endParaRPr lang="en-US" sz="1600" dirty="0"/>
          </a:p>
        </p:txBody>
      </p:sp>
      <p:sp>
        <p:nvSpPr>
          <p:cNvPr id="24" name="Text 22"/>
          <p:cNvSpPr/>
          <p:nvPr/>
        </p:nvSpPr>
        <p:spPr>
          <a:xfrm>
            <a:off x="365760" y="4389120"/>
            <a:ext cx="8412480" cy="914400"/>
          </a:xfrm>
          <a:prstGeom prst="rect">
            <a:avLst/>
          </a:prstGeom>
          <a:noFill/>
          <a:ln/>
        </p:spPr>
        <p:txBody>
          <a:bodyPr wrap="square" rtlCol="0" anchor="t"/>
          <a:lstStyle/>
          <a:p>
            <a:pPr indent="0" marL="0">
              <a:buNone/>
            </a:pPr>
            <a:r>
              <a:rPr lang="en-US" sz="1100" b="1" dirty="0">
                <a:solidFill>
                  <a:srgbClr val="E8A33D"/>
                </a:solidFill>
                <a:latin typeface="Yu Gothic UI" pitchFamily="34" charset="0"/>
                <a:ea typeface="Yu Gothic UI" pitchFamily="34" charset="-122"/>
                <a:cs typeface="Yu Gothic UI" pitchFamily="34" charset="-120"/>
              </a:rPr>
              <a:t>※ </a:t>
            </a:r>
            <a:pPr indent="0" marL="0">
              <a:buNone/>
            </a:pPr>
            <a:r>
              <a:rPr lang="en-US" sz="1100" b="1" dirty="0">
                <a:solidFill>
                  <a:srgbClr val="1F3A5F"/>
                </a:solidFill>
                <a:latin typeface="Yu Gothic UI" pitchFamily="34" charset="0"/>
                <a:ea typeface="Yu Gothic UI" pitchFamily="34" charset="-122"/>
                <a:cs typeface="Yu Gothic UI" pitchFamily="34" charset="-120"/>
              </a:rPr>
              <a:t>Google Search Grounding: </a:t>
            </a:r>
            <a:pPr indent="0" marL="0">
              <a:buNone/>
            </a:pPr>
            <a:r>
              <a:rPr lang="en-US" sz="1100" dirty="0">
                <a:solidFill>
                  <a:srgbClr val="555555"/>
                </a:solidFill>
                <a:latin typeface="Yu Gothic UI" pitchFamily="34" charset="0"/>
                <a:ea typeface="Yu Gothic UI" pitchFamily="34" charset="-122"/>
                <a:cs typeface="Yu Gothic UI" pitchFamily="34" charset="-120"/>
              </a:rPr>
              <a:t>ハルシネーション対策の切り札   </a:t>
            </a:r>
            <a:pPr indent="0" marL="0">
              <a:buNone/>
            </a:pPr>
            <a:r>
              <a:rPr lang="en-US" sz="1100" b="1" dirty="0">
                <a:solidFill>
                  <a:srgbClr val="E8A33D"/>
                </a:solidFill>
                <a:latin typeface="Yu Gothic UI" pitchFamily="34" charset="0"/>
                <a:ea typeface="Yu Gothic UI" pitchFamily="34" charset="-122"/>
                <a:cs typeface="Yu Gothic UI" pitchFamily="34" charset="-120"/>
              </a:rPr>
              <a:t>※ </a:t>
            </a:r>
            <a:pPr indent="0" marL="0">
              <a:buNone/>
            </a:pPr>
            <a:r>
              <a:rPr lang="en-US" sz="1100" b="1" dirty="0">
                <a:solidFill>
                  <a:srgbClr val="1F3A5F"/>
                </a:solidFill>
                <a:latin typeface="Yu Gothic UI" pitchFamily="34" charset="0"/>
                <a:ea typeface="Yu Gothic UI" pitchFamily="34" charset="-122"/>
                <a:cs typeface="Yu Gothic UI" pitchFamily="34" charset="-120"/>
              </a:rPr>
              <a:t>ホワイトリスト: </a:t>
            </a:r>
            <a:pPr indent="0" marL="0">
              <a:buNone/>
            </a:pPr>
            <a:r>
              <a:rPr lang="en-US" sz="1100" dirty="0">
                <a:solidFill>
                  <a:srgbClr val="555555"/>
                </a:solidFill>
                <a:latin typeface="Yu Gothic UI" pitchFamily="34" charset="0"/>
                <a:ea typeface="Yu Gothic UI" pitchFamily="34" charset="-122"/>
                <a:cs typeface="Yu Gothic UI" pitchFamily="34" charset="-120"/>
              </a:rPr>
              <a:t>国税庁/金融庁など公的機関中心   </a:t>
            </a:r>
            <a:pPr indent="0" marL="0">
              <a:buNone/>
            </a:pPr>
            <a:r>
              <a:rPr lang="en-US" sz="1100" b="1" dirty="0">
                <a:solidFill>
                  <a:srgbClr val="E8A33D"/>
                </a:solidFill>
                <a:latin typeface="Yu Gothic UI" pitchFamily="34" charset="0"/>
                <a:ea typeface="Yu Gothic UI" pitchFamily="34" charset="-122"/>
                <a:cs typeface="Yu Gothic UI" pitchFamily="34" charset="-120"/>
              </a:rPr>
              <a:t>※ </a:t>
            </a:r>
            <a:pPr indent="0" marL="0">
              <a:buNone/>
            </a:pPr>
            <a:r>
              <a:rPr lang="en-US" sz="1100" b="1" dirty="0">
                <a:solidFill>
                  <a:srgbClr val="1F3A5F"/>
                </a:solidFill>
                <a:latin typeface="Yu Gothic UI" pitchFamily="34" charset="0"/>
                <a:ea typeface="Yu Gothic UI" pitchFamily="34" charset="-122"/>
                <a:cs typeface="Yu Gothic UI" pitchFamily="34" charset="-120"/>
              </a:rPr>
              <a:t>情報源URL: </a:t>
            </a:r>
            <a:pPr indent="0" marL="0">
              <a:buNone/>
            </a:pPr>
            <a:r>
              <a:rPr lang="en-US" sz="1100" dirty="0">
                <a:solidFill>
                  <a:srgbClr val="555555"/>
                </a:solidFill>
                <a:latin typeface="Yu Gothic UI" pitchFamily="34" charset="0"/>
                <a:ea typeface="Yu Gothic UI" pitchFamily="34" charset="-122"/>
                <a:cs typeface="Yu Gothic UI" pitchFamily="34" charset="-120"/>
              </a:rPr>
              <a:t>出典なし配信は絶対NG   </a:t>
            </a:r>
            <a:pPr indent="0" marL="0">
              <a:buNone/>
            </a:pPr>
            <a:r>
              <a:rPr lang="en-US" sz="1100" b="1" dirty="0">
                <a:solidFill>
                  <a:srgbClr val="E8A33D"/>
                </a:solidFill>
                <a:latin typeface="Yu Gothic UI" pitchFamily="34" charset="0"/>
                <a:ea typeface="Yu Gothic UI" pitchFamily="34" charset="-122"/>
                <a:cs typeface="Yu Gothic UI" pitchFamily="34" charset="-120"/>
              </a:rPr>
              <a:t>※ </a:t>
            </a:r>
            <a:pPr indent="0" marL="0">
              <a:buNone/>
            </a:pPr>
            <a:r>
              <a:rPr lang="en-US" sz="1100" b="1" dirty="0">
                <a:solidFill>
                  <a:srgbClr val="1F3A5F"/>
                </a:solidFill>
                <a:latin typeface="Yu Gothic UI" pitchFamily="34" charset="0"/>
                <a:ea typeface="Yu Gothic UI" pitchFamily="34" charset="-122"/>
                <a:cs typeface="Yu Gothic UI" pitchFamily="34" charset="-120"/>
              </a:rPr>
              <a:t>承認フロー: </a:t>
            </a:r>
            <a:pPr indent="0" marL="0">
              <a:buNone/>
            </a:pPr>
            <a:r>
              <a:rPr lang="en-US" sz="1100" dirty="0">
                <a:solidFill>
                  <a:srgbClr val="555555"/>
                </a:solidFill>
                <a:latin typeface="Yu Gothic UI" pitchFamily="34" charset="0"/>
                <a:ea typeface="Yu Gothic UI" pitchFamily="34" charset="-122"/>
                <a:cs typeface="Yu Gothic UI" pitchFamily="34" charset="-120"/>
              </a:rPr>
              <a:t>AIの誤情報を止める最後の砦</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86"/>
          </a:solidFill>
          <a:ln/>
        </p:spPr>
      </p:sp>
      <p:sp>
        <p:nvSpPr>
          <p:cNvPr id="3" name="Text 1"/>
          <p:cNvSpPr/>
          <p:nvPr/>
        </p:nvSpPr>
        <p:spPr>
          <a:xfrm>
            <a:off x="411480" y="201168"/>
            <a:ext cx="8412480" cy="594360"/>
          </a:xfrm>
          <a:prstGeom prst="rect">
            <a:avLst/>
          </a:prstGeom>
          <a:noFill/>
          <a:ln/>
        </p:spPr>
        <p:txBody>
          <a:bodyPr wrap="square" rtlCol="0" anchor="ctr"/>
          <a:lstStyle/>
          <a:p>
            <a:pPr indent="0" marL="0">
              <a:buNone/>
            </a:pPr>
            <a:r>
              <a:rPr lang="en-US" sz="2600" b="1" dirty="0">
                <a:solidFill>
                  <a:srgbClr val="1F3A5F"/>
                </a:solidFill>
                <a:latin typeface="Yu Gothic UI Semibold" pitchFamily="34" charset="0"/>
                <a:ea typeface="Yu Gothic UI Semibold" pitchFamily="34" charset="-122"/>
                <a:cs typeface="Yu Gothic UI Semibold" pitchFamily="34" charset="-120"/>
              </a:rPr>
              <a:t>演習1 情報設計シートを作る (先に紙で設計)</a:t>
            </a:r>
            <a:endParaRPr lang="en-US" sz="2600" dirty="0"/>
          </a:p>
        </p:txBody>
      </p:sp>
      <p:sp>
        <p:nvSpPr>
          <p:cNvPr id="4" name="Shape 2"/>
          <p:cNvSpPr/>
          <p:nvPr/>
        </p:nvSpPr>
        <p:spPr>
          <a:xfrm>
            <a:off x="411480" y="1005840"/>
            <a:ext cx="4160520" cy="1783080"/>
          </a:xfrm>
          <a:prstGeom prst="roundRect">
            <a:avLst>
              <a:gd name="adj" fmla="val 4103"/>
            </a:avLst>
          </a:prstGeom>
          <a:solidFill>
            <a:srgbClr val="F4F6F9"/>
          </a:solidFill>
          <a:ln w="6350">
            <a:solidFill>
              <a:srgbClr val="D7DCE3"/>
            </a:solidFill>
            <a:prstDash val="solid"/>
          </a:ln>
        </p:spPr>
      </p:sp>
      <p:sp>
        <p:nvSpPr>
          <p:cNvPr id="5" name="Shape 3"/>
          <p:cNvSpPr/>
          <p:nvPr/>
        </p:nvSpPr>
        <p:spPr>
          <a:xfrm>
            <a:off x="411480" y="1005840"/>
            <a:ext cx="91440" cy="1783080"/>
          </a:xfrm>
          <a:prstGeom prst="rect">
            <a:avLst/>
          </a:prstGeom>
          <a:solidFill>
            <a:srgbClr val="1F3A5F"/>
          </a:solidFill>
          <a:ln/>
        </p:spPr>
      </p:sp>
      <p:sp>
        <p:nvSpPr>
          <p:cNvPr id="6" name="Text 4"/>
          <p:cNvSpPr/>
          <p:nvPr/>
        </p:nvSpPr>
        <p:spPr>
          <a:xfrm>
            <a:off x="612648" y="1097280"/>
            <a:ext cx="3849624" cy="384048"/>
          </a:xfrm>
          <a:prstGeom prst="rect">
            <a:avLst/>
          </a:prstGeom>
          <a:noFill/>
          <a:ln/>
        </p:spPr>
        <p:txBody>
          <a:bodyPr wrap="square" rtlCol="0" anchor="ctr"/>
          <a:lstStyle/>
          <a:p>
            <a:pPr indent="0" marL="0">
              <a:buNone/>
            </a:pPr>
            <a:r>
              <a:rPr lang="en-US" sz="1600" b="1" dirty="0">
                <a:solidFill>
                  <a:srgbClr val="1F3A5F"/>
                </a:solidFill>
                <a:latin typeface="Yu Gothic UI Semibold" pitchFamily="34" charset="0"/>
                <a:ea typeface="Yu Gothic UI Semibold" pitchFamily="34" charset="-122"/>
                <a:cs typeface="Yu Gothic UI Semibold" pitchFamily="34" charset="-120"/>
              </a:rPr>
              <a:t>📍 シチュエーション</a:t>
            </a:r>
            <a:endParaRPr lang="en-US" sz="1600" dirty="0"/>
          </a:p>
        </p:txBody>
      </p:sp>
      <p:sp>
        <p:nvSpPr>
          <p:cNvPr id="7" name="Text 5"/>
          <p:cNvSpPr/>
          <p:nvPr/>
        </p:nvSpPr>
        <p:spPr>
          <a:xfrm>
            <a:off x="649224" y="1536192"/>
            <a:ext cx="3703320" cy="1161288"/>
          </a:xfrm>
          <a:prstGeom prst="rect">
            <a:avLst/>
          </a:prstGeom>
          <a:noFill/>
          <a:ln/>
        </p:spPr>
        <p:txBody>
          <a:bodyPr wrap="square" rtlCol="0" anchor="t"/>
          <a:lstStyle/>
          <a:p>
            <a:pPr indent="0" marL="0">
              <a:spcAft>
                <a:spcPts val="400"/>
              </a:spcAft>
              <a:buNone/>
            </a:pPr>
            <a:r>
              <a:rPr lang="en-US" sz="1400" dirty="0">
                <a:solidFill>
                  <a:srgbClr val="1A1A1A"/>
                </a:solidFill>
                <a:latin typeface="Yu Gothic UI" pitchFamily="34" charset="0"/>
                <a:ea typeface="Yu Gothic UI" pitchFamily="34" charset="-122"/>
                <a:cs typeface="Yu Gothic UI" pitchFamily="34" charset="-120"/>
              </a:rPr>
              <a:t>いきなりコードを書くと、AIが何を返しても「まあいいか」で通ってしまう。</a:t>
            </a:r>
            <a:endParaRPr lang="en-US" sz="1400" dirty="0"/>
          </a:p>
          <a:p>
            <a:pPr indent="0" marL="0">
              <a:spcAft>
                <a:spcPts val="400"/>
              </a:spcAft>
              <a:buNone/>
            </a:pPr>
            <a:r>
              <a:rPr lang="en-US" sz="1400" dirty="0">
                <a:solidFill>
                  <a:srgbClr val="1A1A1A"/>
                </a:solidFill>
                <a:latin typeface="Yu Gothic UI" pitchFamily="34" charset="0"/>
                <a:ea typeface="Yu Gothic UI" pitchFamily="34" charset="-122"/>
                <a:cs typeface="Yu Gothic UI" pitchFamily="34" charset="-120"/>
              </a:rPr>
              <a:t>先に「誰に・何を・どこから・どんな形で」を紙(スプシ)に落として、判断基準を固める。</a:t>
            </a:r>
            <a:endParaRPr lang="en-US" sz="1400" dirty="0"/>
          </a:p>
        </p:txBody>
      </p:sp>
      <p:sp>
        <p:nvSpPr>
          <p:cNvPr id="8" name="Shape 6"/>
          <p:cNvSpPr/>
          <p:nvPr/>
        </p:nvSpPr>
        <p:spPr>
          <a:xfrm>
            <a:off x="411480" y="2880360"/>
            <a:ext cx="4160520" cy="2011680"/>
          </a:xfrm>
          <a:prstGeom prst="roundRect">
            <a:avLst>
              <a:gd name="adj" fmla="val 3636"/>
            </a:avLst>
          </a:prstGeom>
          <a:solidFill>
            <a:srgbClr val="F4F6F9"/>
          </a:solidFill>
          <a:ln w="6350">
            <a:solidFill>
              <a:srgbClr val="D7DCE3"/>
            </a:solidFill>
            <a:prstDash val="solid"/>
          </a:ln>
        </p:spPr>
      </p:sp>
      <p:sp>
        <p:nvSpPr>
          <p:cNvPr id="9" name="Shape 7"/>
          <p:cNvSpPr/>
          <p:nvPr/>
        </p:nvSpPr>
        <p:spPr>
          <a:xfrm>
            <a:off x="411480" y="2880360"/>
            <a:ext cx="91440" cy="2011680"/>
          </a:xfrm>
          <a:prstGeom prst="rect">
            <a:avLst/>
          </a:prstGeom>
          <a:solidFill>
            <a:srgbClr val="E8A33D"/>
          </a:solidFill>
          <a:ln/>
        </p:spPr>
      </p:sp>
      <p:sp>
        <p:nvSpPr>
          <p:cNvPr id="10" name="Text 8"/>
          <p:cNvSpPr/>
          <p:nvPr/>
        </p:nvSpPr>
        <p:spPr>
          <a:xfrm>
            <a:off x="612648" y="2971800"/>
            <a:ext cx="3849624" cy="384048"/>
          </a:xfrm>
          <a:prstGeom prst="rect">
            <a:avLst/>
          </a:prstGeom>
          <a:noFill/>
          <a:ln/>
        </p:spPr>
        <p:txBody>
          <a:bodyPr wrap="square" rtlCol="0" anchor="ctr"/>
          <a:lstStyle/>
          <a:p>
            <a:pPr indent="0" marL="0">
              <a:buNone/>
            </a:pPr>
            <a:r>
              <a:rPr lang="en-US" sz="1600" b="1" dirty="0">
                <a:solidFill>
                  <a:srgbClr val="E8A33D"/>
                </a:solidFill>
                <a:latin typeface="Yu Gothic UI Semibold" pitchFamily="34" charset="0"/>
                <a:ea typeface="Yu Gothic UI Semibold" pitchFamily="34" charset="-122"/>
                <a:cs typeface="Yu Gothic UI Semibold" pitchFamily="34" charset="-120"/>
              </a:rPr>
              <a:t>💭 プロンプトのヒント</a:t>
            </a:r>
            <a:endParaRPr lang="en-US" sz="1600" dirty="0"/>
          </a:p>
        </p:txBody>
      </p:sp>
      <p:sp>
        <p:nvSpPr>
          <p:cNvPr id="11" name="Text 9"/>
          <p:cNvSpPr/>
          <p:nvPr/>
        </p:nvSpPr>
        <p:spPr>
          <a:xfrm>
            <a:off x="649224" y="3410712"/>
            <a:ext cx="3703320" cy="1389888"/>
          </a:xfrm>
          <a:prstGeom prst="rect">
            <a:avLst/>
          </a:prstGeom>
          <a:noFill/>
          <a:ln/>
        </p:spPr>
        <p:txBody>
          <a:bodyPr wrap="square" rtlCol="0" anchor="t"/>
          <a:lstStyle/>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Gemini に「お金初心者向け配信の情報設計シートを作って」と依頼</a:t>
            </a:r>
            <a:endParaRPr lang="en-US" sz="1400" dirty="0"/>
          </a:p>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ホワイトリストは "個別助言せず 一般情報だけ" を条件に選ぶ</a:t>
            </a:r>
            <a:endParaRPr lang="en-US" sz="1400" dirty="0"/>
          </a:p>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「なぜこの設計にするか」の理由を各項目に添える</a:t>
            </a:r>
            <a:endParaRPr lang="en-US" sz="1400" dirty="0"/>
          </a:p>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スプシの「情報設計」「情報源マスター」の2シートに保存</a:t>
            </a:r>
            <a:endParaRPr lang="en-US" sz="1400" dirty="0"/>
          </a:p>
        </p:txBody>
      </p:sp>
      <p:sp>
        <p:nvSpPr>
          <p:cNvPr id="12" name="Shape 10"/>
          <p:cNvSpPr/>
          <p:nvPr/>
        </p:nvSpPr>
        <p:spPr>
          <a:xfrm>
            <a:off x="4663440" y="1005840"/>
            <a:ext cx="4160520" cy="3886200"/>
          </a:xfrm>
          <a:prstGeom prst="roundRect">
            <a:avLst>
              <a:gd name="adj" fmla="val 1882"/>
            </a:avLst>
          </a:prstGeom>
          <a:solidFill>
            <a:srgbClr val="F4F6F9"/>
          </a:solidFill>
          <a:ln w="6350">
            <a:solidFill>
              <a:srgbClr val="D7DCE3"/>
            </a:solidFill>
            <a:prstDash val="solid"/>
          </a:ln>
        </p:spPr>
      </p:sp>
      <p:sp>
        <p:nvSpPr>
          <p:cNvPr id="13" name="Shape 11"/>
          <p:cNvSpPr/>
          <p:nvPr/>
        </p:nvSpPr>
        <p:spPr>
          <a:xfrm>
            <a:off x="4663440" y="1005840"/>
            <a:ext cx="91440" cy="3886200"/>
          </a:xfrm>
          <a:prstGeom prst="rect">
            <a:avLst/>
          </a:prstGeom>
          <a:solidFill>
            <a:srgbClr val="0E7C86"/>
          </a:solidFill>
          <a:ln/>
        </p:spPr>
      </p:sp>
      <p:sp>
        <p:nvSpPr>
          <p:cNvPr id="14" name="Text 12"/>
          <p:cNvSpPr/>
          <p:nvPr/>
        </p:nvSpPr>
        <p:spPr>
          <a:xfrm>
            <a:off x="4864608" y="1097280"/>
            <a:ext cx="3849624" cy="384048"/>
          </a:xfrm>
          <a:prstGeom prst="rect">
            <a:avLst/>
          </a:prstGeom>
          <a:noFill/>
          <a:ln/>
        </p:spPr>
        <p:txBody>
          <a:bodyPr wrap="square" rtlCol="0" anchor="ctr"/>
          <a:lstStyle/>
          <a:p>
            <a:pPr indent="0" marL="0">
              <a:buNone/>
            </a:pPr>
            <a:r>
              <a:rPr lang="en-US" sz="1600" b="1" dirty="0">
                <a:solidFill>
                  <a:srgbClr val="0E7C86"/>
                </a:solidFill>
                <a:latin typeface="Yu Gothic UI Semibold" pitchFamily="34" charset="0"/>
                <a:ea typeface="Yu Gothic UI Semibold" pitchFamily="34" charset="-122"/>
                <a:cs typeface="Yu Gothic UI Semibold" pitchFamily="34" charset="-120"/>
              </a:rPr>
              <a:t>🎯 AIに作ってもらいたいもの</a:t>
            </a:r>
            <a:endParaRPr lang="en-US" sz="1600" dirty="0"/>
          </a:p>
        </p:txBody>
      </p:sp>
      <p:sp>
        <p:nvSpPr>
          <p:cNvPr id="15" name="Text 13"/>
          <p:cNvSpPr/>
          <p:nvPr/>
        </p:nvSpPr>
        <p:spPr>
          <a:xfrm>
            <a:off x="4901184" y="1536192"/>
            <a:ext cx="3703320" cy="3264408"/>
          </a:xfrm>
          <a:prstGeom prst="rect">
            <a:avLst/>
          </a:prstGeom>
          <a:noFill/>
          <a:ln/>
        </p:spPr>
        <p:txBody>
          <a:bodyPr wrap="square" rtlCol="0" anchor="t"/>
          <a:lstStyle/>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ターゲット読者像(お金初心者)を1段落で</a:t>
            </a:r>
            <a:endParaRPr lang="en-US" sz="1400" dirty="0"/>
          </a:p>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カテゴリを4つ確定(助成金/税金/株為替/お金の豆知識)</a:t>
            </a:r>
            <a:endParaRPr lang="en-US" sz="1400" dirty="0"/>
          </a:p>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情報源ホワイトリストを10サイト(国税庁/金融庁/中小企業庁/厚労省など)</a:t>
            </a:r>
            <a:endParaRPr lang="en-US" sz="1400" dirty="0"/>
          </a:p>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配信フォーマット(タイトル20字/本文300字/絵文字+改行/出典URL必須)</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86"/>
          </a:solidFill>
          <a:ln/>
        </p:spPr>
      </p:sp>
      <p:sp>
        <p:nvSpPr>
          <p:cNvPr id="3" name="Text 1"/>
          <p:cNvSpPr/>
          <p:nvPr/>
        </p:nvSpPr>
        <p:spPr>
          <a:xfrm>
            <a:off x="411480" y="201168"/>
            <a:ext cx="8412480" cy="594360"/>
          </a:xfrm>
          <a:prstGeom prst="rect">
            <a:avLst/>
          </a:prstGeom>
          <a:noFill/>
          <a:ln/>
        </p:spPr>
        <p:txBody>
          <a:bodyPr wrap="square" rtlCol="0" anchor="ctr"/>
          <a:lstStyle/>
          <a:p>
            <a:pPr indent="0" marL="0">
              <a:buNone/>
            </a:pPr>
            <a:r>
              <a:rPr lang="en-US" sz="2600" b="1" dirty="0">
                <a:solidFill>
                  <a:srgbClr val="1F3A5F"/>
                </a:solidFill>
                <a:latin typeface="Yu Gothic UI Semibold" pitchFamily="34" charset="0"/>
                <a:ea typeface="Yu Gothic UI Semibold" pitchFamily="34" charset="-122"/>
                <a:cs typeface="Yu Gothic UI Semibold" pitchFamily="34" charset="-120"/>
              </a:rPr>
              <a:t>演習1 情報設計シートを作る (先に紙で設計) — 観点別チェック</a:t>
            </a:r>
            <a:endParaRPr lang="en-US" sz="2600" dirty="0"/>
          </a:p>
        </p:txBody>
      </p:sp>
      <p:sp>
        <p:nvSpPr>
          <p:cNvPr id="4" name="Text 2"/>
          <p:cNvSpPr/>
          <p:nvPr/>
        </p:nvSpPr>
        <p:spPr>
          <a:xfrm>
            <a:off x="411480" y="804672"/>
            <a:ext cx="8412480" cy="365760"/>
          </a:xfrm>
          <a:prstGeom prst="rect">
            <a:avLst/>
          </a:prstGeom>
          <a:noFill/>
          <a:ln/>
        </p:spPr>
        <p:txBody>
          <a:bodyPr wrap="square" rtlCol="0" anchor="ctr"/>
          <a:lstStyle/>
          <a:p>
            <a:pPr indent="0" marL="0">
              <a:buNone/>
            </a:pPr>
            <a:r>
              <a:rPr lang="en-US" sz="1500" i="1" dirty="0">
                <a:solidFill>
                  <a:srgbClr val="555555"/>
                </a:solidFill>
                <a:latin typeface="Yu Gothic UI" pitchFamily="34" charset="0"/>
                <a:ea typeface="Yu Gothic UI" pitchFamily="34" charset="-122"/>
                <a:cs typeface="Yu Gothic UI" pitchFamily="34" charset="-120"/>
              </a:rPr>
              <a:t>プロンプトをさらにブラッシュアップ — 3観点でセルフチェック</a:t>
            </a:r>
            <a:endParaRPr lang="en-US" sz="1500" dirty="0"/>
          </a:p>
        </p:txBody>
      </p:sp>
      <p:sp>
        <p:nvSpPr>
          <p:cNvPr id="5" name="Shape 3"/>
          <p:cNvSpPr/>
          <p:nvPr/>
        </p:nvSpPr>
        <p:spPr>
          <a:xfrm>
            <a:off x="411480" y="1325880"/>
            <a:ext cx="2651760" cy="3474720"/>
          </a:xfrm>
          <a:prstGeom prst="roundRect">
            <a:avLst>
              <a:gd name="adj" fmla="val 3448"/>
            </a:avLst>
          </a:prstGeom>
          <a:solidFill>
            <a:srgbClr val="F4F6F9"/>
          </a:solidFill>
          <a:ln w="15240">
            <a:solidFill>
              <a:srgbClr val="0E7C86"/>
            </a:solidFill>
            <a:prstDash val="solid"/>
          </a:ln>
        </p:spPr>
      </p:sp>
      <p:sp>
        <p:nvSpPr>
          <p:cNvPr id="6" name="Shape 4"/>
          <p:cNvSpPr/>
          <p:nvPr/>
        </p:nvSpPr>
        <p:spPr>
          <a:xfrm>
            <a:off x="411480" y="1325880"/>
            <a:ext cx="2651760" cy="457200"/>
          </a:xfrm>
          <a:prstGeom prst="rect">
            <a:avLst/>
          </a:prstGeom>
          <a:solidFill>
            <a:srgbClr val="0E7C86"/>
          </a:solidFill>
          <a:ln/>
        </p:spPr>
      </p:sp>
      <p:sp>
        <p:nvSpPr>
          <p:cNvPr id="7" name="Text 5"/>
          <p:cNvSpPr/>
          <p:nvPr/>
        </p:nvSpPr>
        <p:spPr>
          <a:xfrm>
            <a:off x="539496" y="1380744"/>
            <a:ext cx="2395728" cy="365760"/>
          </a:xfrm>
          <a:prstGeom prst="rect">
            <a:avLst/>
          </a:prstGeom>
          <a:noFill/>
          <a:ln/>
        </p:spPr>
        <p:txBody>
          <a:bodyPr wrap="square" rtlCol="0" anchor="ctr"/>
          <a:lstStyle/>
          <a:p>
            <a:pPr indent="0" marL="0">
              <a:buNone/>
            </a:pPr>
            <a:r>
              <a:rPr lang="en-US" sz="1500" b="1" dirty="0">
                <a:solidFill>
                  <a:srgbClr val="FFFFFF"/>
                </a:solidFill>
                <a:latin typeface="Yu Gothic UI Semibold" pitchFamily="34" charset="0"/>
                <a:ea typeface="Yu Gothic UI Semibold" pitchFamily="34" charset="-122"/>
                <a:cs typeface="Yu Gothic UI Semibold" pitchFamily="34" charset="-120"/>
              </a:rPr>
              <a:t>観点 A</a:t>
            </a:r>
            <a:endParaRPr lang="en-US" sz="1500" dirty="0"/>
          </a:p>
        </p:txBody>
      </p:sp>
      <p:sp>
        <p:nvSpPr>
          <p:cNvPr id="8" name="Text 6"/>
          <p:cNvSpPr/>
          <p:nvPr/>
        </p:nvSpPr>
        <p:spPr>
          <a:xfrm>
            <a:off x="594360" y="1892808"/>
            <a:ext cx="2359152" cy="548640"/>
          </a:xfrm>
          <a:prstGeom prst="rect">
            <a:avLst/>
          </a:prstGeom>
          <a:noFill/>
          <a:ln/>
        </p:spPr>
        <p:txBody>
          <a:bodyPr wrap="square" rtlCol="0" anchor="t"/>
          <a:lstStyle/>
          <a:p>
            <a:pPr indent="0" marL="0">
              <a:buNone/>
            </a:pPr>
            <a:r>
              <a:rPr lang="en-US" sz="1500" b="1" dirty="0">
                <a:solidFill>
                  <a:srgbClr val="1F3A5F"/>
                </a:solidFill>
                <a:latin typeface="Yu Gothic UI Semibold" pitchFamily="34" charset="0"/>
                <a:ea typeface="Yu Gothic UI Semibold" pitchFamily="34" charset="-122"/>
                <a:cs typeface="Yu Gothic UI Semibold" pitchFamily="34" charset="-120"/>
              </a:rPr>
              <a:t>A. カテゴリ偏り</a:t>
            </a:r>
            <a:endParaRPr lang="en-US" sz="1500" dirty="0"/>
          </a:p>
        </p:txBody>
      </p:sp>
      <p:sp>
        <p:nvSpPr>
          <p:cNvPr id="9" name="Text 7"/>
          <p:cNvSpPr/>
          <p:nvPr/>
        </p:nvSpPr>
        <p:spPr>
          <a:xfrm>
            <a:off x="594360" y="2514600"/>
            <a:ext cx="2359152" cy="1051560"/>
          </a:xfrm>
          <a:prstGeom prst="rect">
            <a:avLst/>
          </a:prstGeom>
          <a:noFill/>
          <a:ln/>
        </p:spPr>
        <p:txBody>
          <a:bodyPr wrap="square" rtlCol="0" anchor="t"/>
          <a:lstStyle/>
          <a:p>
            <a:pPr indent="0" marL="0">
              <a:buNone/>
            </a:pPr>
            <a:r>
              <a:rPr lang="en-US" sz="1400" b="1" dirty="0">
                <a:solidFill>
                  <a:srgbClr val="0E7C86"/>
                </a:solidFill>
                <a:latin typeface="Yu Gothic UI" pitchFamily="34" charset="0"/>
                <a:ea typeface="Yu Gothic UI" pitchFamily="34" charset="-122"/>
                <a:cs typeface="Yu Gothic UI" pitchFamily="34" charset="-120"/>
              </a:rPr>
              <a:t>✓  </a:t>
            </a:r>
            <a:pPr indent="0" marL="0">
              <a:buNone/>
            </a:pPr>
            <a:r>
              <a:rPr lang="en-US" sz="1300" dirty="0">
                <a:solidFill>
                  <a:srgbClr val="1A1A1A"/>
                </a:solidFill>
                <a:latin typeface="Yu Gothic UI" pitchFamily="34" charset="0"/>
                <a:ea typeface="Yu Gothic UI" pitchFamily="34" charset="-122"/>
                <a:cs typeface="Yu Gothic UI" pitchFamily="34" charset="-120"/>
              </a:rPr>
              <a:t>4カテゴリのバランスが取れているか(税だけに偏ってないか)</a:t>
            </a:r>
            <a:endParaRPr lang="en-US" sz="1300" dirty="0"/>
          </a:p>
        </p:txBody>
      </p:sp>
      <p:sp>
        <p:nvSpPr>
          <p:cNvPr id="10" name="Text 8"/>
          <p:cNvSpPr/>
          <p:nvPr/>
        </p:nvSpPr>
        <p:spPr>
          <a:xfrm>
            <a:off x="594360" y="3611880"/>
            <a:ext cx="2359152" cy="1097280"/>
          </a:xfrm>
          <a:prstGeom prst="rect">
            <a:avLst/>
          </a:prstGeom>
          <a:noFill/>
          <a:ln/>
        </p:spPr>
        <p:txBody>
          <a:bodyPr wrap="square" rtlCol="0" anchor="t"/>
          <a:lstStyle/>
          <a:p>
            <a:pPr indent="0" marL="0">
              <a:buNone/>
            </a:pPr>
            <a:r>
              <a:rPr lang="en-US" sz="1400" b="1" dirty="0">
                <a:solidFill>
                  <a:srgbClr val="E8A33D"/>
                </a:solidFill>
                <a:latin typeface="Yu Gothic UI" pitchFamily="34" charset="0"/>
                <a:ea typeface="Yu Gothic UI" pitchFamily="34" charset="-122"/>
                <a:cs typeface="Yu Gothic UI" pitchFamily="34" charset="-120"/>
              </a:rPr>
              <a:t>💡  </a:t>
            </a:r>
            <a:pPr indent="0" marL="0">
              <a:buNone/>
            </a:pPr>
            <a:r>
              <a:rPr lang="en-US" sz="1300" dirty="0">
                <a:solidFill>
                  <a:srgbClr val="1A1A1A"/>
                </a:solidFill>
                <a:latin typeface="Yu Gothic UI" pitchFamily="34" charset="0"/>
                <a:ea typeface="Yu Gothic UI" pitchFamily="34" charset="-122"/>
                <a:cs typeface="Yu Gothic UI" pitchFamily="34" charset="-120"/>
              </a:rPr>
              <a:t>過去1ヶ月のニュース10件で「どのカテゴリに何本あるか」を試算</a:t>
            </a:r>
            <a:endParaRPr lang="en-US" sz="1300" dirty="0"/>
          </a:p>
        </p:txBody>
      </p:sp>
      <p:sp>
        <p:nvSpPr>
          <p:cNvPr id="11" name="Shape 9"/>
          <p:cNvSpPr/>
          <p:nvPr/>
        </p:nvSpPr>
        <p:spPr>
          <a:xfrm>
            <a:off x="3246120" y="1325880"/>
            <a:ext cx="2651760" cy="3474720"/>
          </a:xfrm>
          <a:prstGeom prst="roundRect">
            <a:avLst>
              <a:gd name="adj" fmla="val 3448"/>
            </a:avLst>
          </a:prstGeom>
          <a:solidFill>
            <a:srgbClr val="F4F6F9"/>
          </a:solidFill>
          <a:ln w="15240">
            <a:solidFill>
              <a:srgbClr val="E8A33D"/>
            </a:solidFill>
            <a:prstDash val="solid"/>
          </a:ln>
        </p:spPr>
      </p:sp>
      <p:sp>
        <p:nvSpPr>
          <p:cNvPr id="12" name="Shape 10"/>
          <p:cNvSpPr/>
          <p:nvPr/>
        </p:nvSpPr>
        <p:spPr>
          <a:xfrm>
            <a:off x="3246120" y="1325880"/>
            <a:ext cx="2651760" cy="457200"/>
          </a:xfrm>
          <a:prstGeom prst="rect">
            <a:avLst/>
          </a:prstGeom>
          <a:solidFill>
            <a:srgbClr val="E8A33D"/>
          </a:solidFill>
          <a:ln/>
        </p:spPr>
      </p:sp>
      <p:sp>
        <p:nvSpPr>
          <p:cNvPr id="13" name="Text 11"/>
          <p:cNvSpPr/>
          <p:nvPr/>
        </p:nvSpPr>
        <p:spPr>
          <a:xfrm>
            <a:off x="3374136" y="1380744"/>
            <a:ext cx="2395728" cy="365760"/>
          </a:xfrm>
          <a:prstGeom prst="rect">
            <a:avLst/>
          </a:prstGeom>
          <a:noFill/>
          <a:ln/>
        </p:spPr>
        <p:txBody>
          <a:bodyPr wrap="square" rtlCol="0" anchor="ctr"/>
          <a:lstStyle/>
          <a:p>
            <a:pPr indent="0" marL="0">
              <a:buNone/>
            </a:pPr>
            <a:r>
              <a:rPr lang="en-US" sz="1500" b="1" dirty="0">
                <a:solidFill>
                  <a:srgbClr val="FFFFFF"/>
                </a:solidFill>
                <a:latin typeface="Yu Gothic UI Semibold" pitchFamily="34" charset="0"/>
                <a:ea typeface="Yu Gothic UI Semibold" pitchFamily="34" charset="-122"/>
                <a:cs typeface="Yu Gothic UI Semibold" pitchFamily="34" charset="-120"/>
              </a:rPr>
              <a:t>観点 B</a:t>
            </a:r>
            <a:endParaRPr lang="en-US" sz="1500" dirty="0"/>
          </a:p>
        </p:txBody>
      </p:sp>
      <p:sp>
        <p:nvSpPr>
          <p:cNvPr id="14" name="Text 12"/>
          <p:cNvSpPr/>
          <p:nvPr/>
        </p:nvSpPr>
        <p:spPr>
          <a:xfrm>
            <a:off x="3429000" y="1892808"/>
            <a:ext cx="2359152" cy="548640"/>
          </a:xfrm>
          <a:prstGeom prst="rect">
            <a:avLst/>
          </a:prstGeom>
          <a:noFill/>
          <a:ln/>
        </p:spPr>
        <p:txBody>
          <a:bodyPr wrap="square" rtlCol="0" anchor="t"/>
          <a:lstStyle/>
          <a:p>
            <a:pPr indent="0" marL="0">
              <a:buNone/>
            </a:pPr>
            <a:r>
              <a:rPr lang="en-US" sz="1500" b="1" dirty="0">
                <a:solidFill>
                  <a:srgbClr val="1F3A5F"/>
                </a:solidFill>
                <a:latin typeface="Yu Gothic UI Semibold" pitchFamily="34" charset="0"/>
                <a:ea typeface="Yu Gothic UI Semibold" pitchFamily="34" charset="-122"/>
                <a:cs typeface="Yu Gothic UI Semibold" pitchFamily="34" charset="-120"/>
              </a:rPr>
              <a:t>B. 情報源の信頼性</a:t>
            </a:r>
            <a:endParaRPr lang="en-US" sz="1500" dirty="0"/>
          </a:p>
        </p:txBody>
      </p:sp>
      <p:sp>
        <p:nvSpPr>
          <p:cNvPr id="15" name="Text 13"/>
          <p:cNvSpPr/>
          <p:nvPr/>
        </p:nvSpPr>
        <p:spPr>
          <a:xfrm>
            <a:off x="3429000" y="2514600"/>
            <a:ext cx="2359152" cy="1051560"/>
          </a:xfrm>
          <a:prstGeom prst="rect">
            <a:avLst/>
          </a:prstGeom>
          <a:noFill/>
          <a:ln/>
        </p:spPr>
        <p:txBody>
          <a:bodyPr wrap="square" rtlCol="0" anchor="t"/>
          <a:lstStyle/>
          <a:p>
            <a:pPr indent="0" marL="0">
              <a:buNone/>
            </a:pPr>
            <a:r>
              <a:rPr lang="en-US" sz="1400" b="1" dirty="0">
                <a:solidFill>
                  <a:srgbClr val="0E7C86"/>
                </a:solidFill>
                <a:latin typeface="Yu Gothic UI" pitchFamily="34" charset="0"/>
                <a:ea typeface="Yu Gothic UI" pitchFamily="34" charset="-122"/>
                <a:cs typeface="Yu Gothic UI" pitchFamily="34" charset="-120"/>
              </a:rPr>
              <a:t>✓  </a:t>
            </a:r>
            <a:pPr indent="0" marL="0">
              <a:buNone/>
            </a:pPr>
            <a:r>
              <a:rPr lang="en-US" sz="1300" dirty="0">
                <a:solidFill>
                  <a:srgbClr val="1A1A1A"/>
                </a:solidFill>
                <a:latin typeface="Yu Gothic UI" pitchFamily="34" charset="0"/>
                <a:ea typeface="Yu Gothic UI" pitchFamily="34" charset="-122"/>
                <a:cs typeface="Yu Gothic UI" pitchFamily="34" charset="-120"/>
              </a:rPr>
              <a:t>ホワイトリスト10サイトすべて "公的 or 準公的" と言えるか</a:t>
            </a:r>
            <a:endParaRPr lang="en-US" sz="1300" dirty="0"/>
          </a:p>
        </p:txBody>
      </p:sp>
      <p:sp>
        <p:nvSpPr>
          <p:cNvPr id="16" name="Text 14"/>
          <p:cNvSpPr/>
          <p:nvPr/>
        </p:nvSpPr>
        <p:spPr>
          <a:xfrm>
            <a:off x="3429000" y="3611880"/>
            <a:ext cx="2359152" cy="1097280"/>
          </a:xfrm>
          <a:prstGeom prst="rect">
            <a:avLst/>
          </a:prstGeom>
          <a:noFill/>
          <a:ln/>
        </p:spPr>
        <p:txBody>
          <a:bodyPr wrap="square" rtlCol="0" anchor="t"/>
          <a:lstStyle/>
          <a:p>
            <a:pPr indent="0" marL="0">
              <a:buNone/>
            </a:pPr>
            <a:r>
              <a:rPr lang="en-US" sz="1400" b="1" dirty="0">
                <a:solidFill>
                  <a:srgbClr val="E8A33D"/>
                </a:solidFill>
                <a:latin typeface="Yu Gothic UI" pitchFamily="34" charset="0"/>
                <a:ea typeface="Yu Gothic UI" pitchFamily="34" charset="-122"/>
                <a:cs typeface="Yu Gothic UI" pitchFamily="34" charset="-120"/>
              </a:rPr>
              <a:t>💡  </a:t>
            </a:r>
            <a:pPr indent="0" marL="0">
              <a:buNone/>
            </a:pPr>
            <a:r>
              <a:rPr lang="en-US" sz="1300" dirty="0">
                <a:solidFill>
                  <a:srgbClr val="1A1A1A"/>
                </a:solidFill>
                <a:latin typeface="Yu Gothic UI" pitchFamily="34" charset="0"/>
                <a:ea typeface="Yu Gothic UI" pitchFamily="34" charset="-122"/>
                <a:cs typeface="Yu Gothic UI" pitchFamily="34" charset="-120"/>
              </a:rPr>
              <a:t>個人ブログ/アフィリエイトは全部除外、迷ったら金融庁で代替</a:t>
            </a:r>
            <a:endParaRPr lang="en-US" sz="1300" dirty="0"/>
          </a:p>
        </p:txBody>
      </p:sp>
      <p:sp>
        <p:nvSpPr>
          <p:cNvPr id="17" name="Shape 15"/>
          <p:cNvSpPr/>
          <p:nvPr/>
        </p:nvSpPr>
        <p:spPr>
          <a:xfrm>
            <a:off x="6080760" y="1325880"/>
            <a:ext cx="2651760" cy="3474720"/>
          </a:xfrm>
          <a:prstGeom prst="roundRect">
            <a:avLst>
              <a:gd name="adj" fmla="val 3448"/>
            </a:avLst>
          </a:prstGeom>
          <a:solidFill>
            <a:srgbClr val="F4F6F9"/>
          </a:solidFill>
          <a:ln w="15240">
            <a:solidFill>
              <a:srgbClr val="7C5F8A"/>
            </a:solidFill>
            <a:prstDash val="solid"/>
          </a:ln>
        </p:spPr>
      </p:sp>
      <p:sp>
        <p:nvSpPr>
          <p:cNvPr id="18" name="Shape 16"/>
          <p:cNvSpPr/>
          <p:nvPr/>
        </p:nvSpPr>
        <p:spPr>
          <a:xfrm>
            <a:off x="6080760" y="1325880"/>
            <a:ext cx="2651760" cy="457200"/>
          </a:xfrm>
          <a:prstGeom prst="rect">
            <a:avLst/>
          </a:prstGeom>
          <a:solidFill>
            <a:srgbClr val="7C5F8A"/>
          </a:solidFill>
          <a:ln/>
        </p:spPr>
      </p:sp>
      <p:sp>
        <p:nvSpPr>
          <p:cNvPr id="19" name="Text 17"/>
          <p:cNvSpPr/>
          <p:nvPr/>
        </p:nvSpPr>
        <p:spPr>
          <a:xfrm>
            <a:off x="6208776" y="1380744"/>
            <a:ext cx="2395728" cy="365760"/>
          </a:xfrm>
          <a:prstGeom prst="rect">
            <a:avLst/>
          </a:prstGeom>
          <a:noFill/>
          <a:ln/>
        </p:spPr>
        <p:txBody>
          <a:bodyPr wrap="square" rtlCol="0" anchor="ctr"/>
          <a:lstStyle/>
          <a:p>
            <a:pPr indent="0" marL="0">
              <a:buNone/>
            </a:pPr>
            <a:r>
              <a:rPr lang="en-US" sz="1500" b="1" dirty="0">
                <a:solidFill>
                  <a:srgbClr val="FFFFFF"/>
                </a:solidFill>
                <a:latin typeface="Yu Gothic UI Semibold" pitchFamily="34" charset="0"/>
                <a:ea typeface="Yu Gothic UI Semibold" pitchFamily="34" charset="-122"/>
                <a:cs typeface="Yu Gothic UI Semibold" pitchFamily="34" charset="-120"/>
              </a:rPr>
              <a:t>観点 C</a:t>
            </a:r>
            <a:endParaRPr lang="en-US" sz="1500" dirty="0"/>
          </a:p>
        </p:txBody>
      </p:sp>
      <p:sp>
        <p:nvSpPr>
          <p:cNvPr id="20" name="Text 18"/>
          <p:cNvSpPr/>
          <p:nvPr/>
        </p:nvSpPr>
        <p:spPr>
          <a:xfrm>
            <a:off x="6263640" y="1892808"/>
            <a:ext cx="2359152" cy="548640"/>
          </a:xfrm>
          <a:prstGeom prst="rect">
            <a:avLst/>
          </a:prstGeom>
          <a:noFill/>
          <a:ln/>
        </p:spPr>
        <p:txBody>
          <a:bodyPr wrap="square" rtlCol="0" anchor="t"/>
          <a:lstStyle/>
          <a:p>
            <a:pPr indent="0" marL="0">
              <a:buNone/>
            </a:pPr>
            <a:r>
              <a:rPr lang="en-US" sz="1500" b="1" dirty="0">
                <a:solidFill>
                  <a:srgbClr val="1F3A5F"/>
                </a:solidFill>
                <a:latin typeface="Yu Gothic UI Semibold" pitchFamily="34" charset="0"/>
                <a:ea typeface="Yu Gothic UI Semibold" pitchFamily="34" charset="-122"/>
                <a:cs typeface="Yu Gothic UI Semibold" pitchFamily="34" charset="-120"/>
              </a:rPr>
              <a:t>C. 配信フォーマットの再現性</a:t>
            </a:r>
            <a:endParaRPr lang="en-US" sz="1500" dirty="0"/>
          </a:p>
        </p:txBody>
      </p:sp>
      <p:sp>
        <p:nvSpPr>
          <p:cNvPr id="21" name="Text 19"/>
          <p:cNvSpPr/>
          <p:nvPr/>
        </p:nvSpPr>
        <p:spPr>
          <a:xfrm>
            <a:off x="6263640" y="2514600"/>
            <a:ext cx="2359152" cy="1051560"/>
          </a:xfrm>
          <a:prstGeom prst="rect">
            <a:avLst/>
          </a:prstGeom>
          <a:noFill/>
          <a:ln/>
        </p:spPr>
        <p:txBody>
          <a:bodyPr wrap="square" rtlCol="0" anchor="t"/>
          <a:lstStyle/>
          <a:p>
            <a:pPr indent="0" marL="0">
              <a:buNone/>
            </a:pPr>
            <a:r>
              <a:rPr lang="en-US" sz="1400" b="1" dirty="0">
                <a:solidFill>
                  <a:srgbClr val="0E7C86"/>
                </a:solidFill>
                <a:latin typeface="Yu Gothic UI" pitchFamily="34" charset="0"/>
                <a:ea typeface="Yu Gothic UI" pitchFamily="34" charset="-122"/>
                <a:cs typeface="Yu Gothic UI" pitchFamily="34" charset="-120"/>
              </a:rPr>
              <a:t>✓  </a:t>
            </a:r>
            <a:pPr indent="0" marL="0">
              <a:buNone/>
            </a:pPr>
            <a:r>
              <a:rPr lang="en-US" sz="1300" dirty="0">
                <a:solidFill>
                  <a:srgbClr val="1A1A1A"/>
                </a:solidFill>
                <a:latin typeface="Yu Gothic UI" pitchFamily="34" charset="0"/>
                <a:ea typeface="Yu Gothic UI" pitchFamily="34" charset="-122"/>
                <a:cs typeface="Yu Gothic UI" pitchFamily="34" charset="-120"/>
              </a:rPr>
              <a:t>AIが毎回同じ形で出せる粒度に定義できているか</a:t>
            </a:r>
            <a:endParaRPr lang="en-US" sz="1300" dirty="0"/>
          </a:p>
        </p:txBody>
      </p:sp>
      <p:sp>
        <p:nvSpPr>
          <p:cNvPr id="22" name="Text 20"/>
          <p:cNvSpPr/>
          <p:nvPr/>
        </p:nvSpPr>
        <p:spPr>
          <a:xfrm>
            <a:off x="6263640" y="3611880"/>
            <a:ext cx="2359152" cy="1097280"/>
          </a:xfrm>
          <a:prstGeom prst="rect">
            <a:avLst/>
          </a:prstGeom>
          <a:noFill/>
          <a:ln/>
        </p:spPr>
        <p:txBody>
          <a:bodyPr wrap="square" rtlCol="0" anchor="t"/>
          <a:lstStyle/>
          <a:p>
            <a:pPr indent="0" marL="0">
              <a:buNone/>
            </a:pPr>
            <a:r>
              <a:rPr lang="en-US" sz="1400" b="1" dirty="0">
                <a:solidFill>
                  <a:srgbClr val="E8A33D"/>
                </a:solidFill>
                <a:latin typeface="Yu Gothic UI" pitchFamily="34" charset="0"/>
                <a:ea typeface="Yu Gothic UI" pitchFamily="34" charset="-122"/>
                <a:cs typeface="Yu Gothic UI" pitchFamily="34" charset="-120"/>
              </a:rPr>
              <a:t>💡  </a:t>
            </a:r>
            <a:pPr indent="0" marL="0">
              <a:buNone/>
            </a:pPr>
            <a:r>
              <a:rPr lang="en-US" sz="1300" dirty="0">
                <a:solidFill>
                  <a:srgbClr val="1A1A1A"/>
                </a:solidFill>
                <a:latin typeface="Yu Gothic UI" pitchFamily="34" charset="0"/>
                <a:ea typeface="Yu Gothic UI" pitchFamily="34" charset="-122"/>
                <a:cs typeface="Yu Gothic UI" pitchFamily="34" charset="-120"/>
              </a:rPr>
              <a:t>タイトル文字数/本文長/絵文字位置 まで指定する</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86"/>
          </a:solidFill>
          <a:ln/>
        </p:spPr>
      </p:sp>
      <p:sp>
        <p:nvSpPr>
          <p:cNvPr id="3" name="Text 1"/>
          <p:cNvSpPr/>
          <p:nvPr/>
        </p:nvSpPr>
        <p:spPr>
          <a:xfrm>
            <a:off x="411480" y="201168"/>
            <a:ext cx="8412480" cy="594360"/>
          </a:xfrm>
          <a:prstGeom prst="rect">
            <a:avLst/>
          </a:prstGeom>
          <a:noFill/>
          <a:ln/>
        </p:spPr>
        <p:txBody>
          <a:bodyPr wrap="square" rtlCol="0" anchor="ctr"/>
          <a:lstStyle/>
          <a:p>
            <a:pPr indent="0" marL="0">
              <a:buNone/>
            </a:pPr>
            <a:r>
              <a:rPr lang="en-US" sz="2600" b="1" dirty="0">
                <a:solidFill>
                  <a:srgbClr val="1F3A5F"/>
                </a:solidFill>
                <a:latin typeface="Yu Gothic UI Semibold" pitchFamily="34" charset="0"/>
                <a:ea typeface="Yu Gothic UI Semibold" pitchFamily="34" charset="-122"/>
                <a:cs typeface="Yu Gothic UI Semibold" pitchFamily="34" charset="-120"/>
              </a:rPr>
              <a:t>演習2 情報収集GASをバイブコーディング (設計を素材に)</a:t>
            </a:r>
            <a:endParaRPr lang="en-US" sz="2600" dirty="0"/>
          </a:p>
        </p:txBody>
      </p:sp>
      <p:sp>
        <p:nvSpPr>
          <p:cNvPr id="4" name="Shape 2"/>
          <p:cNvSpPr/>
          <p:nvPr/>
        </p:nvSpPr>
        <p:spPr>
          <a:xfrm>
            <a:off x="411480" y="1005840"/>
            <a:ext cx="4160520" cy="1783080"/>
          </a:xfrm>
          <a:prstGeom prst="roundRect">
            <a:avLst>
              <a:gd name="adj" fmla="val 4103"/>
            </a:avLst>
          </a:prstGeom>
          <a:solidFill>
            <a:srgbClr val="F4F6F9"/>
          </a:solidFill>
          <a:ln w="6350">
            <a:solidFill>
              <a:srgbClr val="D7DCE3"/>
            </a:solidFill>
            <a:prstDash val="solid"/>
          </a:ln>
        </p:spPr>
      </p:sp>
      <p:sp>
        <p:nvSpPr>
          <p:cNvPr id="5" name="Shape 3"/>
          <p:cNvSpPr/>
          <p:nvPr/>
        </p:nvSpPr>
        <p:spPr>
          <a:xfrm>
            <a:off x="411480" y="1005840"/>
            <a:ext cx="91440" cy="1783080"/>
          </a:xfrm>
          <a:prstGeom prst="rect">
            <a:avLst/>
          </a:prstGeom>
          <a:solidFill>
            <a:srgbClr val="1F3A5F"/>
          </a:solidFill>
          <a:ln/>
        </p:spPr>
      </p:sp>
      <p:sp>
        <p:nvSpPr>
          <p:cNvPr id="6" name="Text 4"/>
          <p:cNvSpPr/>
          <p:nvPr/>
        </p:nvSpPr>
        <p:spPr>
          <a:xfrm>
            <a:off x="612648" y="1097280"/>
            <a:ext cx="3849624" cy="384048"/>
          </a:xfrm>
          <a:prstGeom prst="rect">
            <a:avLst/>
          </a:prstGeom>
          <a:noFill/>
          <a:ln/>
        </p:spPr>
        <p:txBody>
          <a:bodyPr wrap="square" rtlCol="0" anchor="ctr"/>
          <a:lstStyle/>
          <a:p>
            <a:pPr indent="0" marL="0">
              <a:buNone/>
            </a:pPr>
            <a:r>
              <a:rPr lang="en-US" sz="1600" b="1" dirty="0">
                <a:solidFill>
                  <a:srgbClr val="1F3A5F"/>
                </a:solidFill>
                <a:latin typeface="Yu Gothic UI Semibold" pitchFamily="34" charset="0"/>
                <a:ea typeface="Yu Gothic UI Semibold" pitchFamily="34" charset="-122"/>
                <a:cs typeface="Yu Gothic UI Semibold" pitchFamily="34" charset="-120"/>
              </a:rPr>
              <a:t>📍 シチュエーション</a:t>
            </a:r>
            <a:endParaRPr lang="en-US" sz="1600" dirty="0"/>
          </a:p>
        </p:txBody>
      </p:sp>
      <p:sp>
        <p:nvSpPr>
          <p:cNvPr id="7" name="Text 5"/>
          <p:cNvSpPr/>
          <p:nvPr/>
        </p:nvSpPr>
        <p:spPr>
          <a:xfrm>
            <a:off x="649224" y="1536192"/>
            <a:ext cx="3703320" cy="1161288"/>
          </a:xfrm>
          <a:prstGeom prst="rect">
            <a:avLst/>
          </a:prstGeom>
          <a:noFill/>
          <a:ln/>
        </p:spPr>
        <p:txBody>
          <a:bodyPr wrap="square" rtlCol="0" anchor="t"/>
          <a:lstStyle/>
          <a:p>
            <a:pPr indent="0" marL="0">
              <a:spcAft>
                <a:spcPts val="400"/>
              </a:spcAft>
              <a:buNone/>
            </a:pPr>
            <a:r>
              <a:rPr lang="en-US" sz="1400" dirty="0">
                <a:solidFill>
                  <a:srgbClr val="1A1A1A"/>
                </a:solidFill>
                <a:latin typeface="Yu Gothic UI" pitchFamily="34" charset="0"/>
                <a:ea typeface="Yu Gothic UI" pitchFamily="34" charset="-122"/>
                <a:cs typeface="Yu Gothic UI" pitchFamily="34" charset="-120"/>
              </a:rPr>
              <a:t>演習1の設計シートを"仕様書"として Gemini に渡し、情報収集GASを組み上げる。</a:t>
            </a:r>
            <a:endParaRPr lang="en-US" sz="1400" dirty="0"/>
          </a:p>
          <a:p>
            <a:pPr indent="0" marL="0">
              <a:spcAft>
                <a:spcPts val="400"/>
              </a:spcAft>
              <a:buNone/>
            </a:pPr>
            <a:r>
              <a:rPr lang="en-US" sz="1400" dirty="0">
                <a:solidFill>
                  <a:srgbClr val="1A1A1A"/>
                </a:solidFill>
                <a:latin typeface="Yu Gothic UI" pitchFamily="34" charset="0"/>
                <a:ea typeface="Yu Gothic UI" pitchFamily="34" charset="-122"/>
                <a:cs typeface="Yu Gothic UI" pitchFamily="34" charset="-120"/>
              </a:rPr>
              <a:t>ここで大事なのは「なぜホワイトリスト？」「なぜ出典URL必須？」「なぜOK/NG列？」を都度自分の言葉で説明できる状態にすること。</a:t>
            </a:r>
            <a:endParaRPr lang="en-US" sz="1400" dirty="0"/>
          </a:p>
        </p:txBody>
      </p:sp>
      <p:sp>
        <p:nvSpPr>
          <p:cNvPr id="8" name="Shape 6"/>
          <p:cNvSpPr/>
          <p:nvPr/>
        </p:nvSpPr>
        <p:spPr>
          <a:xfrm>
            <a:off x="411480" y="2880360"/>
            <a:ext cx="4160520" cy="2011680"/>
          </a:xfrm>
          <a:prstGeom prst="roundRect">
            <a:avLst>
              <a:gd name="adj" fmla="val 3636"/>
            </a:avLst>
          </a:prstGeom>
          <a:solidFill>
            <a:srgbClr val="F4F6F9"/>
          </a:solidFill>
          <a:ln w="6350">
            <a:solidFill>
              <a:srgbClr val="D7DCE3"/>
            </a:solidFill>
            <a:prstDash val="solid"/>
          </a:ln>
        </p:spPr>
      </p:sp>
      <p:sp>
        <p:nvSpPr>
          <p:cNvPr id="9" name="Shape 7"/>
          <p:cNvSpPr/>
          <p:nvPr/>
        </p:nvSpPr>
        <p:spPr>
          <a:xfrm>
            <a:off x="411480" y="2880360"/>
            <a:ext cx="91440" cy="2011680"/>
          </a:xfrm>
          <a:prstGeom prst="rect">
            <a:avLst/>
          </a:prstGeom>
          <a:solidFill>
            <a:srgbClr val="E8A33D"/>
          </a:solidFill>
          <a:ln/>
        </p:spPr>
      </p:sp>
      <p:sp>
        <p:nvSpPr>
          <p:cNvPr id="10" name="Text 8"/>
          <p:cNvSpPr/>
          <p:nvPr/>
        </p:nvSpPr>
        <p:spPr>
          <a:xfrm>
            <a:off x="612648" y="2971800"/>
            <a:ext cx="3849624" cy="384048"/>
          </a:xfrm>
          <a:prstGeom prst="rect">
            <a:avLst/>
          </a:prstGeom>
          <a:noFill/>
          <a:ln/>
        </p:spPr>
        <p:txBody>
          <a:bodyPr wrap="square" rtlCol="0" anchor="ctr"/>
          <a:lstStyle/>
          <a:p>
            <a:pPr indent="0" marL="0">
              <a:buNone/>
            </a:pPr>
            <a:r>
              <a:rPr lang="en-US" sz="1600" b="1" dirty="0">
                <a:solidFill>
                  <a:srgbClr val="E8A33D"/>
                </a:solidFill>
                <a:latin typeface="Yu Gothic UI Semibold" pitchFamily="34" charset="0"/>
                <a:ea typeface="Yu Gothic UI Semibold" pitchFamily="34" charset="-122"/>
                <a:cs typeface="Yu Gothic UI Semibold" pitchFamily="34" charset="-120"/>
              </a:rPr>
              <a:t>💭 プロンプトのヒント</a:t>
            </a:r>
            <a:endParaRPr lang="en-US" sz="1600" dirty="0"/>
          </a:p>
        </p:txBody>
      </p:sp>
      <p:sp>
        <p:nvSpPr>
          <p:cNvPr id="11" name="Text 9"/>
          <p:cNvSpPr/>
          <p:nvPr/>
        </p:nvSpPr>
        <p:spPr>
          <a:xfrm>
            <a:off x="649224" y="3410712"/>
            <a:ext cx="3703320" cy="1389888"/>
          </a:xfrm>
          <a:prstGeom prst="rect">
            <a:avLst/>
          </a:prstGeom>
          <a:noFill/>
          <a:ln/>
        </p:spPr>
        <p:txBody>
          <a:bodyPr wrap="square" rtlCol="0" anchor="t"/>
          <a:lstStyle/>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「Grounding とは何か」を先に生徒に問う: なぜ search を有効化すると信頼性が上がるのか</a:t>
            </a:r>
            <a:endParaRPr lang="en-US" sz="1400" dirty="0"/>
          </a:p>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API キーはスクリプトプロパティ GEMINI_API_KEY 経由(直書きNG)</a:t>
            </a:r>
            <a:endParaRPr lang="en-US" sz="1400" dirty="0"/>
          </a:p>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AIに「不確かな数字は出さず、出典URLがなければ生成しないで」と明記</a:t>
            </a:r>
            <a:endParaRPr lang="en-US" sz="1400" dirty="0"/>
          </a:p>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生成結果は必ず OK/NG 列を空のまま保存(次演習で人が判定する)</a:t>
            </a:r>
            <a:endParaRPr lang="en-US" sz="1400" dirty="0"/>
          </a:p>
        </p:txBody>
      </p:sp>
      <p:sp>
        <p:nvSpPr>
          <p:cNvPr id="12" name="Shape 10"/>
          <p:cNvSpPr/>
          <p:nvPr/>
        </p:nvSpPr>
        <p:spPr>
          <a:xfrm>
            <a:off x="4663440" y="1005840"/>
            <a:ext cx="4160520" cy="3886200"/>
          </a:xfrm>
          <a:prstGeom prst="roundRect">
            <a:avLst>
              <a:gd name="adj" fmla="val 1882"/>
            </a:avLst>
          </a:prstGeom>
          <a:solidFill>
            <a:srgbClr val="F4F6F9"/>
          </a:solidFill>
          <a:ln w="6350">
            <a:solidFill>
              <a:srgbClr val="D7DCE3"/>
            </a:solidFill>
            <a:prstDash val="solid"/>
          </a:ln>
        </p:spPr>
      </p:sp>
      <p:sp>
        <p:nvSpPr>
          <p:cNvPr id="13" name="Shape 11"/>
          <p:cNvSpPr/>
          <p:nvPr/>
        </p:nvSpPr>
        <p:spPr>
          <a:xfrm>
            <a:off x="4663440" y="1005840"/>
            <a:ext cx="91440" cy="3886200"/>
          </a:xfrm>
          <a:prstGeom prst="rect">
            <a:avLst/>
          </a:prstGeom>
          <a:solidFill>
            <a:srgbClr val="0E7C86"/>
          </a:solidFill>
          <a:ln/>
        </p:spPr>
      </p:sp>
      <p:sp>
        <p:nvSpPr>
          <p:cNvPr id="14" name="Text 12"/>
          <p:cNvSpPr/>
          <p:nvPr/>
        </p:nvSpPr>
        <p:spPr>
          <a:xfrm>
            <a:off x="4864608" y="1097280"/>
            <a:ext cx="3849624" cy="384048"/>
          </a:xfrm>
          <a:prstGeom prst="rect">
            <a:avLst/>
          </a:prstGeom>
          <a:noFill/>
          <a:ln/>
        </p:spPr>
        <p:txBody>
          <a:bodyPr wrap="square" rtlCol="0" anchor="ctr"/>
          <a:lstStyle/>
          <a:p>
            <a:pPr indent="0" marL="0">
              <a:buNone/>
            </a:pPr>
            <a:r>
              <a:rPr lang="en-US" sz="1600" b="1" dirty="0">
                <a:solidFill>
                  <a:srgbClr val="0E7C86"/>
                </a:solidFill>
                <a:latin typeface="Yu Gothic UI Semibold" pitchFamily="34" charset="0"/>
                <a:ea typeface="Yu Gothic UI Semibold" pitchFamily="34" charset="-122"/>
                <a:cs typeface="Yu Gothic UI Semibold" pitchFamily="34" charset="-120"/>
              </a:rPr>
              <a:t>🎯 AIに作ってもらいたいもの</a:t>
            </a:r>
            <a:endParaRPr lang="en-US" sz="1600" dirty="0"/>
          </a:p>
        </p:txBody>
      </p:sp>
      <p:sp>
        <p:nvSpPr>
          <p:cNvPr id="15" name="Text 13"/>
          <p:cNvSpPr/>
          <p:nvPr/>
        </p:nvSpPr>
        <p:spPr>
          <a:xfrm>
            <a:off x="4901184" y="1536192"/>
            <a:ext cx="3703320" cy="3264408"/>
          </a:xfrm>
          <a:prstGeom prst="rect">
            <a:avLst/>
          </a:prstGeom>
          <a:noFill/>
          <a:ln/>
        </p:spPr>
        <p:txBody>
          <a:bodyPr wrap="square" rtlCol="0" anchor="t"/>
          <a:lstStyle/>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Gemini API の Google Search Grounding を有効化した GAS を作成</a:t>
            </a:r>
            <a:endParaRPr lang="en-US" sz="1400" dirty="0"/>
          </a:p>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プロンプトに演習1のホワイトリスト+フォーマット定義を埋め込む</a:t>
            </a:r>
            <a:endParaRPr lang="en-US" sz="1400" dirty="0"/>
          </a:p>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スプシの「配信予約」シートに 日付/タイトル/本文/出典URL/カテゴリ/OK-NG(空) で保存</a:t>
            </a:r>
            <a:endParaRPr lang="en-US" sz="1400" dirty="0"/>
          </a:p>
          <a:p>
            <a:pPr marL="342900" indent="-342900">
              <a:spcAft>
                <a:spcPts val="400"/>
              </a:spcAft>
              <a:buSzPct val="100000"/>
              <a:buChar char="●"/>
            </a:pPr>
            <a:r>
              <a:rPr lang="en-US" sz="1400" dirty="0">
                <a:solidFill>
                  <a:srgbClr val="1A1A1A"/>
                </a:solidFill>
                <a:latin typeface="Yu Gothic UI" pitchFamily="34" charset="0"/>
                <a:ea typeface="Yu Gothic UI" pitchFamily="34" charset="-122"/>
                <a:cs typeface="Yu Gothic UI" pitchFamily="34" charset="-120"/>
              </a:rPr>
              <a:t>5テーマ試して、出典URL付きの原稿が生成されるか確認</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86"/>
          </a:solidFill>
          <a:ln/>
        </p:spPr>
      </p:sp>
      <p:sp>
        <p:nvSpPr>
          <p:cNvPr id="3" name="Text 1"/>
          <p:cNvSpPr/>
          <p:nvPr/>
        </p:nvSpPr>
        <p:spPr>
          <a:xfrm>
            <a:off x="411480" y="201168"/>
            <a:ext cx="8412480" cy="594360"/>
          </a:xfrm>
          <a:prstGeom prst="rect">
            <a:avLst/>
          </a:prstGeom>
          <a:noFill/>
          <a:ln/>
        </p:spPr>
        <p:txBody>
          <a:bodyPr wrap="square" rtlCol="0" anchor="ctr"/>
          <a:lstStyle/>
          <a:p>
            <a:pPr indent="0" marL="0">
              <a:buNone/>
            </a:pPr>
            <a:r>
              <a:rPr lang="en-US" sz="2600" b="1" dirty="0">
                <a:solidFill>
                  <a:srgbClr val="1F3A5F"/>
                </a:solidFill>
                <a:latin typeface="Yu Gothic UI Semibold" pitchFamily="34" charset="0"/>
                <a:ea typeface="Yu Gothic UI Semibold" pitchFamily="34" charset="-122"/>
                <a:cs typeface="Yu Gothic UI Semibold" pitchFamily="34" charset="-120"/>
              </a:rPr>
              <a:t>演習2 情報収集GASをバイブコーディング (設計を素材に) — 観点別チェック</a:t>
            </a:r>
            <a:endParaRPr lang="en-US" sz="2600" dirty="0"/>
          </a:p>
        </p:txBody>
      </p:sp>
      <p:sp>
        <p:nvSpPr>
          <p:cNvPr id="4" name="Text 2"/>
          <p:cNvSpPr/>
          <p:nvPr/>
        </p:nvSpPr>
        <p:spPr>
          <a:xfrm>
            <a:off x="411480" y="804672"/>
            <a:ext cx="8412480" cy="365760"/>
          </a:xfrm>
          <a:prstGeom prst="rect">
            <a:avLst/>
          </a:prstGeom>
          <a:noFill/>
          <a:ln/>
        </p:spPr>
        <p:txBody>
          <a:bodyPr wrap="square" rtlCol="0" anchor="ctr"/>
          <a:lstStyle/>
          <a:p>
            <a:pPr indent="0" marL="0">
              <a:buNone/>
            </a:pPr>
            <a:r>
              <a:rPr lang="en-US" sz="1500" i="1" dirty="0">
                <a:solidFill>
                  <a:srgbClr val="555555"/>
                </a:solidFill>
                <a:latin typeface="Yu Gothic UI" pitchFamily="34" charset="0"/>
                <a:ea typeface="Yu Gothic UI" pitchFamily="34" charset="-122"/>
                <a:cs typeface="Yu Gothic UI" pitchFamily="34" charset="-120"/>
              </a:rPr>
              <a:t>プロンプトをさらにブラッシュアップ — 3観点でセルフチェック</a:t>
            </a:r>
            <a:endParaRPr lang="en-US" sz="1500" dirty="0"/>
          </a:p>
        </p:txBody>
      </p:sp>
      <p:sp>
        <p:nvSpPr>
          <p:cNvPr id="5" name="Shape 3"/>
          <p:cNvSpPr/>
          <p:nvPr/>
        </p:nvSpPr>
        <p:spPr>
          <a:xfrm>
            <a:off x="411480" y="1325880"/>
            <a:ext cx="2651760" cy="3474720"/>
          </a:xfrm>
          <a:prstGeom prst="roundRect">
            <a:avLst>
              <a:gd name="adj" fmla="val 3448"/>
            </a:avLst>
          </a:prstGeom>
          <a:solidFill>
            <a:srgbClr val="F4F6F9"/>
          </a:solidFill>
          <a:ln w="15240">
            <a:solidFill>
              <a:srgbClr val="0E7C86"/>
            </a:solidFill>
            <a:prstDash val="solid"/>
          </a:ln>
        </p:spPr>
      </p:sp>
      <p:sp>
        <p:nvSpPr>
          <p:cNvPr id="6" name="Shape 4"/>
          <p:cNvSpPr/>
          <p:nvPr/>
        </p:nvSpPr>
        <p:spPr>
          <a:xfrm>
            <a:off x="411480" y="1325880"/>
            <a:ext cx="2651760" cy="457200"/>
          </a:xfrm>
          <a:prstGeom prst="rect">
            <a:avLst/>
          </a:prstGeom>
          <a:solidFill>
            <a:srgbClr val="0E7C86"/>
          </a:solidFill>
          <a:ln/>
        </p:spPr>
      </p:sp>
      <p:sp>
        <p:nvSpPr>
          <p:cNvPr id="7" name="Text 5"/>
          <p:cNvSpPr/>
          <p:nvPr/>
        </p:nvSpPr>
        <p:spPr>
          <a:xfrm>
            <a:off x="539496" y="1380744"/>
            <a:ext cx="2395728" cy="365760"/>
          </a:xfrm>
          <a:prstGeom prst="rect">
            <a:avLst/>
          </a:prstGeom>
          <a:noFill/>
          <a:ln/>
        </p:spPr>
        <p:txBody>
          <a:bodyPr wrap="square" rtlCol="0" anchor="ctr"/>
          <a:lstStyle/>
          <a:p>
            <a:pPr indent="0" marL="0">
              <a:buNone/>
            </a:pPr>
            <a:r>
              <a:rPr lang="en-US" sz="1500" b="1" dirty="0">
                <a:solidFill>
                  <a:srgbClr val="FFFFFF"/>
                </a:solidFill>
                <a:latin typeface="Yu Gothic UI Semibold" pitchFamily="34" charset="0"/>
                <a:ea typeface="Yu Gothic UI Semibold" pitchFamily="34" charset="-122"/>
                <a:cs typeface="Yu Gothic UI Semibold" pitchFamily="34" charset="-120"/>
              </a:rPr>
              <a:t>観点 A</a:t>
            </a:r>
            <a:endParaRPr lang="en-US" sz="1500" dirty="0"/>
          </a:p>
        </p:txBody>
      </p:sp>
      <p:sp>
        <p:nvSpPr>
          <p:cNvPr id="8" name="Text 6"/>
          <p:cNvSpPr/>
          <p:nvPr/>
        </p:nvSpPr>
        <p:spPr>
          <a:xfrm>
            <a:off x="594360" y="1892808"/>
            <a:ext cx="2359152" cy="548640"/>
          </a:xfrm>
          <a:prstGeom prst="rect">
            <a:avLst/>
          </a:prstGeom>
          <a:noFill/>
          <a:ln/>
        </p:spPr>
        <p:txBody>
          <a:bodyPr wrap="square" rtlCol="0" anchor="t"/>
          <a:lstStyle/>
          <a:p>
            <a:pPr indent="0" marL="0">
              <a:buNone/>
            </a:pPr>
            <a:r>
              <a:rPr lang="en-US" sz="1500" b="1" dirty="0">
                <a:solidFill>
                  <a:srgbClr val="1F3A5F"/>
                </a:solidFill>
                <a:latin typeface="Yu Gothic UI Semibold" pitchFamily="34" charset="0"/>
                <a:ea typeface="Yu Gothic UI Semibold" pitchFamily="34" charset="-122"/>
                <a:cs typeface="Yu Gothic UI Semibold" pitchFamily="34" charset="-120"/>
              </a:rPr>
              <a:t>A. ハルシネーション対策</a:t>
            </a:r>
            <a:endParaRPr lang="en-US" sz="1500" dirty="0"/>
          </a:p>
        </p:txBody>
      </p:sp>
      <p:sp>
        <p:nvSpPr>
          <p:cNvPr id="9" name="Text 7"/>
          <p:cNvSpPr/>
          <p:nvPr/>
        </p:nvSpPr>
        <p:spPr>
          <a:xfrm>
            <a:off x="594360" y="2514600"/>
            <a:ext cx="2359152" cy="1051560"/>
          </a:xfrm>
          <a:prstGeom prst="rect">
            <a:avLst/>
          </a:prstGeom>
          <a:noFill/>
          <a:ln/>
        </p:spPr>
        <p:txBody>
          <a:bodyPr wrap="square" rtlCol="0" anchor="t"/>
          <a:lstStyle/>
          <a:p>
            <a:pPr indent="0" marL="0">
              <a:buNone/>
            </a:pPr>
            <a:r>
              <a:rPr lang="en-US" sz="1400" b="1" dirty="0">
                <a:solidFill>
                  <a:srgbClr val="0E7C86"/>
                </a:solidFill>
                <a:latin typeface="Yu Gothic UI" pitchFamily="34" charset="0"/>
                <a:ea typeface="Yu Gothic UI" pitchFamily="34" charset="-122"/>
                <a:cs typeface="Yu Gothic UI" pitchFamily="34" charset="-120"/>
              </a:rPr>
              <a:t>✓  </a:t>
            </a:r>
            <a:pPr indent="0" marL="0">
              <a:buNone/>
            </a:pPr>
            <a:r>
              <a:rPr lang="en-US" sz="1300" dirty="0">
                <a:solidFill>
                  <a:srgbClr val="1A1A1A"/>
                </a:solidFill>
                <a:latin typeface="Yu Gothic UI" pitchFamily="34" charset="0"/>
                <a:ea typeface="Yu Gothic UI" pitchFamily="34" charset="-122"/>
                <a:cs typeface="Yu Gothic UI" pitchFamily="34" charset="-120"/>
              </a:rPr>
              <a:t>出典URLが本当にホワイトリストのドメインで、実在するか</a:t>
            </a:r>
            <a:endParaRPr lang="en-US" sz="1300" dirty="0"/>
          </a:p>
        </p:txBody>
      </p:sp>
      <p:sp>
        <p:nvSpPr>
          <p:cNvPr id="10" name="Text 8"/>
          <p:cNvSpPr/>
          <p:nvPr/>
        </p:nvSpPr>
        <p:spPr>
          <a:xfrm>
            <a:off x="594360" y="3611880"/>
            <a:ext cx="2359152" cy="1097280"/>
          </a:xfrm>
          <a:prstGeom prst="rect">
            <a:avLst/>
          </a:prstGeom>
          <a:noFill/>
          <a:ln/>
        </p:spPr>
        <p:txBody>
          <a:bodyPr wrap="square" rtlCol="0" anchor="t"/>
          <a:lstStyle/>
          <a:p>
            <a:pPr indent="0" marL="0">
              <a:buNone/>
            </a:pPr>
            <a:r>
              <a:rPr lang="en-US" sz="1400" b="1" dirty="0">
                <a:solidFill>
                  <a:srgbClr val="E8A33D"/>
                </a:solidFill>
                <a:latin typeface="Yu Gothic UI" pitchFamily="34" charset="0"/>
                <a:ea typeface="Yu Gothic UI" pitchFamily="34" charset="-122"/>
                <a:cs typeface="Yu Gothic UI" pitchFamily="34" charset="-120"/>
              </a:rPr>
              <a:t>💡  </a:t>
            </a:r>
            <a:pPr indent="0" marL="0">
              <a:buNone/>
            </a:pPr>
            <a:r>
              <a:rPr lang="en-US" sz="1300" dirty="0">
                <a:solidFill>
                  <a:srgbClr val="1A1A1A"/>
                </a:solidFill>
                <a:latin typeface="Yu Gothic UI" pitchFamily="34" charset="0"/>
                <a:ea typeface="Yu Gothic UI" pitchFamily="34" charset="-122"/>
                <a:cs typeface="Yu Gothic UI" pitchFamily="34" charset="-120"/>
              </a:rPr>
              <a:t>5件全部で URL をクリックして開いてみる(存在検証)</a:t>
            </a:r>
            <a:endParaRPr lang="en-US" sz="1300" dirty="0"/>
          </a:p>
        </p:txBody>
      </p:sp>
      <p:sp>
        <p:nvSpPr>
          <p:cNvPr id="11" name="Shape 9"/>
          <p:cNvSpPr/>
          <p:nvPr/>
        </p:nvSpPr>
        <p:spPr>
          <a:xfrm>
            <a:off x="3246120" y="1325880"/>
            <a:ext cx="2651760" cy="3474720"/>
          </a:xfrm>
          <a:prstGeom prst="roundRect">
            <a:avLst>
              <a:gd name="adj" fmla="val 3448"/>
            </a:avLst>
          </a:prstGeom>
          <a:solidFill>
            <a:srgbClr val="F4F6F9"/>
          </a:solidFill>
          <a:ln w="15240">
            <a:solidFill>
              <a:srgbClr val="E8A33D"/>
            </a:solidFill>
            <a:prstDash val="solid"/>
          </a:ln>
        </p:spPr>
      </p:sp>
      <p:sp>
        <p:nvSpPr>
          <p:cNvPr id="12" name="Shape 10"/>
          <p:cNvSpPr/>
          <p:nvPr/>
        </p:nvSpPr>
        <p:spPr>
          <a:xfrm>
            <a:off x="3246120" y="1325880"/>
            <a:ext cx="2651760" cy="457200"/>
          </a:xfrm>
          <a:prstGeom prst="rect">
            <a:avLst/>
          </a:prstGeom>
          <a:solidFill>
            <a:srgbClr val="E8A33D"/>
          </a:solidFill>
          <a:ln/>
        </p:spPr>
      </p:sp>
      <p:sp>
        <p:nvSpPr>
          <p:cNvPr id="13" name="Text 11"/>
          <p:cNvSpPr/>
          <p:nvPr/>
        </p:nvSpPr>
        <p:spPr>
          <a:xfrm>
            <a:off x="3374136" y="1380744"/>
            <a:ext cx="2395728" cy="365760"/>
          </a:xfrm>
          <a:prstGeom prst="rect">
            <a:avLst/>
          </a:prstGeom>
          <a:noFill/>
          <a:ln/>
        </p:spPr>
        <p:txBody>
          <a:bodyPr wrap="square" rtlCol="0" anchor="ctr"/>
          <a:lstStyle/>
          <a:p>
            <a:pPr indent="0" marL="0">
              <a:buNone/>
            </a:pPr>
            <a:r>
              <a:rPr lang="en-US" sz="1500" b="1" dirty="0">
                <a:solidFill>
                  <a:srgbClr val="FFFFFF"/>
                </a:solidFill>
                <a:latin typeface="Yu Gothic UI Semibold" pitchFamily="34" charset="0"/>
                <a:ea typeface="Yu Gothic UI Semibold" pitchFamily="34" charset="-122"/>
                <a:cs typeface="Yu Gothic UI Semibold" pitchFamily="34" charset="-120"/>
              </a:rPr>
              <a:t>観点 B</a:t>
            </a:r>
            <a:endParaRPr lang="en-US" sz="1500" dirty="0"/>
          </a:p>
        </p:txBody>
      </p:sp>
      <p:sp>
        <p:nvSpPr>
          <p:cNvPr id="14" name="Text 12"/>
          <p:cNvSpPr/>
          <p:nvPr/>
        </p:nvSpPr>
        <p:spPr>
          <a:xfrm>
            <a:off x="3429000" y="1892808"/>
            <a:ext cx="2359152" cy="548640"/>
          </a:xfrm>
          <a:prstGeom prst="rect">
            <a:avLst/>
          </a:prstGeom>
          <a:noFill/>
          <a:ln/>
        </p:spPr>
        <p:txBody>
          <a:bodyPr wrap="square" rtlCol="0" anchor="t"/>
          <a:lstStyle/>
          <a:p>
            <a:pPr indent="0" marL="0">
              <a:buNone/>
            </a:pPr>
            <a:r>
              <a:rPr lang="en-US" sz="1500" b="1" dirty="0">
                <a:solidFill>
                  <a:srgbClr val="1F3A5F"/>
                </a:solidFill>
                <a:latin typeface="Yu Gothic UI Semibold" pitchFamily="34" charset="0"/>
                <a:ea typeface="Yu Gothic UI Semibold" pitchFamily="34" charset="-122"/>
                <a:cs typeface="Yu Gothic UI Semibold" pitchFamily="34" charset="-120"/>
              </a:rPr>
              <a:t>B. プロンプトの再現性</a:t>
            </a:r>
            <a:endParaRPr lang="en-US" sz="1500" dirty="0"/>
          </a:p>
        </p:txBody>
      </p:sp>
      <p:sp>
        <p:nvSpPr>
          <p:cNvPr id="15" name="Text 13"/>
          <p:cNvSpPr/>
          <p:nvPr/>
        </p:nvSpPr>
        <p:spPr>
          <a:xfrm>
            <a:off x="3429000" y="2514600"/>
            <a:ext cx="2359152" cy="1051560"/>
          </a:xfrm>
          <a:prstGeom prst="rect">
            <a:avLst/>
          </a:prstGeom>
          <a:noFill/>
          <a:ln/>
        </p:spPr>
        <p:txBody>
          <a:bodyPr wrap="square" rtlCol="0" anchor="t"/>
          <a:lstStyle/>
          <a:p>
            <a:pPr indent="0" marL="0">
              <a:buNone/>
            </a:pPr>
            <a:r>
              <a:rPr lang="en-US" sz="1400" b="1" dirty="0">
                <a:solidFill>
                  <a:srgbClr val="0E7C86"/>
                </a:solidFill>
                <a:latin typeface="Yu Gothic UI" pitchFamily="34" charset="0"/>
                <a:ea typeface="Yu Gothic UI" pitchFamily="34" charset="-122"/>
                <a:cs typeface="Yu Gothic UI" pitchFamily="34" charset="-120"/>
              </a:rPr>
              <a:t>✓  </a:t>
            </a:r>
            <a:pPr indent="0" marL="0">
              <a:buNone/>
            </a:pPr>
            <a:r>
              <a:rPr lang="en-US" sz="1300" dirty="0">
                <a:solidFill>
                  <a:srgbClr val="1A1A1A"/>
                </a:solidFill>
                <a:latin typeface="Yu Gothic UI" pitchFamily="34" charset="0"/>
                <a:ea typeface="Yu Gothic UI" pitchFamily="34" charset="-122"/>
                <a:cs typeface="Yu Gothic UI" pitchFamily="34" charset="-120"/>
              </a:rPr>
              <a:t>別の日に実行しても同じ形式で返るか</a:t>
            </a:r>
            <a:endParaRPr lang="en-US" sz="1300" dirty="0"/>
          </a:p>
        </p:txBody>
      </p:sp>
      <p:sp>
        <p:nvSpPr>
          <p:cNvPr id="16" name="Text 14"/>
          <p:cNvSpPr/>
          <p:nvPr/>
        </p:nvSpPr>
        <p:spPr>
          <a:xfrm>
            <a:off x="3429000" y="3611880"/>
            <a:ext cx="2359152" cy="1097280"/>
          </a:xfrm>
          <a:prstGeom prst="rect">
            <a:avLst/>
          </a:prstGeom>
          <a:noFill/>
          <a:ln/>
        </p:spPr>
        <p:txBody>
          <a:bodyPr wrap="square" rtlCol="0" anchor="t"/>
          <a:lstStyle/>
          <a:p>
            <a:pPr indent="0" marL="0">
              <a:buNone/>
            </a:pPr>
            <a:r>
              <a:rPr lang="en-US" sz="1400" b="1" dirty="0">
                <a:solidFill>
                  <a:srgbClr val="E8A33D"/>
                </a:solidFill>
                <a:latin typeface="Yu Gothic UI" pitchFamily="34" charset="0"/>
                <a:ea typeface="Yu Gothic UI" pitchFamily="34" charset="-122"/>
                <a:cs typeface="Yu Gothic UI" pitchFamily="34" charset="-120"/>
              </a:rPr>
              <a:t>💡  </a:t>
            </a:r>
            <a:pPr indent="0" marL="0">
              <a:buNone/>
            </a:pPr>
            <a:r>
              <a:rPr lang="en-US" sz="1300" dirty="0">
                <a:solidFill>
                  <a:srgbClr val="1A1A1A"/>
                </a:solidFill>
                <a:latin typeface="Yu Gothic UI" pitchFamily="34" charset="0"/>
                <a:ea typeface="Yu Gothic UI" pitchFamily="34" charset="-122"/>
                <a:cs typeface="Yu Gothic UI" pitchFamily="34" charset="-120"/>
              </a:rPr>
              <a:t>temperature を 0.2 以下に、出力スキーマを JSON で固定</a:t>
            </a:r>
            <a:endParaRPr lang="en-US" sz="1300" dirty="0"/>
          </a:p>
        </p:txBody>
      </p:sp>
      <p:sp>
        <p:nvSpPr>
          <p:cNvPr id="17" name="Shape 15"/>
          <p:cNvSpPr/>
          <p:nvPr/>
        </p:nvSpPr>
        <p:spPr>
          <a:xfrm>
            <a:off x="6080760" y="1325880"/>
            <a:ext cx="2651760" cy="3474720"/>
          </a:xfrm>
          <a:prstGeom prst="roundRect">
            <a:avLst>
              <a:gd name="adj" fmla="val 3448"/>
            </a:avLst>
          </a:prstGeom>
          <a:solidFill>
            <a:srgbClr val="F4F6F9"/>
          </a:solidFill>
          <a:ln w="15240">
            <a:solidFill>
              <a:srgbClr val="7C5F8A"/>
            </a:solidFill>
            <a:prstDash val="solid"/>
          </a:ln>
        </p:spPr>
      </p:sp>
      <p:sp>
        <p:nvSpPr>
          <p:cNvPr id="18" name="Shape 16"/>
          <p:cNvSpPr/>
          <p:nvPr/>
        </p:nvSpPr>
        <p:spPr>
          <a:xfrm>
            <a:off x="6080760" y="1325880"/>
            <a:ext cx="2651760" cy="457200"/>
          </a:xfrm>
          <a:prstGeom prst="rect">
            <a:avLst/>
          </a:prstGeom>
          <a:solidFill>
            <a:srgbClr val="7C5F8A"/>
          </a:solidFill>
          <a:ln/>
        </p:spPr>
      </p:sp>
      <p:sp>
        <p:nvSpPr>
          <p:cNvPr id="19" name="Text 17"/>
          <p:cNvSpPr/>
          <p:nvPr/>
        </p:nvSpPr>
        <p:spPr>
          <a:xfrm>
            <a:off x="6208776" y="1380744"/>
            <a:ext cx="2395728" cy="365760"/>
          </a:xfrm>
          <a:prstGeom prst="rect">
            <a:avLst/>
          </a:prstGeom>
          <a:noFill/>
          <a:ln/>
        </p:spPr>
        <p:txBody>
          <a:bodyPr wrap="square" rtlCol="0" anchor="ctr"/>
          <a:lstStyle/>
          <a:p>
            <a:pPr indent="0" marL="0">
              <a:buNone/>
            </a:pPr>
            <a:r>
              <a:rPr lang="en-US" sz="1500" b="1" dirty="0">
                <a:solidFill>
                  <a:srgbClr val="FFFFFF"/>
                </a:solidFill>
                <a:latin typeface="Yu Gothic UI Semibold" pitchFamily="34" charset="0"/>
                <a:ea typeface="Yu Gothic UI Semibold" pitchFamily="34" charset="-122"/>
                <a:cs typeface="Yu Gothic UI Semibold" pitchFamily="34" charset="-120"/>
              </a:rPr>
              <a:t>観点 C</a:t>
            </a:r>
            <a:endParaRPr lang="en-US" sz="1500" dirty="0"/>
          </a:p>
        </p:txBody>
      </p:sp>
      <p:sp>
        <p:nvSpPr>
          <p:cNvPr id="20" name="Text 18"/>
          <p:cNvSpPr/>
          <p:nvPr/>
        </p:nvSpPr>
        <p:spPr>
          <a:xfrm>
            <a:off x="6263640" y="1892808"/>
            <a:ext cx="2359152" cy="548640"/>
          </a:xfrm>
          <a:prstGeom prst="rect">
            <a:avLst/>
          </a:prstGeom>
          <a:noFill/>
          <a:ln/>
        </p:spPr>
        <p:txBody>
          <a:bodyPr wrap="square" rtlCol="0" anchor="t"/>
          <a:lstStyle/>
          <a:p>
            <a:pPr indent="0" marL="0">
              <a:buNone/>
            </a:pPr>
            <a:r>
              <a:rPr lang="en-US" sz="1500" b="1" dirty="0">
                <a:solidFill>
                  <a:srgbClr val="1F3A5F"/>
                </a:solidFill>
                <a:latin typeface="Yu Gothic UI Semibold" pitchFamily="34" charset="0"/>
                <a:ea typeface="Yu Gothic UI Semibold" pitchFamily="34" charset="-122"/>
                <a:cs typeface="Yu Gothic UI Semibold" pitchFamily="34" charset="-120"/>
              </a:rPr>
              <a:t>C. 意味の理解度</a:t>
            </a:r>
            <a:endParaRPr lang="en-US" sz="1500" dirty="0"/>
          </a:p>
        </p:txBody>
      </p:sp>
      <p:sp>
        <p:nvSpPr>
          <p:cNvPr id="21" name="Text 19"/>
          <p:cNvSpPr/>
          <p:nvPr/>
        </p:nvSpPr>
        <p:spPr>
          <a:xfrm>
            <a:off x="6263640" y="2514600"/>
            <a:ext cx="2359152" cy="1051560"/>
          </a:xfrm>
          <a:prstGeom prst="rect">
            <a:avLst/>
          </a:prstGeom>
          <a:noFill/>
          <a:ln/>
        </p:spPr>
        <p:txBody>
          <a:bodyPr wrap="square" rtlCol="0" anchor="t"/>
          <a:lstStyle/>
          <a:p>
            <a:pPr indent="0" marL="0">
              <a:buNone/>
            </a:pPr>
            <a:r>
              <a:rPr lang="en-US" sz="1400" b="1" dirty="0">
                <a:solidFill>
                  <a:srgbClr val="0E7C86"/>
                </a:solidFill>
                <a:latin typeface="Yu Gothic UI" pitchFamily="34" charset="0"/>
                <a:ea typeface="Yu Gothic UI" pitchFamily="34" charset="-122"/>
                <a:cs typeface="Yu Gothic UI" pitchFamily="34" charset="-120"/>
              </a:rPr>
              <a:t>✓  </a:t>
            </a:r>
            <a:pPr indent="0" marL="0">
              <a:buNone/>
            </a:pPr>
            <a:r>
              <a:rPr lang="en-US" sz="1300" dirty="0">
                <a:solidFill>
                  <a:srgbClr val="1A1A1A"/>
                </a:solidFill>
                <a:latin typeface="Yu Gothic UI" pitchFamily="34" charset="0"/>
                <a:ea typeface="Yu Gothic UI" pitchFamily="34" charset="-122"/>
                <a:cs typeface="Yu Gothic UI" pitchFamily="34" charset="-120"/>
              </a:rPr>
              <a:t>「なぜOK/NG列を空にする」を自分の言葉で説明できるか</a:t>
            </a:r>
            <a:endParaRPr lang="en-US" sz="1300" dirty="0"/>
          </a:p>
        </p:txBody>
      </p:sp>
      <p:sp>
        <p:nvSpPr>
          <p:cNvPr id="22" name="Text 20"/>
          <p:cNvSpPr/>
          <p:nvPr/>
        </p:nvSpPr>
        <p:spPr>
          <a:xfrm>
            <a:off x="6263640" y="3611880"/>
            <a:ext cx="2359152" cy="1097280"/>
          </a:xfrm>
          <a:prstGeom prst="rect">
            <a:avLst/>
          </a:prstGeom>
          <a:noFill/>
          <a:ln/>
        </p:spPr>
        <p:txBody>
          <a:bodyPr wrap="square" rtlCol="0" anchor="t"/>
          <a:lstStyle/>
          <a:p>
            <a:pPr indent="0" marL="0">
              <a:buNone/>
            </a:pPr>
            <a:r>
              <a:rPr lang="en-US" sz="1400" b="1" dirty="0">
                <a:solidFill>
                  <a:srgbClr val="E8A33D"/>
                </a:solidFill>
                <a:latin typeface="Yu Gothic UI" pitchFamily="34" charset="0"/>
                <a:ea typeface="Yu Gothic UI" pitchFamily="34" charset="-122"/>
                <a:cs typeface="Yu Gothic UI" pitchFamily="34" charset="-120"/>
              </a:rPr>
              <a:t>💡  </a:t>
            </a:r>
            <a:pPr indent="0" marL="0">
              <a:buNone/>
            </a:pPr>
            <a:r>
              <a:rPr lang="en-US" sz="1300" dirty="0">
                <a:solidFill>
                  <a:srgbClr val="1A1A1A"/>
                </a:solidFill>
                <a:latin typeface="Yu Gothic UI" pitchFamily="34" charset="0"/>
                <a:ea typeface="Yu Gothic UI" pitchFamily="34" charset="-122"/>
                <a:cs typeface="Yu Gothic UI" pitchFamily="34" charset="-120"/>
              </a:rPr>
              <a:t>「AIの誤情報を止める最後の砦=人の目」を口頭確認</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457200" y="365760"/>
            <a:ext cx="8229600" cy="777240"/>
          </a:xfrm>
          <a:prstGeom prst="rect">
            <a:avLst/>
          </a:prstGeom>
          <a:noFill/>
          <a:ln/>
        </p:spPr>
        <p:txBody>
          <a:bodyPr wrap="square" rtlCol="0" anchor="ctr"/>
          <a:lstStyle/>
          <a:p>
            <a:pPr indent="0" marL="0">
              <a:buNone/>
            </a:pPr>
            <a:r>
              <a:rPr lang="en-US" sz="3200" b="1" dirty="0">
                <a:solidFill>
                  <a:srgbClr val="FFFFFF"/>
                </a:solidFill>
                <a:latin typeface="Yu Gothic UI Semibold" pitchFamily="34" charset="0"/>
                <a:ea typeface="Yu Gothic UI Semibold" pitchFamily="34" charset="-122"/>
                <a:cs typeface="Yu Gothic UI Semibold" pitchFamily="34" charset="-120"/>
              </a:rPr>
              <a:t>今日の持ち帰り</a:t>
            </a:r>
            <a:endParaRPr lang="en-US" sz="3200" dirty="0"/>
          </a:p>
        </p:txBody>
      </p:sp>
      <p:sp>
        <p:nvSpPr>
          <p:cNvPr id="3" name="Shape 1"/>
          <p:cNvSpPr/>
          <p:nvPr/>
        </p:nvSpPr>
        <p:spPr>
          <a:xfrm>
            <a:off x="457200" y="1188720"/>
            <a:ext cx="1371600" cy="54864"/>
          </a:xfrm>
          <a:prstGeom prst="rect">
            <a:avLst/>
          </a:prstGeom>
          <a:solidFill>
            <a:srgbClr val="E8A33D"/>
          </a:solidFill>
          <a:ln/>
        </p:spPr>
      </p:sp>
      <p:sp>
        <p:nvSpPr>
          <p:cNvPr id="4" name="Shape 2"/>
          <p:cNvSpPr/>
          <p:nvPr/>
        </p:nvSpPr>
        <p:spPr>
          <a:xfrm>
            <a:off x="457200" y="1554480"/>
            <a:ext cx="8229600" cy="1051560"/>
          </a:xfrm>
          <a:prstGeom prst="roundRect">
            <a:avLst>
              <a:gd name="adj" fmla="val 6957"/>
            </a:avLst>
          </a:prstGeom>
          <a:solidFill>
            <a:srgbClr val="2A4A75"/>
          </a:solidFill>
          <a:ln w="6350">
            <a:solidFill>
              <a:srgbClr val="0E7C86"/>
            </a:solidFill>
            <a:prstDash val="solid"/>
          </a:ln>
        </p:spPr>
      </p:sp>
      <p:sp>
        <p:nvSpPr>
          <p:cNvPr id="5" name="Text 3"/>
          <p:cNvSpPr/>
          <p:nvPr/>
        </p:nvSpPr>
        <p:spPr>
          <a:xfrm>
            <a:off x="658368" y="1719072"/>
            <a:ext cx="777240" cy="777240"/>
          </a:xfrm>
          <a:prstGeom prst="rect">
            <a:avLst/>
          </a:prstGeom>
          <a:noFill/>
          <a:ln/>
        </p:spPr>
        <p:txBody>
          <a:bodyPr wrap="square" rtlCol="0" anchor="ctr"/>
          <a:lstStyle/>
          <a:p>
            <a:pPr indent="0" marL="0">
              <a:buNone/>
            </a:pPr>
            <a:r>
              <a:rPr lang="en-US" sz="3400" b="1" dirty="0">
                <a:solidFill>
                  <a:srgbClr val="E8A33D"/>
                </a:solidFill>
                <a:latin typeface="Yu Gothic UI Semibold" pitchFamily="34" charset="0"/>
                <a:ea typeface="Yu Gothic UI Semibold" pitchFamily="34" charset="-122"/>
                <a:cs typeface="Yu Gothic UI Semibold" pitchFamily="34" charset="-120"/>
              </a:rPr>
              <a:t>01</a:t>
            </a:r>
            <a:endParaRPr lang="en-US" sz="3400" dirty="0"/>
          </a:p>
        </p:txBody>
      </p:sp>
      <p:sp>
        <p:nvSpPr>
          <p:cNvPr id="6" name="Text 4"/>
          <p:cNvSpPr/>
          <p:nvPr/>
        </p:nvSpPr>
        <p:spPr>
          <a:xfrm>
            <a:off x="1508760" y="1691640"/>
            <a:ext cx="6949440" cy="411480"/>
          </a:xfrm>
          <a:prstGeom prst="rect">
            <a:avLst/>
          </a:prstGeom>
          <a:noFill/>
          <a:ln/>
        </p:spPr>
        <p:txBody>
          <a:bodyPr wrap="square" rtlCol="0" anchor="ctr"/>
          <a:lstStyle/>
          <a:p>
            <a:pPr indent="0" marL="0">
              <a:buNone/>
            </a:pPr>
            <a:r>
              <a:rPr lang="en-US" sz="1800" b="1" dirty="0">
                <a:solidFill>
                  <a:srgbClr val="FFFFFF"/>
                </a:solidFill>
                <a:latin typeface="Yu Gothic UI Semibold" pitchFamily="34" charset="0"/>
                <a:ea typeface="Yu Gothic UI Semibold" pitchFamily="34" charset="-122"/>
                <a:cs typeface="Yu Gothic UI Semibold" pitchFamily="34" charset="-120"/>
              </a:rPr>
              <a:t>設計が先、AIは後</a:t>
            </a:r>
            <a:endParaRPr lang="en-US" sz="1800" dirty="0"/>
          </a:p>
        </p:txBody>
      </p:sp>
      <p:sp>
        <p:nvSpPr>
          <p:cNvPr id="7" name="Text 5"/>
          <p:cNvSpPr/>
          <p:nvPr/>
        </p:nvSpPr>
        <p:spPr>
          <a:xfrm>
            <a:off x="1508760" y="2121408"/>
            <a:ext cx="6949440" cy="457200"/>
          </a:xfrm>
          <a:prstGeom prst="rect">
            <a:avLst/>
          </a:prstGeom>
          <a:noFill/>
          <a:ln/>
        </p:spPr>
        <p:txBody>
          <a:bodyPr wrap="square" rtlCol="0" anchor="t"/>
          <a:lstStyle/>
          <a:p>
            <a:pPr indent="0" marL="0">
              <a:buNone/>
            </a:pPr>
            <a:r>
              <a:rPr lang="en-US" sz="1300" dirty="0">
                <a:solidFill>
                  <a:srgbClr val="E6ECF3"/>
                </a:solidFill>
                <a:latin typeface="Yu Gothic UI" pitchFamily="34" charset="0"/>
                <a:ea typeface="Yu Gothic UI" pitchFamily="34" charset="-122"/>
                <a:cs typeface="Yu Gothic UI" pitchFamily="34" charset="-120"/>
              </a:rPr>
              <a:t>判断基準を紙(設計シート)で決めてから実装に入ると、AI出力の良し悪しを判定できる。</a:t>
            </a:r>
            <a:endParaRPr lang="en-US" sz="1300" dirty="0"/>
          </a:p>
        </p:txBody>
      </p:sp>
      <p:sp>
        <p:nvSpPr>
          <p:cNvPr id="8" name="Shape 6"/>
          <p:cNvSpPr/>
          <p:nvPr/>
        </p:nvSpPr>
        <p:spPr>
          <a:xfrm>
            <a:off x="457200" y="2807208"/>
            <a:ext cx="8229600" cy="1051560"/>
          </a:xfrm>
          <a:prstGeom prst="roundRect">
            <a:avLst>
              <a:gd name="adj" fmla="val 6957"/>
            </a:avLst>
          </a:prstGeom>
          <a:solidFill>
            <a:srgbClr val="2A4A75"/>
          </a:solidFill>
          <a:ln w="6350">
            <a:solidFill>
              <a:srgbClr val="0E7C86"/>
            </a:solidFill>
            <a:prstDash val="solid"/>
          </a:ln>
        </p:spPr>
      </p:sp>
      <p:sp>
        <p:nvSpPr>
          <p:cNvPr id="9" name="Text 7"/>
          <p:cNvSpPr/>
          <p:nvPr/>
        </p:nvSpPr>
        <p:spPr>
          <a:xfrm>
            <a:off x="658368" y="2971800"/>
            <a:ext cx="777240" cy="777240"/>
          </a:xfrm>
          <a:prstGeom prst="rect">
            <a:avLst/>
          </a:prstGeom>
          <a:noFill/>
          <a:ln/>
        </p:spPr>
        <p:txBody>
          <a:bodyPr wrap="square" rtlCol="0" anchor="ctr"/>
          <a:lstStyle/>
          <a:p>
            <a:pPr indent="0" marL="0">
              <a:buNone/>
            </a:pPr>
            <a:r>
              <a:rPr lang="en-US" sz="3400" b="1" dirty="0">
                <a:solidFill>
                  <a:srgbClr val="E8A33D"/>
                </a:solidFill>
                <a:latin typeface="Yu Gothic UI Semibold" pitchFamily="34" charset="0"/>
                <a:ea typeface="Yu Gothic UI Semibold" pitchFamily="34" charset="-122"/>
                <a:cs typeface="Yu Gothic UI Semibold" pitchFamily="34" charset="-120"/>
              </a:rPr>
              <a:t>02</a:t>
            </a:r>
            <a:endParaRPr lang="en-US" sz="3400" dirty="0"/>
          </a:p>
        </p:txBody>
      </p:sp>
      <p:sp>
        <p:nvSpPr>
          <p:cNvPr id="10" name="Text 8"/>
          <p:cNvSpPr/>
          <p:nvPr/>
        </p:nvSpPr>
        <p:spPr>
          <a:xfrm>
            <a:off x="1508760" y="2944368"/>
            <a:ext cx="6949440" cy="411480"/>
          </a:xfrm>
          <a:prstGeom prst="rect">
            <a:avLst/>
          </a:prstGeom>
          <a:noFill/>
          <a:ln/>
        </p:spPr>
        <p:txBody>
          <a:bodyPr wrap="square" rtlCol="0" anchor="ctr"/>
          <a:lstStyle/>
          <a:p>
            <a:pPr indent="0" marL="0">
              <a:buNone/>
            </a:pPr>
            <a:r>
              <a:rPr lang="en-US" sz="1800" b="1" dirty="0">
                <a:solidFill>
                  <a:srgbClr val="FFFFFF"/>
                </a:solidFill>
                <a:latin typeface="Yu Gothic UI Semibold" pitchFamily="34" charset="0"/>
                <a:ea typeface="Yu Gothic UI Semibold" pitchFamily="34" charset="-122"/>
                <a:cs typeface="Yu Gothic UI Semibold" pitchFamily="34" charset="-120"/>
              </a:rPr>
              <a:t>ホワイトリスト+出典で信頼性</a:t>
            </a:r>
            <a:endParaRPr lang="en-US" sz="1800" dirty="0"/>
          </a:p>
        </p:txBody>
      </p:sp>
      <p:sp>
        <p:nvSpPr>
          <p:cNvPr id="11" name="Text 9"/>
          <p:cNvSpPr/>
          <p:nvPr/>
        </p:nvSpPr>
        <p:spPr>
          <a:xfrm>
            <a:off x="1508760" y="3374136"/>
            <a:ext cx="6949440" cy="457200"/>
          </a:xfrm>
          <a:prstGeom prst="rect">
            <a:avLst/>
          </a:prstGeom>
          <a:noFill/>
          <a:ln/>
        </p:spPr>
        <p:txBody>
          <a:bodyPr wrap="square" rtlCol="0" anchor="t"/>
          <a:lstStyle/>
          <a:p>
            <a:pPr indent="0" marL="0">
              <a:buNone/>
            </a:pPr>
            <a:r>
              <a:rPr lang="en-US" sz="1300" dirty="0">
                <a:solidFill>
                  <a:srgbClr val="E6ECF3"/>
                </a:solidFill>
                <a:latin typeface="Yu Gothic UI" pitchFamily="34" charset="0"/>
                <a:ea typeface="Yu Gothic UI" pitchFamily="34" charset="-122"/>
                <a:cs typeface="Yu Gothic UI" pitchFamily="34" charset="-120"/>
              </a:rPr>
              <a:t>公的機関限定+URL必須の縛りが、"届けていい情報" と "危ない情報" を分ける。</a:t>
            </a:r>
            <a:endParaRPr lang="en-US" sz="1300" dirty="0"/>
          </a:p>
        </p:txBody>
      </p:sp>
      <p:sp>
        <p:nvSpPr>
          <p:cNvPr id="12" name="Shape 10"/>
          <p:cNvSpPr/>
          <p:nvPr/>
        </p:nvSpPr>
        <p:spPr>
          <a:xfrm>
            <a:off x="457200" y="4059936"/>
            <a:ext cx="8229600" cy="1051560"/>
          </a:xfrm>
          <a:prstGeom prst="roundRect">
            <a:avLst>
              <a:gd name="adj" fmla="val 6957"/>
            </a:avLst>
          </a:prstGeom>
          <a:solidFill>
            <a:srgbClr val="2A4A75"/>
          </a:solidFill>
          <a:ln w="6350">
            <a:solidFill>
              <a:srgbClr val="0E7C86"/>
            </a:solidFill>
            <a:prstDash val="solid"/>
          </a:ln>
        </p:spPr>
      </p:sp>
      <p:sp>
        <p:nvSpPr>
          <p:cNvPr id="13" name="Text 11"/>
          <p:cNvSpPr/>
          <p:nvPr/>
        </p:nvSpPr>
        <p:spPr>
          <a:xfrm>
            <a:off x="658368" y="4224528"/>
            <a:ext cx="777240" cy="777240"/>
          </a:xfrm>
          <a:prstGeom prst="rect">
            <a:avLst/>
          </a:prstGeom>
          <a:noFill/>
          <a:ln/>
        </p:spPr>
        <p:txBody>
          <a:bodyPr wrap="square" rtlCol="0" anchor="ctr"/>
          <a:lstStyle/>
          <a:p>
            <a:pPr indent="0" marL="0">
              <a:buNone/>
            </a:pPr>
            <a:r>
              <a:rPr lang="en-US" sz="3400" b="1" dirty="0">
                <a:solidFill>
                  <a:srgbClr val="E8A33D"/>
                </a:solidFill>
                <a:latin typeface="Yu Gothic UI Semibold" pitchFamily="34" charset="0"/>
                <a:ea typeface="Yu Gothic UI Semibold" pitchFamily="34" charset="-122"/>
                <a:cs typeface="Yu Gothic UI Semibold" pitchFamily="34" charset="-120"/>
              </a:rPr>
              <a:t>03</a:t>
            </a:r>
            <a:endParaRPr lang="en-US" sz="3400" dirty="0"/>
          </a:p>
        </p:txBody>
      </p:sp>
      <p:sp>
        <p:nvSpPr>
          <p:cNvPr id="14" name="Text 12"/>
          <p:cNvSpPr/>
          <p:nvPr/>
        </p:nvSpPr>
        <p:spPr>
          <a:xfrm>
            <a:off x="1508760" y="4197096"/>
            <a:ext cx="6949440" cy="411480"/>
          </a:xfrm>
          <a:prstGeom prst="rect">
            <a:avLst/>
          </a:prstGeom>
          <a:noFill/>
          <a:ln/>
        </p:spPr>
        <p:txBody>
          <a:bodyPr wrap="square" rtlCol="0" anchor="ctr"/>
          <a:lstStyle/>
          <a:p>
            <a:pPr indent="0" marL="0">
              <a:buNone/>
            </a:pPr>
            <a:r>
              <a:rPr lang="en-US" sz="1800" b="1" dirty="0">
                <a:solidFill>
                  <a:srgbClr val="FFFFFF"/>
                </a:solidFill>
                <a:latin typeface="Yu Gothic UI Semibold" pitchFamily="34" charset="0"/>
                <a:ea typeface="Yu Gothic UI Semibold" pitchFamily="34" charset="-122"/>
                <a:cs typeface="Yu Gothic UI Semibold" pitchFamily="34" charset="-120"/>
              </a:rPr>
              <a:t>応用編はLINE配信に接続</a:t>
            </a:r>
            <a:endParaRPr lang="en-US" sz="1800" dirty="0"/>
          </a:p>
        </p:txBody>
      </p:sp>
      <p:sp>
        <p:nvSpPr>
          <p:cNvPr id="15" name="Text 13"/>
          <p:cNvSpPr/>
          <p:nvPr/>
        </p:nvSpPr>
        <p:spPr>
          <a:xfrm>
            <a:off x="1508760" y="4626864"/>
            <a:ext cx="6949440" cy="457200"/>
          </a:xfrm>
          <a:prstGeom prst="rect">
            <a:avLst/>
          </a:prstGeom>
          <a:noFill/>
          <a:ln/>
        </p:spPr>
        <p:txBody>
          <a:bodyPr wrap="square" rtlCol="0" anchor="t"/>
          <a:lstStyle/>
          <a:p>
            <a:pPr indent="0" marL="0">
              <a:buNone/>
            </a:pPr>
            <a:r>
              <a:rPr lang="en-US" sz="1300" dirty="0">
                <a:solidFill>
                  <a:srgbClr val="E6ECF3"/>
                </a:solidFill>
                <a:latin typeface="Yu Gothic UI" pitchFamily="34" charset="0"/>
                <a:ea typeface="Yu Gothic UI" pitchFamily="34" charset="-122"/>
                <a:cs typeface="Yu Gothic UI" pitchFamily="34" charset="-120"/>
              </a:rPr>
              <a:t>集めた原稿をOK判定→broadcast配信までを次の3時間で完成させる。</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2026-07-03T05:15:01Z</dcterms:created>
  <dcterms:modified xsi:type="dcterms:W3CDTF">2026-07-03T05:15:01Z</dcterms:modified>
</cp:coreProperties>
</file>