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2194560"/>
            <a:ext cx="9144000" cy="4572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188720"/>
            <a:ext cx="804672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LINE 自動配信の実装と安全機構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548640" y="233172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集めた原稿を、無料枠内で、Webhookを触らずに、安全に届ける</a:t>
            </a:r>
            <a:endParaRPr lang="en-US" sz="1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201168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学習目標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11480" y="1417320"/>
            <a:ext cx="2651760" cy="2926080"/>
          </a:xfrm>
          <a:prstGeom prst="roundRect">
            <a:avLst>
              <a:gd name="adj" fmla="val 3448"/>
            </a:avLst>
          </a:prstGeom>
          <a:solidFill>
            <a:srgbClr val="F4F6F9"/>
          </a:solidFill>
          <a:ln w="19050">
            <a:solidFill>
              <a:srgbClr val="0E7C8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1417320"/>
            <a:ext cx="2468880" cy="73152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6" name="Text 4"/>
          <p:cNvSpPr/>
          <p:nvPr/>
        </p:nvSpPr>
        <p:spPr>
          <a:xfrm>
            <a:off x="612648" y="1600200"/>
            <a:ext cx="914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7C86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01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612648" y="2286000"/>
            <a:ext cx="2249424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Messaging APIを設定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612648" y="3017520"/>
            <a:ext cx="2249424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チャネル作成+トークン取得 (Webhook設定は絶対に触らない)。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246120" y="1417320"/>
            <a:ext cx="2651760" cy="2926080"/>
          </a:xfrm>
          <a:prstGeom prst="roundRect">
            <a:avLst>
              <a:gd name="adj" fmla="val 3448"/>
            </a:avLst>
          </a:prstGeom>
          <a:solidFill>
            <a:srgbClr val="F4F6F9"/>
          </a:solidFill>
          <a:ln w="19050">
            <a:solidFill>
              <a:srgbClr val="E8A33D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337560" y="1417320"/>
            <a:ext cx="2468880" cy="73152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1" name="Text 9"/>
          <p:cNvSpPr/>
          <p:nvPr/>
        </p:nvSpPr>
        <p:spPr>
          <a:xfrm>
            <a:off x="3447288" y="1600200"/>
            <a:ext cx="914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A33D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02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3447288" y="2286000"/>
            <a:ext cx="2249424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broadcast配信GASをバイブコーディング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3447288" y="3017520"/>
            <a:ext cx="2249424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OK承認された1件を全員に1コールで送る仕組みを作る。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080760" y="1417320"/>
            <a:ext cx="2651760" cy="2926080"/>
          </a:xfrm>
          <a:prstGeom prst="roundRect">
            <a:avLst>
              <a:gd name="adj" fmla="val 3448"/>
            </a:avLst>
          </a:prstGeom>
          <a:solidFill>
            <a:srgbClr val="F4F6F9"/>
          </a:solidFill>
          <a:ln w="19050">
            <a:solidFill>
              <a:srgbClr val="1F3A5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172200" y="1417320"/>
            <a:ext cx="2468880" cy="73152"/>
          </a:xfrm>
          <a:prstGeom prst="rect">
            <a:avLst/>
          </a:prstGeom>
          <a:solidFill>
            <a:srgbClr val="1F3A5F"/>
          </a:solidFill>
          <a:ln/>
        </p:spPr>
      </p:sp>
      <p:sp>
        <p:nvSpPr>
          <p:cNvPr id="16" name="Text 14"/>
          <p:cNvSpPr/>
          <p:nvPr/>
        </p:nvSpPr>
        <p:spPr>
          <a:xfrm>
            <a:off x="6281928" y="1600200"/>
            <a:ext cx="914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03</a:t>
            </a:r>
            <a:endParaRPr lang="en-US" sz="3000" dirty="0"/>
          </a:p>
        </p:txBody>
      </p:sp>
      <p:sp>
        <p:nvSpPr>
          <p:cNvPr id="17" name="Text 15"/>
          <p:cNvSpPr/>
          <p:nvPr/>
        </p:nvSpPr>
        <p:spPr>
          <a:xfrm>
            <a:off x="6281928" y="2286000"/>
            <a:ext cx="2249424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自動化+安全機構を追加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6281928" y="3017520"/>
            <a:ext cx="2249424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定時トリガー+無料枠監視+エラー通知を仕込む。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201168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STEP1: 抑えておきたい用語と仕様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365760" y="1188720"/>
            <a:ext cx="1979676" cy="3017520"/>
          </a:xfrm>
          <a:prstGeom prst="roundRect">
            <a:avLst>
              <a:gd name="adj" fmla="val 4619"/>
            </a:avLst>
          </a:prstGeom>
          <a:solidFill>
            <a:srgbClr val="FFFFFF"/>
          </a:solidFill>
          <a:ln w="19050">
            <a:solidFill>
              <a:srgbClr val="0E7C8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65760" y="1188720"/>
            <a:ext cx="1979676" cy="566928"/>
          </a:xfrm>
          <a:prstGeom prst="roundRect">
            <a:avLst>
              <a:gd name="adj" fmla="val 16129"/>
            </a:avLst>
          </a:prstGeom>
          <a:solidFill>
            <a:srgbClr val="0E7C86"/>
          </a:solidFill>
          <a:ln/>
        </p:spPr>
      </p:sp>
      <p:sp>
        <p:nvSpPr>
          <p:cNvPr id="6" name="Shape 4"/>
          <p:cNvSpPr/>
          <p:nvPr/>
        </p:nvSpPr>
        <p:spPr>
          <a:xfrm>
            <a:off x="365760" y="1417320"/>
            <a:ext cx="1979676" cy="338328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7" name="Text 5"/>
          <p:cNvSpPr/>
          <p:nvPr/>
        </p:nvSpPr>
        <p:spPr>
          <a:xfrm>
            <a:off x="493776" y="1280160"/>
            <a:ext cx="17236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Messaging API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30352" y="1938528"/>
            <a:ext cx="1650492" cy="2148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LINE公式アカウントを外部プログラムから操作する仕組み。</a:t>
            </a:r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送信と受信の両機能がある。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2510028" y="1188720"/>
            <a:ext cx="1979676" cy="3017520"/>
          </a:xfrm>
          <a:prstGeom prst="roundRect">
            <a:avLst>
              <a:gd name="adj" fmla="val 4619"/>
            </a:avLst>
          </a:prstGeom>
          <a:solidFill>
            <a:srgbClr val="FFFFFF"/>
          </a:solidFill>
          <a:ln w="19050">
            <a:solidFill>
              <a:srgbClr val="E8A33D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510028" y="1188720"/>
            <a:ext cx="1979676" cy="566928"/>
          </a:xfrm>
          <a:prstGeom prst="roundRect">
            <a:avLst>
              <a:gd name="adj" fmla="val 16129"/>
            </a:avLst>
          </a:prstGeom>
          <a:solidFill>
            <a:srgbClr val="E8A33D"/>
          </a:solidFill>
          <a:ln/>
        </p:spPr>
      </p:sp>
      <p:sp>
        <p:nvSpPr>
          <p:cNvPr id="11" name="Shape 9"/>
          <p:cNvSpPr/>
          <p:nvPr/>
        </p:nvSpPr>
        <p:spPr>
          <a:xfrm>
            <a:off x="2510028" y="1417320"/>
            <a:ext cx="1979676" cy="338328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2" name="Text 10"/>
          <p:cNvSpPr/>
          <p:nvPr/>
        </p:nvSpPr>
        <p:spPr>
          <a:xfrm>
            <a:off x="2638044" y="1280160"/>
            <a:ext cx="17236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チャネルアクセストークン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2674620" y="1938528"/>
            <a:ext cx="1650492" cy="2148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配信の認証鍵。</a:t>
            </a:r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スクリプトプロパティに保管し、コードに直書きしない。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4654296" y="1188720"/>
            <a:ext cx="1979676" cy="3017520"/>
          </a:xfrm>
          <a:prstGeom prst="roundRect">
            <a:avLst>
              <a:gd name="adj" fmla="val 4619"/>
            </a:avLst>
          </a:prstGeom>
          <a:solidFill>
            <a:srgbClr val="FFFFFF"/>
          </a:solidFill>
          <a:ln w="19050">
            <a:solidFill>
              <a:srgbClr val="1F3A5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654296" y="1188720"/>
            <a:ext cx="1979676" cy="566928"/>
          </a:xfrm>
          <a:prstGeom prst="roundRect">
            <a:avLst>
              <a:gd name="adj" fmla="val 16129"/>
            </a:avLst>
          </a:prstGeom>
          <a:solidFill>
            <a:srgbClr val="1F3A5F"/>
          </a:solidFill>
          <a:ln/>
        </p:spPr>
      </p:sp>
      <p:sp>
        <p:nvSpPr>
          <p:cNvPr id="16" name="Shape 14"/>
          <p:cNvSpPr/>
          <p:nvPr/>
        </p:nvSpPr>
        <p:spPr>
          <a:xfrm>
            <a:off x="4654296" y="1417320"/>
            <a:ext cx="1979676" cy="338328"/>
          </a:xfrm>
          <a:prstGeom prst="rect">
            <a:avLst/>
          </a:prstGeom>
          <a:solidFill>
            <a:srgbClr val="1F3A5F"/>
          </a:solidFill>
          <a:ln/>
        </p:spPr>
      </p:sp>
      <p:sp>
        <p:nvSpPr>
          <p:cNvPr id="17" name="Text 15"/>
          <p:cNvSpPr/>
          <p:nvPr/>
        </p:nvSpPr>
        <p:spPr>
          <a:xfrm>
            <a:off x="4782312" y="1280160"/>
            <a:ext cx="17236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broadcast API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4818888" y="1938528"/>
            <a:ext cx="1650492" cy="2148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全友だちに1コールで配信するAPI。</a:t>
            </a:r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今回の主役。</a:t>
            </a:r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個別IDリスト不要。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6798564" y="1188720"/>
            <a:ext cx="1979676" cy="3017520"/>
          </a:xfrm>
          <a:prstGeom prst="roundRect">
            <a:avLst>
              <a:gd name="adj" fmla="val 4619"/>
            </a:avLst>
          </a:prstGeom>
          <a:solidFill>
            <a:srgbClr val="FFFFFF"/>
          </a:solidFill>
          <a:ln w="19050">
            <a:solidFill>
              <a:srgbClr val="7C5F8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798564" y="1188720"/>
            <a:ext cx="1979676" cy="566928"/>
          </a:xfrm>
          <a:prstGeom prst="roundRect">
            <a:avLst>
              <a:gd name="adj" fmla="val 16129"/>
            </a:avLst>
          </a:prstGeom>
          <a:solidFill>
            <a:srgbClr val="7C5F8A"/>
          </a:solidFill>
          <a:ln/>
        </p:spPr>
      </p:sp>
      <p:sp>
        <p:nvSpPr>
          <p:cNvPr id="21" name="Shape 19"/>
          <p:cNvSpPr/>
          <p:nvPr/>
        </p:nvSpPr>
        <p:spPr>
          <a:xfrm>
            <a:off x="6798564" y="1417320"/>
            <a:ext cx="1979676" cy="338328"/>
          </a:xfrm>
          <a:prstGeom prst="rect">
            <a:avLst/>
          </a:prstGeom>
          <a:solidFill>
            <a:srgbClr val="7C5F8A"/>
          </a:solidFill>
          <a:ln/>
        </p:spPr>
      </p:sp>
      <p:sp>
        <p:nvSpPr>
          <p:cNvPr id="22" name="Text 20"/>
          <p:cNvSpPr/>
          <p:nvPr/>
        </p:nvSpPr>
        <p:spPr>
          <a:xfrm>
            <a:off x="6926580" y="1280160"/>
            <a:ext cx="17236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無料枠 月200通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6963156" y="1938528"/>
            <a:ext cx="1650492" cy="2148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個人向け無料プランの月間送信上限。</a:t>
            </a:r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超えると翌月まで送れない。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365760" y="4389120"/>
            <a:ext cx="841248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※ </a:t>
            </a:r>
            <a:pPr indent="0" marL="0">
              <a:buNone/>
            </a:pPr>
            <a:r>
              <a:rPr lang="en-US" sz="11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Messaging API: </a:t>
            </a:r>
            <a:pPr indent="0" marL="0">
              <a:buNone/>
            </a:pPr>
            <a:r>
              <a:rPr lang="en-US" sz="1100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今回は送信(Push)のみ使う   </a:t>
            </a:r>
            <a:pPr indent="0" marL="0">
              <a:buNone/>
            </a:pPr>
            <a:r>
              <a:rPr lang="en-US" sz="1100" b="1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※ </a:t>
            </a:r>
            <a:pPr indent="0" marL="0">
              <a:buNone/>
            </a:pPr>
            <a:r>
              <a:rPr lang="en-US" sz="11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チャネルアクセストークン: </a:t>
            </a:r>
            <a:pPr indent="0" marL="0">
              <a:buNone/>
            </a:pPr>
            <a:r>
              <a:rPr lang="en-US" sz="1100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漏れたら勝手に配信される、超重要   </a:t>
            </a:r>
            <a:pPr indent="0" marL="0">
              <a:buNone/>
            </a:pPr>
            <a:r>
              <a:rPr lang="en-US" sz="1100" b="1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※ </a:t>
            </a:r>
            <a:pPr indent="0" marL="0">
              <a:buNone/>
            </a:pPr>
            <a:r>
              <a:rPr lang="en-US" sz="11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broadcast API: </a:t>
            </a:r>
            <a:pPr indent="0" marL="0">
              <a:buNone/>
            </a:pPr>
            <a:r>
              <a:rPr lang="en-US" sz="1100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通数は「友だち数×配信回数」で消費   </a:t>
            </a:r>
            <a:pPr indent="0" marL="0">
              <a:buNone/>
            </a:pPr>
            <a:r>
              <a:rPr lang="en-US" sz="1100" b="1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※ </a:t>
            </a:r>
            <a:pPr indent="0" marL="0">
              <a:buNone/>
            </a:pPr>
            <a:r>
              <a:rPr lang="en-US" sz="11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無料枠 月200通: </a:t>
            </a:r>
            <a:pPr indent="0" marL="0">
              <a:buNone/>
            </a:pPr>
            <a:r>
              <a:rPr lang="en-US" sz="1100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例: 友だち20人×週2回=月160通で安全圏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201168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演習1 broadcast配信GASをバイブコーディング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11480" y="1005840"/>
            <a:ext cx="4160520" cy="1783080"/>
          </a:xfrm>
          <a:prstGeom prst="roundRect">
            <a:avLst>
              <a:gd name="adj" fmla="val 4103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11480" y="1005840"/>
            <a:ext cx="91440" cy="1783080"/>
          </a:xfrm>
          <a:prstGeom prst="rect">
            <a:avLst/>
          </a:prstGeom>
          <a:solidFill>
            <a:srgbClr val="1F3A5F"/>
          </a:solidFill>
          <a:ln/>
        </p:spPr>
      </p:sp>
      <p:sp>
        <p:nvSpPr>
          <p:cNvPr id="6" name="Text 4"/>
          <p:cNvSpPr/>
          <p:nvPr/>
        </p:nvSpPr>
        <p:spPr>
          <a:xfrm>
            <a:off x="612648" y="1097280"/>
            <a:ext cx="384962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📍 シチュエーション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49224" y="1536192"/>
            <a:ext cx="3703320" cy="11612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【場面】演習1(W01)で集めた原稿がスプシに溜まっている。人がOK判定した1件を、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LINE Messaging API の broadcast で全員に届ける。ここで Webhook設定は絶対に開かない。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11480" y="2880360"/>
            <a:ext cx="4160520" cy="2011680"/>
          </a:xfrm>
          <a:prstGeom prst="roundRect">
            <a:avLst>
              <a:gd name="adj" fmla="val 3636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11480" y="2880360"/>
            <a:ext cx="91440" cy="2011680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0" name="Text 8"/>
          <p:cNvSpPr/>
          <p:nvPr/>
        </p:nvSpPr>
        <p:spPr>
          <a:xfrm>
            <a:off x="612648" y="2971800"/>
            <a:ext cx="384962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A33D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💭 プロンプトのヒント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49224" y="3410712"/>
            <a:ext cx="3703320" cy="13898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なぜ Webhook触らない？ → 上書きするとLステップの受信が止まる (前回学習の復習)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broadcastの通数は 1コール=友だち数消費、月200通枠に注意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Gemini に「LINE Messaging API broadcast の GAS」と依頼、トークンはスクリプトプロパティ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最初は自分アカウントだけでテスト、内容と表示確認してから本番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663440" y="1005840"/>
            <a:ext cx="4160520" cy="3886200"/>
          </a:xfrm>
          <a:prstGeom prst="roundRect">
            <a:avLst>
              <a:gd name="adj" fmla="val 1882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663440" y="1005840"/>
            <a:ext cx="91440" cy="38862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14" name="Text 12"/>
          <p:cNvSpPr/>
          <p:nvPr/>
        </p:nvSpPr>
        <p:spPr>
          <a:xfrm>
            <a:off x="4864608" y="1097280"/>
            <a:ext cx="384962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7C86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🎯 AIに作ってもらいたいもの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4901184" y="1536192"/>
            <a:ext cx="3703320" cy="32644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【ゴール】LINE Developers でMessaging APIチャネルを作成 → チャネルアクセストークン取得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Webhook設定タブは開かない/触らない (Lステップの連携を保つため)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GAS でスプシの「今日 &amp; OK &amp; 未配信」の1件を broadcast で送信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本文末に「出典URL」を必ず添付、配信後に「配信済み」フラグを立てる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201168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演習1 broadcast配信GASをバイブコーディング — 観点別チェック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11480" y="804672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プロンプトをさらにブラッシュアップ — 3観点でセルフチェック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11480" y="1325880"/>
            <a:ext cx="2651760" cy="3474720"/>
          </a:xfrm>
          <a:prstGeom prst="roundRect">
            <a:avLst>
              <a:gd name="adj" fmla="val 3448"/>
            </a:avLst>
          </a:prstGeom>
          <a:solidFill>
            <a:srgbClr val="F4F6F9"/>
          </a:solidFill>
          <a:ln w="15240">
            <a:solidFill>
              <a:srgbClr val="0E7C8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11480" y="1325880"/>
            <a:ext cx="2651760" cy="4572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7" name="Text 5"/>
          <p:cNvSpPr/>
          <p:nvPr/>
        </p:nvSpPr>
        <p:spPr>
          <a:xfrm>
            <a:off x="539496" y="1380744"/>
            <a:ext cx="23957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観点 A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594360" y="1892808"/>
            <a:ext cx="235915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A. Webhookの保全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594360" y="2514600"/>
            <a:ext cx="2359152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7C86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✓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LINE Developers の Webhook 設定タブを一度も開いていないか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94360" y="3611880"/>
            <a:ext cx="2359152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💡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万一開いてしまってもURLは変えない、変えるとLステップ側で受信不可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246120" y="1325880"/>
            <a:ext cx="2651760" cy="3474720"/>
          </a:xfrm>
          <a:prstGeom prst="roundRect">
            <a:avLst>
              <a:gd name="adj" fmla="val 3448"/>
            </a:avLst>
          </a:prstGeom>
          <a:solidFill>
            <a:srgbClr val="F4F6F9"/>
          </a:solidFill>
          <a:ln w="15240">
            <a:solidFill>
              <a:srgbClr val="E8A33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246120" y="1325880"/>
            <a:ext cx="2651760" cy="457200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3" name="Text 11"/>
          <p:cNvSpPr/>
          <p:nvPr/>
        </p:nvSpPr>
        <p:spPr>
          <a:xfrm>
            <a:off x="3374136" y="1380744"/>
            <a:ext cx="23957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観点 B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3429000" y="1892808"/>
            <a:ext cx="235915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B. トークン管理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3429000" y="2514600"/>
            <a:ext cx="2359152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7C86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✓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チャネルトークンがコードに直書きされていないか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3429000" y="3611880"/>
            <a:ext cx="2359152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💡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コードのバージョン管理に載る前にスクリプトプロパティへ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6080760" y="1325880"/>
            <a:ext cx="2651760" cy="3474720"/>
          </a:xfrm>
          <a:prstGeom prst="roundRect">
            <a:avLst>
              <a:gd name="adj" fmla="val 3448"/>
            </a:avLst>
          </a:prstGeom>
          <a:solidFill>
            <a:srgbClr val="F4F6F9"/>
          </a:solidFill>
          <a:ln w="15240">
            <a:solidFill>
              <a:srgbClr val="7C5F8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080760" y="1325880"/>
            <a:ext cx="2651760" cy="457200"/>
          </a:xfrm>
          <a:prstGeom prst="rect">
            <a:avLst/>
          </a:prstGeom>
          <a:solidFill>
            <a:srgbClr val="7C5F8A"/>
          </a:solidFill>
          <a:ln/>
        </p:spPr>
      </p:sp>
      <p:sp>
        <p:nvSpPr>
          <p:cNvPr id="19" name="Text 17"/>
          <p:cNvSpPr/>
          <p:nvPr/>
        </p:nvSpPr>
        <p:spPr>
          <a:xfrm>
            <a:off x="6208776" y="1380744"/>
            <a:ext cx="23957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観点 C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6263640" y="1892808"/>
            <a:ext cx="235915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C. 意味の理解度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263640" y="2514600"/>
            <a:ext cx="2359152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7C86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✓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「broadcast の通数消費は 1コール=友だち数」を説明できるか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263640" y="3611880"/>
            <a:ext cx="2359152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💡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友だち20人時の週1配信=月80通の暗算ができる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201168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演習2 自動化+安全機構 (定時+無料枠監視+通知)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11480" y="1005840"/>
            <a:ext cx="4160520" cy="1783080"/>
          </a:xfrm>
          <a:prstGeom prst="roundRect">
            <a:avLst>
              <a:gd name="adj" fmla="val 4103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11480" y="1005840"/>
            <a:ext cx="91440" cy="1783080"/>
          </a:xfrm>
          <a:prstGeom prst="rect">
            <a:avLst/>
          </a:prstGeom>
          <a:solidFill>
            <a:srgbClr val="1F3A5F"/>
          </a:solidFill>
          <a:ln/>
        </p:spPr>
      </p:sp>
      <p:sp>
        <p:nvSpPr>
          <p:cNvPr id="6" name="Text 4"/>
          <p:cNvSpPr/>
          <p:nvPr/>
        </p:nvSpPr>
        <p:spPr>
          <a:xfrm>
            <a:off x="612648" y="1097280"/>
            <a:ext cx="384962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📍 シチュエーション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49224" y="1536192"/>
            <a:ext cx="3703320" cy="11612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手動配信のままでは続かない。定時トリガーで自動化しつつ、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「無料枠200通に到達したら自動停止」「エラー時に管理者へメール通知」の安全機構を追加する。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11480" y="2880360"/>
            <a:ext cx="4160520" cy="2011680"/>
          </a:xfrm>
          <a:prstGeom prst="roundRect">
            <a:avLst>
              <a:gd name="adj" fmla="val 3636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11480" y="2880360"/>
            <a:ext cx="91440" cy="2011680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0" name="Text 8"/>
          <p:cNvSpPr/>
          <p:nvPr/>
        </p:nvSpPr>
        <p:spPr>
          <a:xfrm>
            <a:off x="612648" y="2971800"/>
            <a:ext cx="384962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A33D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💭 プロンプトのヒント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49224" y="3410712"/>
            <a:ext cx="3703320" cy="13898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通数計算: 送信前に「友だち数(概算) × 1」を加算、月次でリセット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友だち数の取得: LINE API /v2/bot/insight/followers から (or 固定値でスタート)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なぜ自動停止？ → 意図せず配信不能状態や課金誘発を防ぐため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通知は SpreadsheetApp.getUi() ではなく MailApp.sendEmail (トリガー実行時UI使えない)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663440" y="1005840"/>
            <a:ext cx="4160520" cy="3886200"/>
          </a:xfrm>
          <a:prstGeom prst="roundRect">
            <a:avLst>
              <a:gd name="adj" fmla="val 1882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663440" y="1005840"/>
            <a:ext cx="91440" cy="38862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14" name="Text 12"/>
          <p:cNvSpPr/>
          <p:nvPr/>
        </p:nvSpPr>
        <p:spPr>
          <a:xfrm>
            <a:off x="4864608" y="1097280"/>
            <a:ext cx="384962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7C86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🎯 AIに作ってもらいたいもの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4901184" y="1536192"/>
            <a:ext cx="3703320" cy="32644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毎朝9時に配信GASを実行する時間トリガーを設定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スクリプトプロパティに月間通数カウンター (MONTHLY_COUNT/MONTH_YYYYMM) を持つ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200通到達で送信スキップ+管理者通知メール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try-catchで例外を捕捉し、エラー時に管理者メール通知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201168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演習2 自動化+安全機構 (定時+無料枠監視+通知) — 観点別チェック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11480" y="804672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プロンプトをさらにブラッシュアップ — 3観点でセルフチェック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11480" y="1325880"/>
            <a:ext cx="2651760" cy="3474720"/>
          </a:xfrm>
          <a:prstGeom prst="roundRect">
            <a:avLst>
              <a:gd name="adj" fmla="val 3448"/>
            </a:avLst>
          </a:prstGeom>
          <a:solidFill>
            <a:srgbClr val="F4F6F9"/>
          </a:solidFill>
          <a:ln w="15240">
            <a:solidFill>
              <a:srgbClr val="0E7C8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11480" y="1325880"/>
            <a:ext cx="2651760" cy="4572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7" name="Text 5"/>
          <p:cNvSpPr/>
          <p:nvPr/>
        </p:nvSpPr>
        <p:spPr>
          <a:xfrm>
            <a:off x="539496" y="1380744"/>
            <a:ext cx="23957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観点 A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594360" y="1892808"/>
            <a:ext cx="235915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A. カウンター整合性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594360" y="2514600"/>
            <a:ext cx="2359152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7C86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✓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月替わりでカウンターがリセットされるか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94360" y="3611880"/>
            <a:ext cx="2359152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💡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MONTH_YYYYMM を持ち、変わったらゼロクリア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246120" y="1325880"/>
            <a:ext cx="2651760" cy="3474720"/>
          </a:xfrm>
          <a:prstGeom prst="roundRect">
            <a:avLst>
              <a:gd name="adj" fmla="val 3448"/>
            </a:avLst>
          </a:prstGeom>
          <a:solidFill>
            <a:srgbClr val="F4F6F9"/>
          </a:solidFill>
          <a:ln w="15240">
            <a:solidFill>
              <a:srgbClr val="E8A33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246120" y="1325880"/>
            <a:ext cx="2651760" cy="457200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3" name="Text 11"/>
          <p:cNvSpPr/>
          <p:nvPr/>
        </p:nvSpPr>
        <p:spPr>
          <a:xfrm>
            <a:off x="3374136" y="1380744"/>
            <a:ext cx="23957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観点 B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3429000" y="1892808"/>
            <a:ext cx="235915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B. 停止機構の検証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3429000" y="2514600"/>
            <a:ext cx="2359152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7C86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✓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わざと閾値を10通などに設定して自動停止が動くか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3429000" y="3611880"/>
            <a:ext cx="2359152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💡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テスト後に本番の200通に戻すのを忘れない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6080760" y="1325880"/>
            <a:ext cx="2651760" cy="3474720"/>
          </a:xfrm>
          <a:prstGeom prst="roundRect">
            <a:avLst>
              <a:gd name="adj" fmla="val 3448"/>
            </a:avLst>
          </a:prstGeom>
          <a:solidFill>
            <a:srgbClr val="F4F6F9"/>
          </a:solidFill>
          <a:ln w="15240">
            <a:solidFill>
              <a:srgbClr val="7C5F8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080760" y="1325880"/>
            <a:ext cx="2651760" cy="457200"/>
          </a:xfrm>
          <a:prstGeom prst="rect">
            <a:avLst/>
          </a:prstGeom>
          <a:solidFill>
            <a:srgbClr val="7C5F8A"/>
          </a:solidFill>
          <a:ln/>
        </p:spPr>
      </p:sp>
      <p:sp>
        <p:nvSpPr>
          <p:cNvPr id="19" name="Text 17"/>
          <p:cNvSpPr/>
          <p:nvPr/>
        </p:nvSpPr>
        <p:spPr>
          <a:xfrm>
            <a:off x="6208776" y="1380744"/>
            <a:ext cx="23957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観点 C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6263640" y="1892808"/>
            <a:ext cx="235915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C. 意味の理解度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263640" y="2514600"/>
            <a:ext cx="2359152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7C86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✓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「なぜ safe stop が必要か」を自分の言葉で言えるか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263640" y="3611880"/>
            <a:ext cx="2359152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💡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意図せぬ配信停止/課金/信頼低下を口頭で説明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F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今日の持ち帰り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1371600" cy="54864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4" name="Shape 2"/>
          <p:cNvSpPr/>
          <p:nvPr/>
        </p:nvSpPr>
        <p:spPr>
          <a:xfrm>
            <a:off x="457200" y="155448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2A4A75"/>
          </a:solidFill>
          <a:ln w="6350">
            <a:solidFill>
              <a:srgbClr val="0E7C8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58368" y="1719072"/>
            <a:ext cx="777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8A33D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01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1508760" y="1691640"/>
            <a:ext cx="6949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設計→実装で意味が残る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508760" y="2121408"/>
            <a:ext cx="69494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6ECF3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前半3時間で "なぜ" を固め、後半3時間で "どう" を実装したから、修正も応用も自分で出来る。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2807208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2A4A75"/>
          </a:solidFill>
          <a:ln w="6350">
            <a:solidFill>
              <a:srgbClr val="0E7C8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" y="2971800"/>
            <a:ext cx="777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8A33D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02</a:t>
            </a:r>
            <a:endParaRPr lang="en-US" sz="3400" dirty="0"/>
          </a:p>
        </p:txBody>
      </p:sp>
      <p:sp>
        <p:nvSpPr>
          <p:cNvPr id="10" name="Text 8"/>
          <p:cNvSpPr/>
          <p:nvPr/>
        </p:nvSpPr>
        <p:spPr>
          <a:xfrm>
            <a:off x="1508760" y="2944368"/>
            <a:ext cx="6949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Webhook触らずbroadcast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08760" y="3374136"/>
            <a:ext cx="69494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6ECF3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既存Lステップを壊さず、送信専用ルートで安全にデモが回る。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57200" y="4059936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2A4A75"/>
          </a:solidFill>
          <a:ln w="6350">
            <a:solidFill>
              <a:srgbClr val="0E7C8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58368" y="4224528"/>
            <a:ext cx="777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8A33D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03</a:t>
            </a:r>
            <a:endParaRPr lang="en-US" sz="3400" dirty="0"/>
          </a:p>
        </p:txBody>
      </p:sp>
      <p:sp>
        <p:nvSpPr>
          <p:cNvPr id="14" name="Text 12"/>
          <p:cNvSpPr/>
          <p:nvPr/>
        </p:nvSpPr>
        <p:spPr>
          <a:xfrm>
            <a:off x="1508760" y="4197096"/>
            <a:ext cx="6949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自動化には安全機構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508760" y="4626864"/>
            <a:ext cx="69494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6ECF3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無料枠監視+エラー通知が、意図せぬ配信停止や課金トラブルを防ぐ。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2026-07-03T06:36:04Z</dcterms:created>
  <dcterms:modified xsi:type="dcterms:W3CDTF">2026-07-03T06:36:04Z</dcterms:modified>
</cp:coreProperties>
</file>