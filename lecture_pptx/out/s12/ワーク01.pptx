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A5F"/>
        </a:solidFill>
      </p:bgPr>
    </p:bg>
    <p:spTree>
      <p:nvGrpSpPr>
        <p:cNvPr id="1" name=""/>
        <p:cNvGrpSpPr/>
        <p:nvPr/>
      </p:nvGrpSpPr>
      <p:grpSpPr>
        <a:xfrm>
          <a:off x="0" y="0"/>
          <a:ext cx="0" cy="0"/>
          <a:chOff x="0" y="0"/>
          <a:chExt cx="0" cy="0"/>
        </a:xfrm>
      </p:grpSpPr>
      <p:sp>
        <p:nvSpPr>
          <p:cNvPr id="2" name="Shape 0"/>
          <p:cNvSpPr/>
          <p:nvPr/>
        </p:nvSpPr>
        <p:spPr>
          <a:xfrm>
            <a:off x="0" y="2194560"/>
            <a:ext cx="9144000" cy="45720"/>
          </a:xfrm>
          <a:prstGeom prst="rect">
            <a:avLst/>
          </a:prstGeom>
          <a:solidFill>
            <a:srgbClr val="0E7C86"/>
          </a:solidFill>
          <a:ln/>
        </p:spPr>
      </p:sp>
      <p:sp>
        <p:nvSpPr>
          <p:cNvPr id="3" name="Text 1"/>
          <p:cNvSpPr/>
          <p:nvPr/>
        </p:nvSpPr>
        <p:spPr>
          <a:xfrm>
            <a:off x="548640" y="1188720"/>
            <a:ext cx="8046720" cy="960120"/>
          </a:xfrm>
          <a:prstGeom prst="rect">
            <a:avLst/>
          </a:prstGeom>
          <a:noFill/>
          <a:ln/>
        </p:spPr>
        <p:txBody>
          <a:bodyPr wrap="square" rtlCol="0" anchor="ctr"/>
          <a:lstStyle/>
          <a:p>
            <a:pPr algn="l" indent="0" marL="0">
              <a:buNone/>
            </a:pPr>
            <a:r>
              <a:rPr lang="en-US" sz="3800" b="1" dirty="0">
                <a:solidFill>
                  <a:srgbClr val="FFFFFF"/>
                </a:solidFill>
                <a:latin typeface="Yu Gothic UI Semibold" pitchFamily="34" charset="0"/>
                <a:ea typeface="Yu Gothic UI Semibold" pitchFamily="34" charset="-122"/>
                <a:cs typeface="Yu Gothic UI Semibold" pitchFamily="34" charset="-120"/>
              </a:rPr>
              <a:t>お金の有益情報「自動収集」を設計する</a:t>
            </a:r>
            <a:endParaRPr lang="en-US" sz="3800" dirty="0"/>
          </a:p>
        </p:txBody>
      </p:sp>
      <p:sp>
        <p:nvSpPr>
          <p:cNvPr id="4" name="Text 2"/>
          <p:cNvSpPr/>
          <p:nvPr/>
        </p:nvSpPr>
        <p:spPr>
          <a:xfrm>
            <a:off x="548640" y="2331720"/>
            <a:ext cx="8046720" cy="640080"/>
          </a:xfrm>
          <a:prstGeom prst="rect">
            <a:avLst/>
          </a:prstGeom>
          <a:noFill/>
          <a:ln/>
        </p:spPr>
        <p:txBody>
          <a:bodyPr wrap="square" rtlCol="0" anchor="ctr"/>
          <a:lstStyle/>
          <a:p>
            <a:pPr algn="l" indent="0" marL="0">
              <a:buNone/>
            </a:pPr>
            <a:r>
              <a:rPr lang="en-US" sz="1900" dirty="0">
                <a:solidFill>
                  <a:srgbClr val="E8A33D"/>
                </a:solidFill>
                <a:latin typeface="Yu Gothic UI" pitchFamily="34" charset="0"/>
                <a:ea typeface="Yu Gothic UI" pitchFamily="34" charset="-122"/>
                <a:cs typeface="Yu Gothic UI" pitchFamily="34" charset="-120"/>
              </a:rPr>
              <a:t>"何を届けるか"を先に決めてから、AIに探させる仕組みを組む</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学習目標</a:t>
            </a:r>
            <a:endParaRPr lang="en-US" sz="2600" dirty="0"/>
          </a:p>
        </p:txBody>
      </p:sp>
      <p:sp>
        <p:nvSpPr>
          <p:cNvPr id="4" name="Shape 2"/>
          <p:cNvSpPr/>
          <p:nvPr/>
        </p:nvSpPr>
        <p:spPr>
          <a:xfrm>
            <a:off x="411480" y="1417320"/>
            <a:ext cx="2651760" cy="2926080"/>
          </a:xfrm>
          <a:prstGeom prst="roundRect">
            <a:avLst>
              <a:gd name="adj" fmla="val 3448"/>
            </a:avLst>
          </a:prstGeom>
          <a:solidFill>
            <a:srgbClr val="F4F6F9"/>
          </a:solidFill>
          <a:ln w="19050">
            <a:solidFill>
              <a:srgbClr val="0E7C86"/>
            </a:solidFill>
            <a:prstDash val="solid"/>
          </a:ln>
        </p:spPr>
      </p:sp>
      <p:sp>
        <p:nvSpPr>
          <p:cNvPr id="5" name="Shape 3"/>
          <p:cNvSpPr/>
          <p:nvPr/>
        </p:nvSpPr>
        <p:spPr>
          <a:xfrm>
            <a:off x="502920" y="1417320"/>
            <a:ext cx="2468880" cy="73152"/>
          </a:xfrm>
          <a:prstGeom prst="rect">
            <a:avLst/>
          </a:prstGeom>
          <a:solidFill>
            <a:srgbClr val="0E7C86"/>
          </a:solidFill>
          <a:ln/>
        </p:spPr>
      </p:sp>
      <p:sp>
        <p:nvSpPr>
          <p:cNvPr id="6" name="Text 4"/>
          <p:cNvSpPr/>
          <p:nvPr/>
        </p:nvSpPr>
        <p:spPr>
          <a:xfrm>
            <a:off x="612648" y="1600200"/>
            <a:ext cx="914400" cy="640080"/>
          </a:xfrm>
          <a:prstGeom prst="rect">
            <a:avLst/>
          </a:prstGeom>
          <a:noFill/>
          <a:ln/>
        </p:spPr>
        <p:txBody>
          <a:bodyPr wrap="square" rtlCol="0" anchor="ctr"/>
          <a:lstStyle/>
          <a:p>
            <a:pPr indent="0" marL="0">
              <a:buNone/>
            </a:pPr>
            <a:r>
              <a:rPr lang="en-US" sz="3000" b="1" dirty="0">
                <a:solidFill>
                  <a:srgbClr val="0E7C86"/>
                </a:solidFill>
                <a:latin typeface="Yu Gothic UI Semibold" pitchFamily="34" charset="0"/>
                <a:ea typeface="Yu Gothic UI Semibold" pitchFamily="34" charset="-122"/>
                <a:cs typeface="Yu Gothic UI Semibold" pitchFamily="34" charset="-120"/>
              </a:rPr>
              <a:t>01</a:t>
            </a:r>
            <a:endParaRPr lang="en-US" sz="3000" dirty="0"/>
          </a:p>
        </p:txBody>
      </p:sp>
      <p:sp>
        <p:nvSpPr>
          <p:cNvPr id="7" name="Text 5"/>
          <p:cNvSpPr/>
          <p:nvPr/>
        </p:nvSpPr>
        <p:spPr>
          <a:xfrm>
            <a:off x="612648" y="2286000"/>
            <a:ext cx="2249424" cy="640080"/>
          </a:xfrm>
          <a:prstGeom prst="rect">
            <a:avLst/>
          </a:prstGeom>
          <a:noFill/>
          <a:ln/>
        </p:spPr>
        <p:txBody>
          <a:bodyPr wrap="square" rtlCol="0" anchor="t"/>
          <a:lstStyle/>
          <a:p>
            <a:pPr indent="0" marL="0">
              <a:buNone/>
            </a:pPr>
            <a:r>
              <a:rPr lang="en-US" sz="1700" b="1" dirty="0">
                <a:solidFill>
                  <a:srgbClr val="1F3A5F"/>
                </a:solidFill>
                <a:latin typeface="Yu Gothic UI Semibold" pitchFamily="34" charset="0"/>
                <a:ea typeface="Yu Gothic UI Semibold" pitchFamily="34" charset="-122"/>
                <a:cs typeface="Yu Gothic UI Semibold" pitchFamily="34" charset="-120"/>
              </a:rPr>
              <a:t>配信設計を明文化</a:t>
            </a:r>
            <a:endParaRPr lang="en-US" sz="1700" dirty="0"/>
          </a:p>
        </p:txBody>
      </p:sp>
      <p:sp>
        <p:nvSpPr>
          <p:cNvPr id="8" name="Text 6"/>
          <p:cNvSpPr/>
          <p:nvPr/>
        </p:nvSpPr>
        <p:spPr>
          <a:xfrm>
            <a:off x="612648" y="3017520"/>
            <a:ext cx="2249424" cy="1188720"/>
          </a:xfrm>
          <a:prstGeom prst="rect">
            <a:avLst/>
          </a:prstGeom>
          <a:noFill/>
          <a:ln/>
        </p:spPr>
        <p:txBody>
          <a:bodyPr wrap="square" rtlCol="0" anchor="t"/>
          <a:lstStyle/>
          <a:p>
            <a:pPr indent="0" marL="0">
              <a:buNone/>
            </a:pPr>
            <a:r>
              <a:rPr lang="en-US" sz="1300" dirty="0">
                <a:solidFill>
                  <a:srgbClr val="1A1A1A"/>
                </a:solidFill>
                <a:latin typeface="Yu Gothic UI" pitchFamily="34" charset="0"/>
                <a:ea typeface="Yu Gothic UI" pitchFamily="34" charset="-122"/>
                <a:cs typeface="Yu Gothic UI" pitchFamily="34" charset="-120"/>
              </a:rPr>
              <a:t>誰に・何を・どこから、を設計スプシで固めてから実装に入る。</a:t>
            </a:r>
            <a:endParaRPr lang="en-US" sz="1300" dirty="0"/>
          </a:p>
        </p:txBody>
      </p:sp>
      <p:sp>
        <p:nvSpPr>
          <p:cNvPr id="9" name="Shape 7"/>
          <p:cNvSpPr/>
          <p:nvPr/>
        </p:nvSpPr>
        <p:spPr>
          <a:xfrm>
            <a:off x="3246120" y="1417320"/>
            <a:ext cx="2651760" cy="2926080"/>
          </a:xfrm>
          <a:prstGeom prst="roundRect">
            <a:avLst>
              <a:gd name="adj" fmla="val 3448"/>
            </a:avLst>
          </a:prstGeom>
          <a:solidFill>
            <a:srgbClr val="F4F6F9"/>
          </a:solidFill>
          <a:ln w="19050">
            <a:solidFill>
              <a:srgbClr val="E8A33D"/>
            </a:solidFill>
            <a:prstDash val="solid"/>
          </a:ln>
        </p:spPr>
      </p:sp>
      <p:sp>
        <p:nvSpPr>
          <p:cNvPr id="10" name="Shape 8"/>
          <p:cNvSpPr/>
          <p:nvPr/>
        </p:nvSpPr>
        <p:spPr>
          <a:xfrm>
            <a:off x="3337560" y="1417320"/>
            <a:ext cx="2468880" cy="73152"/>
          </a:xfrm>
          <a:prstGeom prst="rect">
            <a:avLst/>
          </a:prstGeom>
          <a:solidFill>
            <a:srgbClr val="E8A33D"/>
          </a:solidFill>
          <a:ln/>
        </p:spPr>
      </p:sp>
      <p:sp>
        <p:nvSpPr>
          <p:cNvPr id="11" name="Text 9"/>
          <p:cNvSpPr/>
          <p:nvPr/>
        </p:nvSpPr>
        <p:spPr>
          <a:xfrm>
            <a:off x="3447288" y="1600200"/>
            <a:ext cx="914400" cy="640080"/>
          </a:xfrm>
          <a:prstGeom prst="rect">
            <a:avLst/>
          </a:prstGeom>
          <a:noFill/>
          <a:ln/>
        </p:spPr>
        <p:txBody>
          <a:bodyPr wrap="square" rtlCol="0" anchor="ctr"/>
          <a:lstStyle/>
          <a:p>
            <a:pPr indent="0" marL="0">
              <a:buNone/>
            </a:pPr>
            <a:r>
              <a:rPr lang="en-US" sz="3000" b="1" dirty="0">
                <a:solidFill>
                  <a:srgbClr val="E8A33D"/>
                </a:solidFill>
                <a:latin typeface="Yu Gothic UI Semibold" pitchFamily="34" charset="0"/>
                <a:ea typeface="Yu Gothic UI Semibold" pitchFamily="34" charset="-122"/>
                <a:cs typeface="Yu Gothic UI Semibold" pitchFamily="34" charset="-120"/>
              </a:rPr>
              <a:t>02</a:t>
            </a:r>
            <a:endParaRPr lang="en-US" sz="3000" dirty="0"/>
          </a:p>
        </p:txBody>
      </p:sp>
      <p:sp>
        <p:nvSpPr>
          <p:cNvPr id="12" name="Text 10"/>
          <p:cNvSpPr/>
          <p:nvPr/>
        </p:nvSpPr>
        <p:spPr>
          <a:xfrm>
            <a:off x="3447288" y="2286000"/>
            <a:ext cx="2249424" cy="640080"/>
          </a:xfrm>
          <a:prstGeom prst="rect">
            <a:avLst/>
          </a:prstGeom>
          <a:noFill/>
          <a:ln/>
        </p:spPr>
        <p:txBody>
          <a:bodyPr wrap="square" rtlCol="0" anchor="t"/>
          <a:lstStyle/>
          <a:p>
            <a:pPr indent="0" marL="0">
              <a:buNone/>
            </a:pPr>
            <a:r>
              <a:rPr lang="en-US" sz="1700" b="1" dirty="0">
                <a:solidFill>
                  <a:srgbClr val="1F3A5F"/>
                </a:solidFill>
                <a:latin typeface="Yu Gothic UI Semibold" pitchFamily="34" charset="0"/>
                <a:ea typeface="Yu Gothic UI Semibold" pitchFamily="34" charset="-122"/>
                <a:cs typeface="Yu Gothic UI Semibold" pitchFamily="34" charset="-120"/>
              </a:rPr>
              <a:t>情報源をホワイトリスト化</a:t>
            </a:r>
            <a:endParaRPr lang="en-US" sz="1700" dirty="0"/>
          </a:p>
        </p:txBody>
      </p:sp>
      <p:sp>
        <p:nvSpPr>
          <p:cNvPr id="13" name="Text 11"/>
          <p:cNvSpPr/>
          <p:nvPr/>
        </p:nvSpPr>
        <p:spPr>
          <a:xfrm>
            <a:off x="3447288" y="3017520"/>
            <a:ext cx="2249424" cy="1188720"/>
          </a:xfrm>
          <a:prstGeom prst="rect">
            <a:avLst/>
          </a:prstGeom>
          <a:noFill/>
          <a:ln/>
        </p:spPr>
        <p:txBody>
          <a:bodyPr wrap="square" rtlCol="0" anchor="t"/>
          <a:lstStyle/>
          <a:p>
            <a:pPr indent="0" marL="0">
              <a:buNone/>
            </a:pPr>
            <a:r>
              <a:rPr lang="en-US" sz="1300" dirty="0">
                <a:solidFill>
                  <a:srgbClr val="1A1A1A"/>
                </a:solidFill>
                <a:latin typeface="Yu Gothic UI" pitchFamily="34" charset="0"/>
                <a:ea typeface="Yu Gothic UI" pitchFamily="34" charset="-122"/>
                <a:cs typeface="Yu Gothic UI" pitchFamily="34" charset="-120"/>
              </a:rPr>
              <a:t>公的機関中心の許可サイトを決め、AIの暴走を防ぐ枠を作る。</a:t>
            </a:r>
            <a:endParaRPr lang="en-US" sz="1300" dirty="0"/>
          </a:p>
        </p:txBody>
      </p:sp>
      <p:sp>
        <p:nvSpPr>
          <p:cNvPr id="14" name="Shape 12"/>
          <p:cNvSpPr/>
          <p:nvPr/>
        </p:nvSpPr>
        <p:spPr>
          <a:xfrm>
            <a:off x="6080760" y="1417320"/>
            <a:ext cx="2651760" cy="2926080"/>
          </a:xfrm>
          <a:prstGeom prst="roundRect">
            <a:avLst>
              <a:gd name="adj" fmla="val 3448"/>
            </a:avLst>
          </a:prstGeom>
          <a:solidFill>
            <a:srgbClr val="F4F6F9"/>
          </a:solidFill>
          <a:ln w="19050">
            <a:solidFill>
              <a:srgbClr val="1F3A5F"/>
            </a:solidFill>
            <a:prstDash val="solid"/>
          </a:ln>
        </p:spPr>
      </p:sp>
      <p:sp>
        <p:nvSpPr>
          <p:cNvPr id="15" name="Shape 13"/>
          <p:cNvSpPr/>
          <p:nvPr/>
        </p:nvSpPr>
        <p:spPr>
          <a:xfrm>
            <a:off x="6172200" y="1417320"/>
            <a:ext cx="2468880" cy="73152"/>
          </a:xfrm>
          <a:prstGeom prst="rect">
            <a:avLst/>
          </a:prstGeom>
          <a:solidFill>
            <a:srgbClr val="1F3A5F"/>
          </a:solidFill>
          <a:ln/>
        </p:spPr>
      </p:sp>
      <p:sp>
        <p:nvSpPr>
          <p:cNvPr id="16" name="Text 14"/>
          <p:cNvSpPr/>
          <p:nvPr/>
        </p:nvSpPr>
        <p:spPr>
          <a:xfrm>
            <a:off x="6281928" y="1600200"/>
            <a:ext cx="914400" cy="640080"/>
          </a:xfrm>
          <a:prstGeom prst="rect">
            <a:avLst/>
          </a:prstGeom>
          <a:noFill/>
          <a:ln/>
        </p:spPr>
        <p:txBody>
          <a:bodyPr wrap="square" rtlCol="0" anchor="ctr"/>
          <a:lstStyle/>
          <a:p>
            <a:pPr indent="0" marL="0">
              <a:buNone/>
            </a:pPr>
            <a:r>
              <a:rPr lang="en-US" sz="3000" b="1" dirty="0">
                <a:solidFill>
                  <a:srgbClr val="1F3A5F"/>
                </a:solidFill>
                <a:latin typeface="Yu Gothic UI Semibold" pitchFamily="34" charset="0"/>
                <a:ea typeface="Yu Gothic UI Semibold" pitchFamily="34" charset="-122"/>
                <a:cs typeface="Yu Gothic UI Semibold" pitchFamily="34" charset="-120"/>
              </a:rPr>
              <a:t>03</a:t>
            </a:r>
            <a:endParaRPr lang="en-US" sz="3000" dirty="0"/>
          </a:p>
        </p:txBody>
      </p:sp>
      <p:sp>
        <p:nvSpPr>
          <p:cNvPr id="17" name="Text 15"/>
          <p:cNvSpPr/>
          <p:nvPr/>
        </p:nvSpPr>
        <p:spPr>
          <a:xfrm>
            <a:off x="6281928" y="2286000"/>
            <a:ext cx="2249424" cy="640080"/>
          </a:xfrm>
          <a:prstGeom prst="rect">
            <a:avLst/>
          </a:prstGeom>
          <a:noFill/>
          <a:ln/>
        </p:spPr>
        <p:txBody>
          <a:bodyPr wrap="square" rtlCol="0" anchor="t"/>
          <a:lstStyle/>
          <a:p>
            <a:pPr indent="0" marL="0">
              <a:buNone/>
            </a:pPr>
            <a:r>
              <a:rPr lang="en-US" sz="1700" b="1" dirty="0">
                <a:solidFill>
                  <a:srgbClr val="1F3A5F"/>
                </a:solidFill>
                <a:latin typeface="Yu Gothic UI Semibold" pitchFamily="34" charset="0"/>
                <a:ea typeface="Yu Gothic UI Semibold" pitchFamily="34" charset="-122"/>
                <a:cs typeface="Yu Gothic UI Semibold" pitchFamily="34" charset="-120"/>
              </a:rPr>
              <a:t>情報収集GASをバイブコーディング</a:t>
            </a:r>
            <a:endParaRPr lang="en-US" sz="1700" dirty="0"/>
          </a:p>
        </p:txBody>
      </p:sp>
      <p:sp>
        <p:nvSpPr>
          <p:cNvPr id="18" name="Text 16"/>
          <p:cNvSpPr/>
          <p:nvPr/>
        </p:nvSpPr>
        <p:spPr>
          <a:xfrm>
            <a:off x="6281928" y="3017520"/>
            <a:ext cx="2249424" cy="1188720"/>
          </a:xfrm>
          <a:prstGeom prst="rect">
            <a:avLst/>
          </a:prstGeom>
          <a:noFill/>
          <a:ln/>
        </p:spPr>
        <p:txBody>
          <a:bodyPr wrap="square" rtlCol="0" anchor="t"/>
          <a:lstStyle/>
          <a:p>
            <a:pPr indent="0" marL="0">
              <a:buNone/>
            </a:pPr>
            <a:r>
              <a:rPr lang="en-US" sz="1300" dirty="0">
                <a:solidFill>
                  <a:srgbClr val="1A1A1A"/>
                </a:solidFill>
                <a:latin typeface="Yu Gothic UI" pitchFamily="34" charset="0"/>
                <a:ea typeface="Yu Gothic UI" pitchFamily="34" charset="-122"/>
                <a:cs typeface="Yu Gothic UI" pitchFamily="34" charset="-120"/>
              </a:rPr>
              <a:t>設計を土台に、Gemini+Google検索で自動収集を作る。</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STEP1: 用語と前提</a:t>
            </a:r>
            <a:endParaRPr lang="en-US" sz="2600" dirty="0"/>
          </a:p>
        </p:txBody>
      </p:sp>
      <p:sp>
        <p:nvSpPr>
          <p:cNvPr id="4" name="Shape 2"/>
          <p:cNvSpPr/>
          <p:nvPr/>
        </p:nvSpPr>
        <p:spPr>
          <a:xfrm>
            <a:off x="365760" y="1188720"/>
            <a:ext cx="1979676" cy="3017520"/>
          </a:xfrm>
          <a:prstGeom prst="roundRect">
            <a:avLst>
              <a:gd name="adj" fmla="val 4619"/>
            </a:avLst>
          </a:prstGeom>
          <a:solidFill>
            <a:srgbClr val="FFFFFF"/>
          </a:solidFill>
          <a:ln w="19050">
            <a:solidFill>
              <a:srgbClr val="0E7C86"/>
            </a:solidFill>
            <a:prstDash val="solid"/>
          </a:ln>
        </p:spPr>
      </p:sp>
      <p:sp>
        <p:nvSpPr>
          <p:cNvPr id="5" name="Shape 3"/>
          <p:cNvSpPr/>
          <p:nvPr/>
        </p:nvSpPr>
        <p:spPr>
          <a:xfrm>
            <a:off x="365760" y="1188720"/>
            <a:ext cx="1979676" cy="566928"/>
          </a:xfrm>
          <a:prstGeom prst="roundRect">
            <a:avLst>
              <a:gd name="adj" fmla="val 16129"/>
            </a:avLst>
          </a:prstGeom>
          <a:solidFill>
            <a:srgbClr val="0E7C86"/>
          </a:solidFill>
          <a:ln/>
        </p:spPr>
      </p:sp>
      <p:sp>
        <p:nvSpPr>
          <p:cNvPr id="6" name="Shape 4"/>
          <p:cNvSpPr/>
          <p:nvPr/>
        </p:nvSpPr>
        <p:spPr>
          <a:xfrm>
            <a:off x="365760" y="1417320"/>
            <a:ext cx="1979676" cy="338328"/>
          </a:xfrm>
          <a:prstGeom prst="rect">
            <a:avLst/>
          </a:prstGeom>
          <a:solidFill>
            <a:srgbClr val="0E7C86"/>
          </a:solidFill>
          <a:ln/>
        </p:spPr>
      </p:sp>
      <p:sp>
        <p:nvSpPr>
          <p:cNvPr id="7" name="Text 5"/>
          <p:cNvSpPr/>
          <p:nvPr/>
        </p:nvSpPr>
        <p:spPr>
          <a:xfrm>
            <a:off x="493776"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Google Search Grounding</a:t>
            </a:r>
            <a:endParaRPr lang="en-US" sz="1600" dirty="0"/>
          </a:p>
        </p:txBody>
      </p:sp>
      <p:sp>
        <p:nvSpPr>
          <p:cNvPr id="8" name="Text 6"/>
          <p:cNvSpPr/>
          <p:nvPr/>
        </p:nvSpPr>
        <p:spPr>
          <a:xfrm>
            <a:off x="530352"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Geminiが自動でGoogle検索をして、情報源URL付きで要約する機能。</a:t>
            </a:r>
            <a:endParaRPr lang="en-US" sz="1600" dirty="0"/>
          </a:p>
        </p:txBody>
      </p:sp>
      <p:sp>
        <p:nvSpPr>
          <p:cNvPr id="9" name="Shape 7"/>
          <p:cNvSpPr/>
          <p:nvPr/>
        </p:nvSpPr>
        <p:spPr>
          <a:xfrm>
            <a:off x="2510028" y="1188720"/>
            <a:ext cx="1979676" cy="3017520"/>
          </a:xfrm>
          <a:prstGeom prst="roundRect">
            <a:avLst>
              <a:gd name="adj" fmla="val 4619"/>
            </a:avLst>
          </a:prstGeom>
          <a:solidFill>
            <a:srgbClr val="FFFFFF"/>
          </a:solidFill>
          <a:ln w="19050">
            <a:solidFill>
              <a:srgbClr val="E8A33D"/>
            </a:solidFill>
            <a:prstDash val="solid"/>
          </a:ln>
        </p:spPr>
      </p:sp>
      <p:sp>
        <p:nvSpPr>
          <p:cNvPr id="10" name="Shape 8"/>
          <p:cNvSpPr/>
          <p:nvPr/>
        </p:nvSpPr>
        <p:spPr>
          <a:xfrm>
            <a:off x="2510028" y="1188720"/>
            <a:ext cx="1979676" cy="566928"/>
          </a:xfrm>
          <a:prstGeom prst="roundRect">
            <a:avLst>
              <a:gd name="adj" fmla="val 16129"/>
            </a:avLst>
          </a:prstGeom>
          <a:solidFill>
            <a:srgbClr val="E8A33D"/>
          </a:solidFill>
          <a:ln/>
        </p:spPr>
      </p:sp>
      <p:sp>
        <p:nvSpPr>
          <p:cNvPr id="11" name="Shape 9"/>
          <p:cNvSpPr/>
          <p:nvPr/>
        </p:nvSpPr>
        <p:spPr>
          <a:xfrm>
            <a:off x="2510028" y="1417320"/>
            <a:ext cx="1979676" cy="338328"/>
          </a:xfrm>
          <a:prstGeom prst="rect">
            <a:avLst/>
          </a:prstGeom>
          <a:solidFill>
            <a:srgbClr val="E8A33D"/>
          </a:solidFill>
          <a:ln/>
        </p:spPr>
      </p:sp>
      <p:sp>
        <p:nvSpPr>
          <p:cNvPr id="12" name="Text 10"/>
          <p:cNvSpPr/>
          <p:nvPr/>
        </p:nvSpPr>
        <p:spPr>
          <a:xfrm>
            <a:off x="2638044"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ホワイトリスト</a:t>
            </a:r>
            <a:endParaRPr lang="en-US" sz="1600" dirty="0"/>
          </a:p>
        </p:txBody>
      </p:sp>
      <p:sp>
        <p:nvSpPr>
          <p:cNvPr id="13" name="Text 11"/>
          <p:cNvSpPr/>
          <p:nvPr/>
        </p:nvSpPr>
        <p:spPr>
          <a:xfrm>
            <a:off x="2674620"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AIが情報を探しに行っていいサイトを事前に許可リスト化する仕組み。</a:t>
            </a:r>
            <a:endParaRPr lang="en-US" sz="1600" dirty="0"/>
          </a:p>
        </p:txBody>
      </p:sp>
      <p:sp>
        <p:nvSpPr>
          <p:cNvPr id="14" name="Shape 12"/>
          <p:cNvSpPr/>
          <p:nvPr/>
        </p:nvSpPr>
        <p:spPr>
          <a:xfrm>
            <a:off x="4654296" y="1188720"/>
            <a:ext cx="1979676" cy="3017520"/>
          </a:xfrm>
          <a:prstGeom prst="roundRect">
            <a:avLst>
              <a:gd name="adj" fmla="val 4619"/>
            </a:avLst>
          </a:prstGeom>
          <a:solidFill>
            <a:srgbClr val="FFFFFF"/>
          </a:solidFill>
          <a:ln w="19050">
            <a:solidFill>
              <a:srgbClr val="1F3A5F"/>
            </a:solidFill>
            <a:prstDash val="solid"/>
          </a:ln>
        </p:spPr>
      </p:sp>
      <p:sp>
        <p:nvSpPr>
          <p:cNvPr id="15" name="Shape 13"/>
          <p:cNvSpPr/>
          <p:nvPr/>
        </p:nvSpPr>
        <p:spPr>
          <a:xfrm>
            <a:off x="4654296" y="1188720"/>
            <a:ext cx="1979676" cy="566928"/>
          </a:xfrm>
          <a:prstGeom prst="roundRect">
            <a:avLst>
              <a:gd name="adj" fmla="val 16129"/>
            </a:avLst>
          </a:prstGeom>
          <a:solidFill>
            <a:srgbClr val="1F3A5F"/>
          </a:solidFill>
          <a:ln/>
        </p:spPr>
      </p:sp>
      <p:sp>
        <p:nvSpPr>
          <p:cNvPr id="16" name="Shape 14"/>
          <p:cNvSpPr/>
          <p:nvPr/>
        </p:nvSpPr>
        <p:spPr>
          <a:xfrm>
            <a:off x="4654296" y="1417320"/>
            <a:ext cx="1979676" cy="338328"/>
          </a:xfrm>
          <a:prstGeom prst="rect">
            <a:avLst/>
          </a:prstGeom>
          <a:solidFill>
            <a:srgbClr val="1F3A5F"/>
          </a:solidFill>
          <a:ln/>
        </p:spPr>
      </p:sp>
      <p:sp>
        <p:nvSpPr>
          <p:cNvPr id="17" name="Text 15"/>
          <p:cNvSpPr/>
          <p:nvPr/>
        </p:nvSpPr>
        <p:spPr>
          <a:xfrm>
            <a:off x="4782312"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情報源URL</a:t>
            </a:r>
            <a:endParaRPr lang="en-US" sz="1600" dirty="0"/>
          </a:p>
        </p:txBody>
      </p:sp>
      <p:sp>
        <p:nvSpPr>
          <p:cNvPr id="18" name="Text 16"/>
          <p:cNvSpPr/>
          <p:nvPr/>
        </p:nvSpPr>
        <p:spPr>
          <a:xfrm>
            <a:off x="4818888"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配信の信頼性を担保するため、本文末に必ず添付する参照リンク。</a:t>
            </a:r>
            <a:endParaRPr lang="en-US" sz="1600" dirty="0"/>
          </a:p>
        </p:txBody>
      </p:sp>
      <p:sp>
        <p:nvSpPr>
          <p:cNvPr id="19" name="Shape 17"/>
          <p:cNvSpPr/>
          <p:nvPr/>
        </p:nvSpPr>
        <p:spPr>
          <a:xfrm>
            <a:off x="6798564" y="1188720"/>
            <a:ext cx="1979676" cy="3017520"/>
          </a:xfrm>
          <a:prstGeom prst="roundRect">
            <a:avLst>
              <a:gd name="adj" fmla="val 4619"/>
            </a:avLst>
          </a:prstGeom>
          <a:solidFill>
            <a:srgbClr val="FFFFFF"/>
          </a:solidFill>
          <a:ln w="19050">
            <a:solidFill>
              <a:srgbClr val="7C5F8A"/>
            </a:solidFill>
            <a:prstDash val="solid"/>
          </a:ln>
        </p:spPr>
      </p:sp>
      <p:sp>
        <p:nvSpPr>
          <p:cNvPr id="20" name="Shape 18"/>
          <p:cNvSpPr/>
          <p:nvPr/>
        </p:nvSpPr>
        <p:spPr>
          <a:xfrm>
            <a:off x="6798564" y="1188720"/>
            <a:ext cx="1979676" cy="566928"/>
          </a:xfrm>
          <a:prstGeom prst="roundRect">
            <a:avLst>
              <a:gd name="adj" fmla="val 16129"/>
            </a:avLst>
          </a:prstGeom>
          <a:solidFill>
            <a:srgbClr val="7C5F8A"/>
          </a:solidFill>
          <a:ln/>
        </p:spPr>
      </p:sp>
      <p:sp>
        <p:nvSpPr>
          <p:cNvPr id="21" name="Shape 19"/>
          <p:cNvSpPr/>
          <p:nvPr/>
        </p:nvSpPr>
        <p:spPr>
          <a:xfrm>
            <a:off x="6798564" y="1417320"/>
            <a:ext cx="1979676" cy="338328"/>
          </a:xfrm>
          <a:prstGeom prst="rect">
            <a:avLst/>
          </a:prstGeom>
          <a:solidFill>
            <a:srgbClr val="7C5F8A"/>
          </a:solidFill>
          <a:ln/>
        </p:spPr>
      </p:sp>
      <p:sp>
        <p:nvSpPr>
          <p:cNvPr id="22" name="Text 20"/>
          <p:cNvSpPr/>
          <p:nvPr/>
        </p:nvSpPr>
        <p:spPr>
          <a:xfrm>
            <a:off x="6926580" y="1280160"/>
            <a:ext cx="1723644" cy="457200"/>
          </a:xfrm>
          <a:prstGeom prst="rect">
            <a:avLst/>
          </a:prstGeom>
          <a:noFill/>
          <a:ln/>
        </p:spPr>
        <p:txBody>
          <a:bodyPr wrap="square" rtlCol="0" anchor="ctr"/>
          <a:lstStyle/>
          <a:p>
            <a:pPr indent="0" marL="0">
              <a:buNone/>
            </a:pPr>
            <a:r>
              <a:rPr lang="en-US" sz="1600" b="1" dirty="0">
                <a:solidFill>
                  <a:srgbClr val="FFFFFF"/>
                </a:solidFill>
                <a:latin typeface="Yu Gothic UI Semibold" pitchFamily="34" charset="0"/>
                <a:ea typeface="Yu Gothic UI Semibold" pitchFamily="34" charset="-122"/>
                <a:cs typeface="Yu Gothic UI Semibold" pitchFamily="34" charset="-120"/>
              </a:rPr>
              <a:t>承認フロー</a:t>
            </a:r>
            <a:endParaRPr lang="en-US" sz="1600" dirty="0"/>
          </a:p>
        </p:txBody>
      </p:sp>
      <p:sp>
        <p:nvSpPr>
          <p:cNvPr id="23" name="Text 21"/>
          <p:cNvSpPr/>
          <p:nvPr/>
        </p:nvSpPr>
        <p:spPr>
          <a:xfrm>
            <a:off x="6963156" y="1938528"/>
            <a:ext cx="1650492" cy="2148840"/>
          </a:xfrm>
          <a:prstGeom prst="rect">
            <a:avLst/>
          </a:prstGeom>
          <a:noFill/>
          <a:ln/>
        </p:spPr>
        <p:txBody>
          <a:bodyPr wrap="square" rtlCol="0" anchor="t"/>
          <a:lstStyle/>
          <a:p>
            <a:pPr indent="0" marL="0">
              <a:spcAft>
                <a:spcPts val="600"/>
              </a:spcAft>
              <a:buNone/>
            </a:pPr>
            <a:r>
              <a:rPr lang="en-US" sz="1600" dirty="0">
                <a:solidFill>
                  <a:srgbClr val="1A1A1A"/>
                </a:solidFill>
                <a:latin typeface="Yu Gothic UI" pitchFamily="34" charset="0"/>
                <a:ea typeface="Yu Gothic UI" pitchFamily="34" charset="-122"/>
                <a:cs typeface="Yu Gothic UI" pitchFamily="34" charset="-120"/>
              </a:rPr>
              <a:t>AI生成をそのまま送らず、人がOK/NG判定してから配信する運用の仕組み。</a:t>
            </a:r>
            <a:endParaRPr lang="en-US" sz="1600" dirty="0"/>
          </a:p>
        </p:txBody>
      </p:sp>
      <p:sp>
        <p:nvSpPr>
          <p:cNvPr id="24" name="Text 22"/>
          <p:cNvSpPr/>
          <p:nvPr/>
        </p:nvSpPr>
        <p:spPr>
          <a:xfrm>
            <a:off x="365760" y="4389120"/>
            <a:ext cx="8412480" cy="914400"/>
          </a:xfrm>
          <a:prstGeom prst="rect">
            <a:avLst/>
          </a:prstGeom>
          <a:noFill/>
          <a:ln/>
        </p:spPr>
        <p:txBody>
          <a:bodyPr wrap="square" rtlCol="0" anchor="t"/>
          <a:lstStyle/>
          <a:p>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Google Search Grounding: </a:t>
            </a:r>
            <a:pPr indent="0" marL="0">
              <a:buNone/>
            </a:pPr>
            <a:r>
              <a:rPr lang="en-US" sz="1100" dirty="0">
                <a:solidFill>
                  <a:srgbClr val="555555"/>
                </a:solidFill>
                <a:latin typeface="Yu Gothic UI" pitchFamily="34" charset="0"/>
                <a:ea typeface="Yu Gothic UI" pitchFamily="34" charset="-122"/>
                <a:cs typeface="Yu Gothic UI" pitchFamily="34" charset="-120"/>
              </a:rPr>
              <a:t>ハルシネーション対策の切り札   </a:t>
            </a:r>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ホワイトリスト: </a:t>
            </a:r>
            <a:pPr indent="0" marL="0">
              <a:buNone/>
            </a:pPr>
            <a:r>
              <a:rPr lang="en-US" sz="1100" dirty="0">
                <a:solidFill>
                  <a:srgbClr val="555555"/>
                </a:solidFill>
                <a:latin typeface="Yu Gothic UI" pitchFamily="34" charset="0"/>
                <a:ea typeface="Yu Gothic UI" pitchFamily="34" charset="-122"/>
                <a:cs typeface="Yu Gothic UI" pitchFamily="34" charset="-120"/>
              </a:rPr>
              <a:t>国税庁/金融庁など公的機関中心   </a:t>
            </a:r>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情報源URL: </a:t>
            </a:r>
            <a:pPr indent="0" marL="0">
              <a:buNone/>
            </a:pPr>
            <a:r>
              <a:rPr lang="en-US" sz="1100" dirty="0">
                <a:solidFill>
                  <a:srgbClr val="555555"/>
                </a:solidFill>
                <a:latin typeface="Yu Gothic UI" pitchFamily="34" charset="0"/>
                <a:ea typeface="Yu Gothic UI" pitchFamily="34" charset="-122"/>
                <a:cs typeface="Yu Gothic UI" pitchFamily="34" charset="-120"/>
              </a:rPr>
              <a:t>出典なし配信は絶対NG   </a:t>
            </a:r>
            <a:pPr indent="0" marL="0">
              <a:buNone/>
            </a:pPr>
            <a:r>
              <a:rPr lang="en-US" sz="1100" b="1" dirty="0">
                <a:solidFill>
                  <a:srgbClr val="E8A33D"/>
                </a:solidFill>
                <a:latin typeface="Yu Gothic UI" pitchFamily="34" charset="0"/>
                <a:ea typeface="Yu Gothic UI" pitchFamily="34" charset="-122"/>
                <a:cs typeface="Yu Gothic UI" pitchFamily="34" charset="-120"/>
              </a:rPr>
              <a:t>※ </a:t>
            </a:r>
            <a:pPr indent="0" marL="0">
              <a:buNone/>
            </a:pPr>
            <a:r>
              <a:rPr lang="en-US" sz="1100" b="1" dirty="0">
                <a:solidFill>
                  <a:srgbClr val="1F3A5F"/>
                </a:solidFill>
                <a:latin typeface="Yu Gothic UI" pitchFamily="34" charset="0"/>
                <a:ea typeface="Yu Gothic UI" pitchFamily="34" charset="-122"/>
                <a:cs typeface="Yu Gothic UI" pitchFamily="34" charset="-120"/>
              </a:rPr>
              <a:t>承認フロー: </a:t>
            </a:r>
            <a:pPr indent="0" marL="0">
              <a:buNone/>
            </a:pPr>
            <a:r>
              <a:rPr lang="en-US" sz="1100" dirty="0">
                <a:solidFill>
                  <a:srgbClr val="555555"/>
                </a:solidFill>
                <a:latin typeface="Yu Gothic UI" pitchFamily="34" charset="0"/>
                <a:ea typeface="Yu Gothic UI" pitchFamily="34" charset="-122"/>
                <a:cs typeface="Yu Gothic UI" pitchFamily="34" charset="-120"/>
              </a:rPr>
              <a:t>AIの誤情報を止める最後の砦</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演習1 設計テンプレを "考え方" と Geminiで埋める</a:t>
            </a:r>
            <a:endParaRPr lang="en-US" sz="2600" dirty="0"/>
          </a:p>
        </p:txBody>
      </p:sp>
      <p:sp>
        <p:nvSpPr>
          <p:cNvPr id="4" name="Shape 2"/>
          <p:cNvSpPr/>
          <p:nvPr/>
        </p:nvSpPr>
        <p:spPr>
          <a:xfrm>
            <a:off x="411480" y="1005840"/>
            <a:ext cx="4160520" cy="1783080"/>
          </a:xfrm>
          <a:prstGeom prst="roundRect">
            <a:avLst>
              <a:gd name="adj" fmla="val 4103"/>
            </a:avLst>
          </a:prstGeom>
          <a:solidFill>
            <a:srgbClr val="F4F6F9"/>
          </a:solidFill>
          <a:ln w="6350">
            <a:solidFill>
              <a:srgbClr val="D7DCE3"/>
            </a:solidFill>
            <a:prstDash val="solid"/>
          </a:ln>
        </p:spPr>
      </p:sp>
      <p:sp>
        <p:nvSpPr>
          <p:cNvPr id="5" name="Shape 3"/>
          <p:cNvSpPr/>
          <p:nvPr/>
        </p:nvSpPr>
        <p:spPr>
          <a:xfrm>
            <a:off x="411480" y="1005840"/>
            <a:ext cx="91440" cy="1783080"/>
          </a:xfrm>
          <a:prstGeom prst="rect">
            <a:avLst/>
          </a:prstGeom>
          <a:solidFill>
            <a:srgbClr val="1F3A5F"/>
          </a:solidFill>
          <a:ln/>
        </p:spPr>
      </p:sp>
      <p:sp>
        <p:nvSpPr>
          <p:cNvPr id="6" name="Text 4"/>
          <p:cNvSpPr/>
          <p:nvPr/>
        </p:nvSpPr>
        <p:spPr>
          <a:xfrm>
            <a:off x="612648" y="1097280"/>
            <a:ext cx="3849624" cy="384048"/>
          </a:xfrm>
          <a:prstGeom prst="rect">
            <a:avLst/>
          </a:prstGeom>
          <a:noFill/>
          <a:ln/>
        </p:spPr>
        <p:txBody>
          <a:bodyPr wrap="square" rtlCol="0" anchor="ctr"/>
          <a:lstStyle/>
          <a:p>
            <a:pPr indent="0" marL="0">
              <a:buNone/>
            </a:pPr>
            <a:r>
              <a:rPr lang="en-US" sz="1600" b="1" dirty="0">
                <a:solidFill>
                  <a:srgbClr val="1F3A5F"/>
                </a:solidFill>
                <a:latin typeface="Yu Gothic UI Semibold" pitchFamily="34" charset="0"/>
                <a:ea typeface="Yu Gothic UI Semibold" pitchFamily="34" charset="-122"/>
                <a:cs typeface="Yu Gothic UI Semibold" pitchFamily="34" charset="-120"/>
              </a:rPr>
              <a:t>📍 シチュエーション</a:t>
            </a:r>
            <a:endParaRPr lang="en-US" sz="1600" dirty="0"/>
          </a:p>
        </p:txBody>
      </p:sp>
      <p:sp>
        <p:nvSpPr>
          <p:cNvPr id="7" name="Text 5"/>
          <p:cNvSpPr/>
          <p:nvPr/>
        </p:nvSpPr>
        <p:spPr>
          <a:xfrm>
            <a:off x="649224" y="1536192"/>
            <a:ext cx="3703320" cy="116128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いきなりGASを書くと、AIが何を返しても「まあいいか」で通ってしまう。</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スプシ「情報設計」に、講師解説+Geminiと相談しながら、あなた自身の運用に合った項目を書き込む。</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完成イメージがわからない時は 別シート「情報設計_記入例」に フル記入見本 を用意。</a:t>
            </a:r>
            <a:endParaRPr lang="en-US" sz="1400" dirty="0"/>
          </a:p>
        </p:txBody>
      </p:sp>
      <p:sp>
        <p:nvSpPr>
          <p:cNvPr id="8" name="Shape 6"/>
          <p:cNvSpPr/>
          <p:nvPr/>
        </p:nvSpPr>
        <p:spPr>
          <a:xfrm>
            <a:off x="411480" y="2880360"/>
            <a:ext cx="4160520" cy="2011680"/>
          </a:xfrm>
          <a:prstGeom prst="roundRect">
            <a:avLst>
              <a:gd name="adj" fmla="val 3636"/>
            </a:avLst>
          </a:prstGeom>
          <a:solidFill>
            <a:srgbClr val="F4F6F9"/>
          </a:solidFill>
          <a:ln w="6350">
            <a:solidFill>
              <a:srgbClr val="D7DCE3"/>
            </a:solidFill>
            <a:prstDash val="solid"/>
          </a:ln>
        </p:spPr>
      </p:sp>
      <p:sp>
        <p:nvSpPr>
          <p:cNvPr id="9" name="Shape 7"/>
          <p:cNvSpPr/>
          <p:nvPr/>
        </p:nvSpPr>
        <p:spPr>
          <a:xfrm>
            <a:off x="411480" y="2880360"/>
            <a:ext cx="91440" cy="2011680"/>
          </a:xfrm>
          <a:prstGeom prst="rect">
            <a:avLst/>
          </a:prstGeom>
          <a:solidFill>
            <a:srgbClr val="E8A33D"/>
          </a:solidFill>
          <a:ln/>
        </p:spPr>
      </p:sp>
      <p:sp>
        <p:nvSpPr>
          <p:cNvPr id="10" name="Text 8"/>
          <p:cNvSpPr/>
          <p:nvPr/>
        </p:nvSpPr>
        <p:spPr>
          <a:xfrm>
            <a:off x="612648" y="2971800"/>
            <a:ext cx="3849624" cy="384048"/>
          </a:xfrm>
          <a:prstGeom prst="rect">
            <a:avLst/>
          </a:prstGeom>
          <a:noFill/>
          <a:ln/>
        </p:spPr>
        <p:txBody>
          <a:bodyPr wrap="square" rtlCol="0" anchor="ctr"/>
          <a:lstStyle/>
          <a:p>
            <a:pPr indent="0" marL="0">
              <a:buNone/>
            </a:pPr>
            <a:r>
              <a:rPr lang="en-US" sz="1600" b="1" dirty="0">
                <a:solidFill>
                  <a:srgbClr val="E8A33D"/>
                </a:solidFill>
                <a:latin typeface="Yu Gothic UI Semibold" pitchFamily="34" charset="0"/>
                <a:ea typeface="Yu Gothic UI Semibold" pitchFamily="34" charset="-122"/>
                <a:cs typeface="Yu Gothic UI Semibold" pitchFamily="34" charset="-120"/>
              </a:rPr>
              <a:t>💭 プロンプトのヒント</a:t>
            </a:r>
            <a:endParaRPr lang="en-US" sz="1600" dirty="0"/>
          </a:p>
        </p:txBody>
      </p:sp>
      <p:sp>
        <p:nvSpPr>
          <p:cNvPr id="11" name="Text 9"/>
          <p:cNvSpPr/>
          <p:nvPr/>
        </p:nvSpPr>
        <p:spPr>
          <a:xfrm>
            <a:off x="649224" y="3410712"/>
            <a:ext cx="3703320" cy="138988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記入例シートは"骨格の参考"、そのまま写さず自分に置き換える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B列「考え方」を読まずにC列を書くのはNG(理由なきコピペになる)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迷ったら Gemini に「私の状況で最適な選び方は?」と相談</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答えられない項目は "検討中" と書いてOK、後で埋めればよい</a:t>
            </a:r>
            <a:endParaRPr lang="en-US" sz="1400" dirty="0"/>
          </a:p>
        </p:txBody>
      </p:sp>
      <p:sp>
        <p:nvSpPr>
          <p:cNvPr id="12" name="Shape 10"/>
          <p:cNvSpPr/>
          <p:nvPr/>
        </p:nvSpPr>
        <p:spPr>
          <a:xfrm>
            <a:off x="4663440" y="1005840"/>
            <a:ext cx="4160520" cy="3886200"/>
          </a:xfrm>
          <a:prstGeom prst="roundRect">
            <a:avLst>
              <a:gd name="adj" fmla="val 1882"/>
            </a:avLst>
          </a:prstGeom>
          <a:solidFill>
            <a:srgbClr val="F4F6F9"/>
          </a:solidFill>
          <a:ln w="6350">
            <a:solidFill>
              <a:srgbClr val="D7DCE3"/>
            </a:solidFill>
            <a:prstDash val="solid"/>
          </a:ln>
        </p:spPr>
      </p:sp>
      <p:sp>
        <p:nvSpPr>
          <p:cNvPr id="13" name="Shape 11"/>
          <p:cNvSpPr/>
          <p:nvPr/>
        </p:nvSpPr>
        <p:spPr>
          <a:xfrm>
            <a:off x="4663440" y="1005840"/>
            <a:ext cx="91440" cy="3886200"/>
          </a:xfrm>
          <a:prstGeom prst="rect">
            <a:avLst/>
          </a:prstGeom>
          <a:solidFill>
            <a:srgbClr val="0E7C86"/>
          </a:solidFill>
          <a:ln/>
        </p:spPr>
      </p:sp>
      <p:sp>
        <p:nvSpPr>
          <p:cNvPr id="14" name="Text 12"/>
          <p:cNvSpPr/>
          <p:nvPr/>
        </p:nvSpPr>
        <p:spPr>
          <a:xfrm>
            <a:off x="4864608" y="1097280"/>
            <a:ext cx="3849624" cy="384048"/>
          </a:xfrm>
          <a:prstGeom prst="rect">
            <a:avLst/>
          </a:prstGeom>
          <a:noFill/>
          <a:ln/>
        </p:spPr>
        <p:txBody>
          <a:bodyPr wrap="square" rtlCol="0" anchor="ctr"/>
          <a:lstStyle/>
          <a:p>
            <a:pPr indent="0" marL="0">
              <a:buNone/>
            </a:pPr>
            <a:r>
              <a:rPr lang="en-US" sz="1600" b="1" dirty="0">
                <a:solidFill>
                  <a:srgbClr val="0E7C86"/>
                </a:solidFill>
                <a:latin typeface="Yu Gothic UI Semibold" pitchFamily="34" charset="0"/>
                <a:ea typeface="Yu Gothic UI Semibold" pitchFamily="34" charset="-122"/>
                <a:cs typeface="Yu Gothic UI Semibold" pitchFamily="34" charset="-120"/>
              </a:rPr>
              <a:t>🎯 AIに作ってもらいたいもの</a:t>
            </a:r>
            <a:endParaRPr lang="en-US" sz="1600" dirty="0"/>
          </a:p>
        </p:txBody>
      </p:sp>
      <p:sp>
        <p:nvSpPr>
          <p:cNvPr id="15" name="Text 13"/>
          <p:cNvSpPr/>
          <p:nvPr/>
        </p:nvSpPr>
        <p:spPr>
          <a:xfrm>
            <a:off x="4901184" y="1536192"/>
            <a:ext cx="3703320" cy="326440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「情報設計_記入例」シート(完成見本)を先に眺めて、埋まった全体像を掴む</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「情報設計」シートに戻り、B列「考え方・判断基準」を1項目ずつ読む</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各項目の C列「あなたの答え」を、自分の運用に合わせて記入</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迷ったら Gemini に相談、質問と結論は「Gemini相談ログ」シートに残す</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完成したC列が 演習2 (GAS実装) の "仕様書" になる</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演習1 設計テンプレを "考え方" と Geminiで埋める — 観点別チェック</a:t>
            </a:r>
            <a:endParaRPr lang="en-US" sz="2600" dirty="0"/>
          </a:p>
        </p:txBody>
      </p:sp>
      <p:sp>
        <p:nvSpPr>
          <p:cNvPr id="4" name="Text 2"/>
          <p:cNvSpPr/>
          <p:nvPr/>
        </p:nvSpPr>
        <p:spPr>
          <a:xfrm>
            <a:off x="411480" y="804672"/>
            <a:ext cx="8412480" cy="365760"/>
          </a:xfrm>
          <a:prstGeom prst="rect">
            <a:avLst/>
          </a:prstGeom>
          <a:noFill/>
          <a:ln/>
        </p:spPr>
        <p:txBody>
          <a:bodyPr wrap="square" rtlCol="0" anchor="ctr"/>
          <a:lstStyle/>
          <a:p>
            <a:pPr indent="0" marL="0">
              <a:buNone/>
            </a:pPr>
            <a:r>
              <a:rPr lang="en-US" sz="1500" i="1" dirty="0">
                <a:solidFill>
                  <a:srgbClr val="555555"/>
                </a:solidFill>
                <a:latin typeface="Yu Gothic UI" pitchFamily="34" charset="0"/>
                <a:ea typeface="Yu Gothic UI" pitchFamily="34" charset="-122"/>
                <a:cs typeface="Yu Gothic UI" pitchFamily="34" charset="-120"/>
              </a:rPr>
              <a:t>プロンプトをさらにブラッシュアップ — 3観点でセルフチェック</a:t>
            </a:r>
            <a:endParaRPr lang="en-US" sz="1500" dirty="0"/>
          </a:p>
        </p:txBody>
      </p:sp>
      <p:sp>
        <p:nvSpPr>
          <p:cNvPr id="5" name="Shape 3"/>
          <p:cNvSpPr/>
          <p:nvPr/>
        </p:nvSpPr>
        <p:spPr>
          <a:xfrm>
            <a:off x="411480" y="1325880"/>
            <a:ext cx="2651760" cy="3474720"/>
          </a:xfrm>
          <a:prstGeom prst="roundRect">
            <a:avLst>
              <a:gd name="adj" fmla="val 3448"/>
            </a:avLst>
          </a:prstGeom>
          <a:solidFill>
            <a:srgbClr val="F4F6F9"/>
          </a:solidFill>
          <a:ln w="15240">
            <a:solidFill>
              <a:srgbClr val="0E7C86"/>
            </a:solidFill>
            <a:prstDash val="solid"/>
          </a:ln>
        </p:spPr>
      </p:sp>
      <p:sp>
        <p:nvSpPr>
          <p:cNvPr id="6" name="Shape 4"/>
          <p:cNvSpPr/>
          <p:nvPr/>
        </p:nvSpPr>
        <p:spPr>
          <a:xfrm>
            <a:off x="411480" y="1325880"/>
            <a:ext cx="2651760" cy="457200"/>
          </a:xfrm>
          <a:prstGeom prst="rect">
            <a:avLst/>
          </a:prstGeom>
          <a:solidFill>
            <a:srgbClr val="0E7C86"/>
          </a:solidFill>
          <a:ln/>
        </p:spPr>
      </p:sp>
      <p:sp>
        <p:nvSpPr>
          <p:cNvPr id="7" name="Text 5"/>
          <p:cNvSpPr/>
          <p:nvPr/>
        </p:nvSpPr>
        <p:spPr>
          <a:xfrm>
            <a:off x="53949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A</a:t>
            </a:r>
            <a:endParaRPr lang="en-US" sz="1500" dirty="0"/>
          </a:p>
        </p:txBody>
      </p:sp>
      <p:sp>
        <p:nvSpPr>
          <p:cNvPr id="8" name="Text 6"/>
          <p:cNvSpPr/>
          <p:nvPr/>
        </p:nvSpPr>
        <p:spPr>
          <a:xfrm>
            <a:off x="59436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A. 理由の理解</a:t>
            </a:r>
            <a:endParaRPr lang="en-US" sz="1500" dirty="0"/>
          </a:p>
        </p:txBody>
      </p:sp>
      <p:sp>
        <p:nvSpPr>
          <p:cNvPr id="9" name="Text 7"/>
          <p:cNvSpPr/>
          <p:nvPr/>
        </p:nvSpPr>
        <p:spPr>
          <a:xfrm>
            <a:off x="59436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各項目の「なぜ必要か」を口頭で説明できるか</a:t>
            </a:r>
            <a:endParaRPr lang="en-US" sz="1300" dirty="0"/>
          </a:p>
        </p:txBody>
      </p:sp>
      <p:sp>
        <p:nvSpPr>
          <p:cNvPr id="10" name="Text 8"/>
          <p:cNvSpPr/>
          <p:nvPr/>
        </p:nvSpPr>
        <p:spPr>
          <a:xfrm>
            <a:off x="59436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「考え方」列を読んでから答えているか、丸暗記NG。理由を1文で言わせる</a:t>
            </a:r>
            <a:endParaRPr lang="en-US" sz="1300" dirty="0"/>
          </a:p>
        </p:txBody>
      </p:sp>
      <p:sp>
        <p:nvSpPr>
          <p:cNvPr id="11" name="Shape 9"/>
          <p:cNvSpPr/>
          <p:nvPr/>
        </p:nvSpPr>
        <p:spPr>
          <a:xfrm>
            <a:off x="3246120" y="1325880"/>
            <a:ext cx="2651760" cy="3474720"/>
          </a:xfrm>
          <a:prstGeom prst="roundRect">
            <a:avLst>
              <a:gd name="adj" fmla="val 3448"/>
            </a:avLst>
          </a:prstGeom>
          <a:solidFill>
            <a:srgbClr val="F4F6F9"/>
          </a:solidFill>
          <a:ln w="15240">
            <a:solidFill>
              <a:srgbClr val="E8A33D"/>
            </a:solidFill>
            <a:prstDash val="solid"/>
          </a:ln>
        </p:spPr>
      </p:sp>
      <p:sp>
        <p:nvSpPr>
          <p:cNvPr id="12" name="Shape 10"/>
          <p:cNvSpPr/>
          <p:nvPr/>
        </p:nvSpPr>
        <p:spPr>
          <a:xfrm>
            <a:off x="3246120" y="1325880"/>
            <a:ext cx="2651760" cy="457200"/>
          </a:xfrm>
          <a:prstGeom prst="rect">
            <a:avLst/>
          </a:prstGeom>
          <a:solidFill>
            <a:srgbClr val="E8A33D"/>
          </a:solidFill>
          <a:ln/>
        </p:spPr>
      </p:sp>
      <p:sp>
        <p:nvSpPr>
          <p:cNvPr id="13" name="Text 11"/>
          <p:cNvSpPr/>
          <p:nvPr/>
        </p:nvSpPr>
        <p:spPr>
          <a:xfrm>
            <a:off x="337413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B</a:t>
            </a:r>
            <a:endParaRPr lang="en-US" sz="1500" dirty="0"/>
          </a:p>
        </p:txBody>
      </p:sp>
      <p:sp>
        <p:nvSpPr>
          <p:cNvPr id="14" name="Text 12"/>
          <p:cNvSpPr/>
          <p:nvPr/>
        </p:nvSpPr>
        <p:spPr>
          <a:xfrm>
            <a:off x="342900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B. 自分ごと化</a:t>
            </a:r>
            <a:endParaRPr lang="en-US" sz="1500" dirty="0"/>
          </a:p>
        </p:txBody>
      </p:sp>
      <p:sp>
        <p:nvSpPr>
          <p:cNvPr id="15" name="Text 13"/>
          <p:cNvSpPr/>
          <p:nvPr/>
        </p:nvSpPr>
        <p:spPr>
          <a:xfrm>
            <a:off x="342900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テンプレ例をそのまま写すのではなく、自分の運用に合わせたか</a:t>
            </a:r>
            <a:endParaRPr lang="en-US" sz="1300" dirty="0"/>
          </a:p>
        </p:txBody>
      </p:sp>
      <p:sp>
        <p:nvSpPr>
          <p:cNvPr id="16" name="Text 14"/>
          <p:cNvSpPr/>
          <p:nvPr/>
        </p:nvSpPr>
        <p:spPr>
          <a:xfrm>
            <a:off x="342900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「あなたの答え」列が"例"列と違う場所が3箇所以上あるか目視</a:t>
            </a:r>
            <a:endParaRPr lang="en-US" sz="1300" dirty="0"/>
          </a:p>
        </p:txBody>
      </p:sp>
      <p:sp>
        <p:nvSpPr>
          <p:cNvPr id="17" name="Shape 15"/>
          <p:cNvSpPr/>
          <p:nvPr/>
        </p:nvSpPr>
        <p:spPr>
          <a:xfrm>
            <a:off x="6080760" y="1325880"/>
            <a:ext cx="2651760" cy="3474720"/>
          </a:xfrm>
          <a:prstGeom prst="roundRect">
            <a:avLst>
              <a:gd name="adj" fmla="val 3448"/>
            </a:avLst>
          </a:prstGeom>
          <a:solidFill>
            <a:srgbClr val="F4F6F9"/>
          </a:solidFill>
          <a:ln w="15240">
            <a:solidFill>
              <a:srgbClr val="7C5F8A"/>
            </a:solidFill>
            <a:prstDash val="solid"/>
          </a:ln>
        </p:spPr>
      </p:sp>
      <p:sp>
        <p:nvSpPr>
          <p:cNvPr id="18" name="Shape 16"/>
          <p:cNvSpPr/>
          <p:nvPr/>
        </p:nvSpPr>
        <p:spPr>
          <a:xfrm>
            <a:off x="6080760" y="1325880"/>
            <a:ext cx="2651760" cy="457200"/>
          </a:xfrm>
          <a:prstGeom prst="rect">
            <a:avLst/>
          </a:prstGeom>
          <a:solidFill>
            <a:srgbClr val="7C5F8A"/>
          </a:solidFill>
          <a:ln/>
        </p:spPr>
      </p:sp>
      <p:sp>
        <p:nvSpPr>
          <p:cNvPr id="19" name="Text 17"/>
          <p:cNvSpPr/>
          <p:nvPr/>
        </p:nvSpPr>
        <p:spPr>
          <a:xfrm>
            <a:off x="620877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C</a:t>
            </a:r>
            <a:endParaRPr lang="en-US" sz="1500" dirty="0"/>
          </a:p>
        </p:txBody>
      </p:sp>
      <p:sp>
        <p:nvSpPr>
          <p:cNvPr id="20" name="Text 18"/>
          <p:cNvSpPr/>
          <p:nvPr/>
        </p:nvSpPr>
        <p:spPr>
          <a:xfrm>
            <a:off x="626364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C. AIとの共同作業</a:t>
            </a:r>
            <a:endParaRPr lang="en-US" sz="1500" dirty="0"/>
          </a:p>
        </p:txBody>
      </p:sp>
      <p:sp>
        <p:nvSpPr>
          <p:cNvPr id="21" name="Text 19"/>
          <p:cNvSpPr/>
          <p:nvPr/>
        </p:nvSpPr>
        <p:spPr>
          <a:xfrm>
            <a:off x="626364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迷ったところで Gemini に相談したか</a:t>
            </a:r>
            <a:endParaRPr lang="en-US" sz="1300" dirty="0"/>
          </a:p>
        </p:txBody>
      </p:sp>
      <p:sp>
        <p:nvSpPr>
          <p:cNvPr id="22" name="Text 20"/>
          <p:cNvSpPr/>
          <p:nvPr/>
        </p:nvSpPr>
        <p:spPr>
          <a:xfrm>
            <a:off x="626364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相談ログ(質問→結論)をスプシ補足列 or 別シートに残させる</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演習2 情報収集GASをバイブコーディング (設計を素材に)</a:t>
            </a:r>
            <a:endParaRPr lang="en-US" sz="2600" dirty="0"/>
          </a:p>
        </p:txBody>
      </p:sp>
      <p:sp>
        <p:nvSpPr>
          <p:cNvPr id="4" name="Shape 2"/>
          <p:cNvSpPr/>
          <p:nvPr/>
        </p:nvSpPr>
        <p:spPr>
          <a:xfrm>
            <a:off x="411480" y="1005840"/>
            <a:ext cx="4160520" cy="1783080"/>
          </a:xfrm>
          <a:prstGeom prst="roundRect">
            <a:avLst>
              <a:gd name="adj" fmla="val 4103"/>
            </a:avLst>
          </a:prstGeom>
          <a:solidFill>
            <a:srgbClr val="F4F6F9"/>
          </a:solidFill>
          <a:ln w="6350">
            <a:solidFill>
              <a:srgbClr val="D7DCE3"/>
            </a:solidFill>
            <a:prstDash val="solid"/>
          </a:ln>
        </p:spPr>
      </p:sp>
      <p:sp>
        <p:nvSpPr>
          <p:cNvPr id="5" name="Shape 3"/>
          <p:cNvSpPr/>
          <p:nvPr/>
        </p:nvSpPr>
        <p:spPr>
          <a:xfrm>
            <a:off x="411480" y="1005840"/>
            <a:ext cx="91440" cy="1783080"/>
          </a:xfrm>
          <a:prstGeom prst="rect">
            <a:avLst/>
          </a:prstGeom>
          <a:solidFill>
            <a:srgbClr val="1F3A5F"/>
          </a:solidFill>
          <a:ln/>
        </p:spPr>
      </p:sp>
      <p:sp>
        <p:nvSpPr>
          <p:cNvPr id="6" name="Text 4"/>
          <p:cNvSpPr/>
          <p:nvPr/>
        </p:nvSpPr>
        <p:spPr>
          <a:xfrm>
            <a:off x="612648" y="1097280"/>
            <a:ext cx="3849624" cy="384048"/>
          </a:xfrm>
          <a:prstGeom prst="rect">
            <a:avLst/>
          </a:prstGeom>
          <a:noFill/>
          <a:ln/>
        </p:spPr>
        <p:txBody>
          <a:bodyPr wrap="square" rtlCol="0" anchor="ctr"/>
          <a:lstStyle/>
          <a:p>
            <a:pPr indent="0" marL="0">
              <a:buNone/>
            </a:pPr>
            <a:r>
              <a:rPr lang="en-US" sz="1600" b="1" dirty="0">
                <a:solidFill>
                  <a:srgbClr val="1F3A5F"/>
                </a:solidFill>
                <a:latin typeface="Yu Gothic UI Semibold" pitchFamily="34" charset="0"/>
                <a:ea typeface="Yu Gothic UI Semibold" pitchFamily="34" charset="-122"/>
                <a:cs typeface="Yu Gothic UI Semibold" pitchFamily="34" charset="-120"/>
              </a:rPr>
              <a:t>📍 シチュエーション</a:t>
            </a:r>
            <a:endParaRPr lang="en-US" sz="1600" dirty="0"/>
          </a:p>
        </p:txBody>
      </p:sp>
      <p:sp>
        <p:nvSpPr>
          <p:cNvPr id="7" name="Text 5"/>
          <p:cNvSpPr/>
          <p:nvPr/>
        </p:nvSpPr>
        <p:spPr>
          <a:xfrm>
            <a:off x="649224" y="1536192"/>
            <a:ext cx="3703320" cy="1161288"/>
          </a:xfrm>
          <a:prstGeom prst="rect">
            <a:avLst/>
          </a:prstGeom>
          <a:noFill/>
          <a:ln/>
        </p:spPr>
        <p:txBody>
          <a:bodyPr wrap="square" rtlCol="0" anchor="t"/>
          <a:lstStyle/>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演習1の設計シートを"仕様書"として Gemini に渡し、情報収集GASを組み上げる。</a:t>
            </a:r>
            <a:endParaRPr lang="en-US" sz="1400" dirty="0"/>
          </a:p>
          <a:p>
            <a:pPr indent="0" marL="0">
              <a:spcAft>
                <a:spcPts val="400"/>
              </a:spcAft>
              <a:buNone/>
            </a:pPr>
            <a:r>
              <a:rPr lang="en-US" sz="1400" dirty="0">
                <a:solidFill>
                  <a:srgbClr val="1A1A1A"/>
                </a:solidFill>
                <a:latin typeface="Yu Gothic UI" pitchFamily="34" charset="0"/>
                <a:ea typeface="Yu Gothic UI" pitchFamily="34" charset="-122"/>
                <a:cs typeface="Yu Gothic UI" pitchFamily="34" charset="-120"/>
              </a:rPr>
              <a:t>ここで大事なのは「なぜホワイトリスト？」「なぜ出典URL必須？」「なぜOK/NG列？」を都度自分の言葉で説明できる状態にすること。</a:t>
            </a:r>
            <a:endParaRPr lang="en-US" sz="1400" dirty="0"/>
          </a:p>
        </p:txBody>
      </p:sp>
      <p:sp>
        <p:nvSpPr>
          <p:cNvPr id="8" name="Shape 6"/>
          <p:cNvSpPr/>
          <p:nvPr/>
        </p:nvSpPr>
        <p:spPr>
          <a:xfrm>
            <a:off x="411480" y="2880360"/>
            <a:ext cx="4160520" cy="2011680"/>
          </a:xfrm>
          <a:prstGeom prst="roundRect">
            <a:avLst>
              <a:gd name="adj" fmla="val 3636"/>
            </a:avLst>
          </a:prstGeom>
          <a:solidFill>
            <a:srgbClr val="F4F6F9"/>
          </a:solidFill>
          <a:ln w="6350">
            <a:solidFill>
              <a:srgbClr val="D7DCE3"/>
            </a:solidFill>
            <a:prstDash val="solid"/>
          </a:ln>
        </p:spPr>
      </p:sp>
      <p:sp>
        <p:nvSpPr>
          <p:cNvPr id="9" name="Shape 7"/>
          <p:cNvSpPr/>
          <p:nvPr/>
        </p:nvSpPr>
        <p:spPr>
          <a:xfrm>
            <a:off x="411480" y="2880360"/>
            <a:ext cx="91440" cy="2011680"/>
          </a:xfrm>
          <a:prstGeom prst="rect">
            <a:avLst/>
          </a:prstGeom>
          <a:solidFill>
            <a:srgbClr val="E8A33D"/>
          </a:solidFill>
          <a:ln/>
        </p:spPr>
      </p:sp>
      <p:sp>
        <p:nvSpPr>
          <p:cNvPr id="10" name="Text 8"/>
          <p:cNvSpPr/>
          <p:nvPr/>
        </p:nvSpPr>
        <p:spPr>
          <a:xfrm>
            <a:off x="612648" y="2971800"/>
            <a:ext cx="3849624" cy="384048"/>
          </a:xfrm>
          <a:prstGeom prst="rect">
            <a:avLst/>
          </a:prstGeom>
          <a:noFill/>
          <a:ln/>
        </p:spPr>
        <p:txBody>
          <a:bodyPr wrap="square" rtlCol="0" anchor="ctr"/>
          <a:lstStyle/>
          <a:p>
            <a:pPr indent="0" marL="0">
              <a:buNone/>
            </a:pPr>
            <a:r>
              <a:rPr lang="en-US" sz="1600" b="1" dirty="0">
                <a:solidFill>
                  <a:srgbClr val="E8A33D"/>
                </a:solidFill>
                <a:latin typeface="Yu Gothic UI Semibold" pitchFamily="34" charset="0"/>
                <a:ea typeface="Yu Gothic UI Semibold" pitchFamily="34" charset="-122"/>
                <a:cs typeface="Yu Gothic UI Semibold" pitchFamily="34" charset="-120"/>
              </a:rPr>
              <a:t>💭 プロンプトのヒント</a:t>
            </a:r>
            <a:endParaRPr lang="en-US" sz="1600" dirty="0"/>
          </a:p>
        </p:txBody>
      </p:sp>
      <p:sp>
        <p:nvSpPr>
          <p:cNvPr id="11" name="Text 9"/>
          <p:cNvSpPr/>
          <p:nvPr/>
        </p:nvSpPr>
        <p:spPr>
          <a:xfrm>
            <a:off x="649224" y="3410712"/>
            <a:ext cx="3703320" cy="138988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「Grounding とは何か」を先に生徒に問う: なぜ search を有効化すると信頼性が上がるのか</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API キーはスクリプトプロパティ GEMINI_API_KEY 経由(直書きNG)</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AIに「不確かな数字は出さず、出典URLがなければ生成しないで」と明記</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生成結果は必ず OK/NG 列を空のまま保存(次演習で人が判定する)</a:t>
            </a:r>
            <a:endParaRPr lang="en-US" sz="1400" dirty="0"/>
          </a:p>
        </p:txBody>
      </p:sp>
      <p:sp>
        <p:nvSpPr>
          <p:cNvPr id="12" name="Shape 10"/>
          <p:cNvSpPr/>
          <p:nvPr/>
        </p:nvSpPr>
        <p:spPr>
          <a:xfrm>
            <a:off x="4663440" y="1005840"/>
            <a:ext cx="4160520" cy="3886200"/>
          </a:xfrm>
          <a:prstGeom prst="roundRect">
            <a:avLst>
              <a:gd name="adj" fmla="val 1882"/>
            </a:avLst>
          </a:prstGeom>
          <a:solidFill>
            <a:srgbClr val="F4F6F9"/>
          </a:solidFill>
          <a:ln w="6350">
            <a:solidFill>
              <a:srgbClr val="D7DCE3"/>
            </a:solidFill>
            <a:prstDash val="solid"/>
          </a:ln>
        </p:spPr>
      </p:sp>
      <p:sp>
        <p:nvSpPr>
          <p:cNvPr id="13" name="Shape 11"/>
          <p:cNvSpPr/>
          <p:nvPr/>
        </p:nvSpPr>
        <p:spPr>
          <a:xfrm>
            <a:off x="4663440" y="1005840"/>
            <a:ext cx="91440" cy="3886200"/>
          </a:xfrm>
          <a:prstGeom prst="rect">
            <a:avLst/>
          </a:prstGeom>
          <a:solidFill>
            <a:srgbClr val="0E7C86"/>
          </a:solidFill>
          <a:ln/>
        </p:spPr>
      </p:sp>
      <p:sp>
        <p:nvSpPr>
          <p:cNvPr id="14" name="Text 12"/>
          <p:cNvSpPr/>
          <p:nvPr/>
        </p:nvSpPr>
        <p:spPr>
          <a:xfrm>
            <a:off x="4864608" y="1097280"/>
            <a:ext cx="3849624" cy="384048"/>
          </a:xfrm>
          <a:prstGeom prst="rect">
            <a:avLst/>
          </a:prstGeom>
          <a:noFill/>
          <a:ln/>
        </p:spPr>
        <p:txBody>
          <a:bodyPr wrap="square" rtlCol="0" anchor="ctr"/>
          <a:lstStyle/>
          <a:p>
            <a:pPr indent="0" marL="0">
              <a:buNone/>
            </a:pPr>
            <a:r>
              <a:rPr lang="en-US" sz="1600" b="1" dirty="0">
                <a:solidFill>
                  <a:srgbClr val="0E7C86"/>
                </a:solidFill>
                <a:latin typeface="Yu Gothic UI Semibold" pitchFamily="34" charset="0"/>
                <a:ea typeface="Yu Gothic UI Semibold" pitchFamily="34" charset="-122"/>
                <a:cs typeface="Yu Gothic UI Semibold" pitchFamily="34" charset="-120"/>
              </a:rPr>
              <a:t>🎯 AIに作ってもらいたいもの</a:t>
            </a:r>
            <a:endParaRPr lang="en-US" sz="1600" dirty="0"/>
          </a:p>
        </p:txBody>
      </p:sp>
      <p:sp>
        <p:nvSpPr>
          <p:cNvPr id="15" name="Text 13"/>
          <p:cNvSpPr/>
          <p:nvPr/>
        </p:nvSpPr>
        <p:spPr>
          <a:xfrm>
            <a:off x="4901184" y="1536192"/>
            <a:ext cx="3703320" cy="3264408"/>
          </a:xfrm>
          <a:prstGeom prst="rect">
            <a:avLst/>
          </a:prstGeom>
          <a:noFill/>
          <a:ln/>
        </p:spPr>
        <p:txBody>
          <a:bodyPr wrap="square" rtlCol="0" anchor="t"/>
          <a:lstStyle/>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Gemini API の Google Search Grounding を有効化した GAS を作成</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プロンプトに演習1のホワイトリスト+フォーマット定義を埋め込む</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スプシの「配信予約」シートに 日付/タイトル/本文/出典URL/カテゴリ/OK-NG(空) で保存</a:t>
            </a:r>
            <a:endParaRPr lang="en-US" sz="1400" dirty="0"/>
          </a:p>
          <a:p>
            <a:pPr marL="342900" indent="-342900">
              <a:spcAft>
                <a:spcPts val="400"/>
              </a:spcAft>
              <a:buSzPct val="100000"/>
              <a:buChar char="●"/>
            </a:pPr>
            <a:r>
              <a:rPr lang="en-US" sz="1400" dirty="0">
                <a:solidFill>
                  <a:srgbClr val="1A1A1A"/>
                </a:solidFill>
                <a:latin typeface="Yu Gothic UI" pitchFamily="34" charset="0"/>
                <a:ea typeface="Yu Gothic UI" pitchFamily="34" charset="-122"/>
                <a:cs typeface="Yu Gothic UI" pitchFamily="34" charset="-120"/>
              </a:rPr>
              <a:t>5テーマ試して、出典URL付きの原稿が生成されるか確認</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0E7C86"/>
          </a:solidFill>
          <a:ln/>
        </p:spPr>
      </p:sp>
      <p:sp>
        <p:nvSpPr>
          <p:cNvPr id="3" name="Text 1"/>
          <p:cNvSpPr/>
          <p:nvPr/>
        </p:nvSpPr>
        <p:spPr>
          <a:xfrm>
            <a:off x="411480" y="201168"/>
            <a:ext cx="8412480" cy="594360"/>
          </a:xfrm>
          <a:prstGeom prst="rect">
            <a:avLst/>
          </a:prstGeom>
          <a:noFill/>
          <a:ln/>
        </p:spPr>
        <p:txBody>
          <a:bodyPr wrap="square" rtlCol="0" anchor="ctr"/>
          <a:lstStyle/>
          <a:p>
            <a:pPr indent="0" marL="0">
              <a:buNone/>
            </a:pPr>
            <a:r>
              <a:rPr lang="en-US" sz="2600" b="1" dirty="0">
                <a:solidFill>
                  <a:srgbClr val="1F3A5F"/>
                </a:solidFill>
                <a:latin typeface="Yu Gothic UI Semibold" pitchFamily="34" charset="0"/>
                <a:ea typeface="Yu Gothic UI Semibold" pitchFamily="34" charset="-122"/>
                <a:cs typeface="Yu Gothic UI Semibold" pitchFamily="34" charset="-120"/>
              </a:rPr>
              <a:t>演習2 情報収集GASをバイブコーディング (設計を素材に) — 観点別チェック</a:t>
            </a:r>
            <a:endParaRPr lang="en-US" sz="2600" dirty="0"/>
          </a:p>
        </p:txBody>
      </p:sp>
      <p:sp>
        <p:nvSpPr>
          <p:cNvPr id="4" name="Text 2"/>
          <p:cNvSpPr/>
          <p:nvPr/>
        </p:nvSpPr>
        <p:spPr>
          <a:xfrm>
            <a:off x="411480" y="804672"/>
            <a:ext cx="8412480" cy="365760"/>
          </a:xfrm>
          <a:prstGeom prst="rect">
            <a:avLst/>
          </a:prstGeom>
          <a:noFill/>
          <a:ln/>
        </p:spPr>
        <p:txBody>
          <a:bodyPr wrap="square" rtlCol="0" anchor="ctr"/>
          <a:lstStyle/>
          <a:p>
            <a:pPr indent="0" marL="0">
              <a:buNone/>
            </a:pPr>
            <a:r>
              <a:rPr lang="en-US" sz="1500" i="1" dirty="0">
                <a:solidFill>
                  <a:srgbClr val="555555"/>
                </a:solidFill>
                <a:latin typeface="Yu Gothic UI" pitchFamily="34" charset="0"/>
                <a:ea typeface="Yu Gothic UI" pitchFamily="34" charset="-122"/>
                <a:cs typeface="Yu Gothic UI" pitchFamily="34" charset="-120"/>
              </a:rPr>
              <a:t>プロンプトをさらにブラッシュアップ — 3観点でセルフチェック</a:t>
            </a:r>
            <a:endParaRPr lang="en-US" sz="1500" dirty="0"/>
          </a:p>
        </p:txBody>
      </p:sp>
      <p:sp>
        <p:nvSpPr>
          <p:cNvPr id="5" name="Shape 3"/>
          <p:cNvSpPr/>
          <p:nvPr/>
        </p:nvSpPr>
        <p:spPr>
          <a:xfrm>
            <a:off x="411480" y="1325880"/>
            <a:ext cx="2651760" cy="3474720"/>
          </a:xfrm>
          <a:prstGeom prst="roundRect">
            <a:avLst>
              <a:gd name="adj" fmla="val 3448"/>
            </a:avLst>
          </a:prstGeom>
          <a:solidFill>
            <a:srgbClr val="F4F6F9"/>
          </a:solidFill>
          <a:ln w="15240">
            <a:solidFill>
              <a:srgbClr val="0E7C86"/>
            </a:solidFill>
            <a:prstDash val="solid"/>
          </a:ln>
        </p:spPr>
      </p:sp>
      <p:sp>
        <p:nvSpPr>
          <p:cNvPr id="6" name="Shape 4"/>
          <p:cNvSpPr/>
          <p:nvPr/>
        </p:nvSpPr>
        <p:spPr>
          <a:xfrm>
            <a:off x="411480" y="1325880"/>
            <a:ext cx="2651760" cy="457200"/>
          </a:xfrm>
          <a:prstGeom prst="rect">
            <a:avLst/>
          </a:prstGeom>
          <a:solidFill>
            <a:srgbClr val="0E7C86"/>
          </a:solidFill>
          <a:ln/>
        </p:spPr>
      </p:sp>
      <p:sp>
        <p:nvSpPr>
          <p:cNvPr id="7" name="Text 5"/>
          <p:cNvSpPr/>
          <p:nvPr/>
        </p:nvSpPr>
        <p:spPr>
          <a:xfrm>
            <a:off x="53949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A</a:t>
            </a:r>
            <a:endParaRPr lang="en-US" sz="1500" dirty="0"/>
          </a:p>
        </p:txBody>
      </p:sp>
      <p:sp>
        <p:nvSpPr>
          <p:cNvPr id="8" name="Text 6"/>
          <p:cNvSpPr/>
          <p:nvPr/>
        </p:nvSpPr>
        <p:spPr>
          <a:xfrm>
            <a:off x="59436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A. ハルシネーション対策</a:t>
            </a:r>
            <a:endParaRPr lang="en-US" sz="1500" dirty="0"/>
          </a:p>
        </p:txBody>
      </p:sp>
      <p:sp>
        <p:nvSpPr>
          <p:cNvPr id="9" name="Text 7"/>
          <p:cNvSpPr/>
          <p:nvPr/>
        </p:nvSpPr>
        <p:spPr>
          <a:xfrm>
            <a:off x="59436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出典URLが本当にホワイトリストのドメインで、実在するか</a:t>
            </a:r>
            <a:endParaRPr lang="en-US" sz="1300" dirty="0"/>
          </a:p>
        </p:txBody>
      </p:sp>
      <p:sp>
        <p:nvSpPr>
          <p:cNvPr id="10" name="Text 8"/>
          <p:cNvSpPr/>
          <p:nvPr/>
        </p:nvSpPr>
        <p:spPr>
          <a:xfrm>
            <a:off x="59436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5件全部で URL をクリックして開いてみる(存在検証)</a:t>
            </a:r>
            <a:endParaRPr lang="en-US" sz="1300" dirty="0"/>
          </a:p>
        </p:txBody>
      </p:sp>
      <p:sp>
        <p:nvSpPr>
          <p:cNvPr id="11" name="Shape 9"/>
          <p:cNvSpPr/>
          <p:nvPr/>
        </p:nvSpPr>
        <p:spPr>
          <a:xfrm>
            <a:off x="3246120" y="1325880"/>
            <a:ext cx="2651760" cy="3474720"/>
          </a:xfrm>
          <a:prstGeom prst="roundRect">
            <a:avLst>
              <a:gd name="adj" fmla="val 3448"/>
            </a:avLst>
          </a:prstGeom>
          <a:solidFill>
            <a:srgbClr val="F4F6F9"/>
          </a:solidFill>
          <a:ln w="15240">
            <a:solidFill>
              <a:srgbClr val="E8A33D"/>
            </a:solidFill>
            <a:prstDash val="solid"/>
          </a:ln>
        </p:spPr>
      </p:sp>
      <p:sp>
        <p:nvSpPr>
          <p:cNvPr id="12" name="Shape 10"/>
          <p:cNvSpPr/>
          <p:nvPr/>
        </p:nvSpPr>
        <p:spPr>
          <a:xfrm>
            <a:off x="3246120" y="1325880"/>
            <a:ext cx="2651760" cy="457200"/>
          </a:xfrm>
          <a:prstGeom prst="rect">
            <a:avLst/>
          </a:prstGeom>
          <a:solidFill>
            <a:srgbClr val="E8A33D"/>
          </a:solidFill>
          <a:ln/>
        </p:spPr>
      </p:sp>
      <p:sp>
        <p:nvSpPr>
          <p:cNvPr id="13" name="Text 11"/>
          <p:cNvSpPr/>
          <p:nvPr/>
        </p:nvSpPr>
        <p:spPr>
          <a:xfrm>
            <a:off x="337413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B</a:t>
            </a:r>
            <a:endParaRPr lang="en-US" sz="1500" dirty="0"/>
          </a:p>
        </p:txBody>
      </p:sp>
      <p:sp>
        <p:nvSpPr>
          <p:cNvPr id="14" name="Text 12"/>
          <p:cNvSpPr/>
          <p:nvPr/>
        </p:nvSpPr>
        <p:spPr>
          <a:xfrm>
            <a:off x="342900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B. プロンプトの再現性</a:t>
            </a:r>
            <a:endParaRPr lang="en-US" sz="1500" dirty="0"/>
          </a:p>
        </p:txBody>
      </p:sp>
      <p:sp>
        <p:nvSpPr>
          <p:cNvPr id="15" name="Text 13"/>
          <p:cNvSpPr/>
          <p:nvPr/>
        </p:nvSpPr>
        <p:spPr>
          <a:xfrm>
            <a:off x="342900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別の日に実行しても同じ形式で返るか</a:t>
            </a:r>
            <a:endParaRPr lang="en-US" sz="1300" dirty="0"/>
          </a:p>
        </p:txBody>
      </p:sp>
      <p:sp>
        <p:nvSpPr>
          <p:cNvPr id="16" name="Text 14"/>
          <p:cNvSpPr/>
          <p:nvPr/>
        </p:nvSpPr>
        <p:spPr>
          <a:xfrm>
            <a:off x="342900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temperature を 0.2 以下に、出力スキーマを JSON で固定</a:t>
            </a:r>
            <a:endParaRPr lang="en-US" sz="1300" dirty="0"/>
          </a:p>
        </p:txBody>
      </p:sp>
      <p:sp>
        <p:nvSpPr>
          <p:cNvPr id="17" name="Shape 15"/>
          <p:cNvSpPr/>
          <p:nvPr/>
        </p:nvSpPr>
        <p:spPr>
          <a:xfrm>
            <a:off x="6080760" y="1325880"/>
            <a:ext cx="2651760" cy="3474720"/>
          </a:xfrm>
          <a:prstGeom prst="roundRect">
            <a:avLst>
              <a:gd name="adj" fmla="val 3448"/>
            </a:avLst>
          </a:prstGeom>
          <a:solidFill>
            <a:srgbClr val="F4F6F9"/>
          </a:solidFill>
          <a:ln w="15240">
            <a:solidFill>
              <a:srgbClr val="7C5F8A"/>
            </a:solidFill>
            <a:prstDash val="solid"/>
          </a:ln>
        </p:spPr>
      </p:sp>
      <p:sp>
        <p:nvSpPr>
          <p:cNvPr id="18" name="Shape 16"/>
          <p:cNvSpPr/>
          <p:nvPr/>
        </p:nvSpPr>
        <p:spPr>
          <a:xfrm>
            <a:off x="6080760" y="1325880"/>
            <a:ext cx="2651760" cy="457200"/>
          </a:xfrm>
          <a:prstGeom prst="rect">
            <a:avLst/>
          </a:prstGeom>
          <a:solidFill>
            <a:srgbClr val="7C5F8A"/>
          </a:solidFill>
          <a:ln/>
        </p:spPr>
      </p:sp>
      <p:sp>
        <p:nvSpPr>
          <p:cNvPr id="19" name="Text 17"/>
          <p:cNvSpPr/>
          <p:nvPr/>
        </p:nvSpPr>
        <p:spPr>
          <a:xfrm>
            <a:off x="6208776" y="1380744"/>
            <a:ext cx="2395728" cy="365760"/>
          </a:xfrm>
          <a:prstGeom prst="rect">
            <a:avLst/>
          </a:prstGeom>
          <a:noFill/>
          <a:ln/>
        </p:spPr>
        <p:txBody>
          <a:bodyPr wrap="square" rtlCol="0" anchor="ctr"/>
          <a:lstStyle/>
          <a:p>
            <a:pPr indent="0" marL="0">
              <a:buNone/>
            </a:pPr>
            <a:r>
              <a:rPr lang="en-US" sz="1500" b="1" dirty="0">
                <a:solidFill>
                  <a:srgbClr val="FFFFFF"/>
                </a:solidFill>
                <a:latin typeface="Yu Gothic UI Semibold" pitchFamily="34" charset="0"/>
                <a:ea typeface="Yu Gothic UI Semibold" pitchFamily="34" charset="-122"/>
                <a:cs typeface="Yu Gothic UI Semibold" pitchFamily="34" charset="-120"/>
              </a:rPr>
              <a:t>観点 C</a:t>
            </a:r>
            <a:endParaRPr lang="en-US" sz="1500" dirty="0"/>
          </a:p>
        </p:txBody>
      </p:sp>
      <p:sp>
        <p:nvSpPr>
          <p:cNvPr id="20" name="Text 18"/>
          <p:cNvSpPr/>
          <p:nvPr/>
        </p:nvSpPr>
        <p:spPr>
          <a:xfrm>
            <a:off x="6263640" y="1892808"/>
            <a:ext cx="2359152" cy="548640"/>
          </a:xfrm>
          <a:prstGeom prst="rect">
            <a:avLst/>
          </a:prstGeom>
          <a:noFill/>
          <a:ln/>
        </p:spPr>
        <p:txBody>
          <a:bodyPr wrap="square" rtlCol="0" anchor="t"/>
          <a:lstStyle/>
          <a:p>
            <a:pPr indent="0" marL="0">
              <a:buNone/>
            </a:pPr>
            <a:r>
              <a:rPr lang="en-US" sz="1500" b="1" dirty="0">
                <a:solidFill>
                  <a:srgbClr val="1F3A5F"/>
                </a:solidFill>
                <a:latin typeface="Yu Gothic UI Semibold" pitchFamily="34" charset="0"/>
                <a:ea typeface="Yu Gothic UI Semibold" pitchFamily="34" charset="-122"/>
                <a:cs typeface="Yu Gothic UI Semibold" pitchFamily="34" charset="-120"/>
              </a:rPr>
              <a:t>C. 意味の理解度</a:t>
            </a:r>
            <a:endParaRPr lang="en-US" sz="1500" dirty="0"/>
          </a:p>
        </p:txBody>
      </p:sp>
      <p:sp>
        <p:nvSpPr>
          <p:cNvPr id="21" name="Text 19"/>
          <p:cNvSpPr/>
          <p:nvPr/>
        </p:nvSpPr>
        <p:spPr>
          <a:xfrm>
            <a:off x="6263640" y="2514600"/>
            <a:ext cx="2359152" cy="1051560"/>
          </a:xfrm>
          <a:prstGeom prst="rect">
            <a:avLst/>
          </a:prstGeom>
          <a:noFill/>
          <a:ln/>
        </p:spPr>
        <p:txBody>
          <a:bodyPr wrap="square" rtlCol="0" anchor="t"/>
          <a:lstStyle/>
          <a:p>
            <a:pPr indent="0" marL="0">
              <a:buNone/>
            </a:pPr>
            <a:r>
              <a:rPr lang="en-US" sz="1400" b="1" dirty="0">
                <a:solidFill>
                  <a:srgbClr val="0E7C86"/>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「なぜOK/NG列を空にする」を自分の言葉で説明できるか</a:t>
            </a:r>
            <a:endParaRPr lang="en-US" sz="1300" dirty="0"/>
          </a:p>
        </p:txBody>
      </p:sp>
      <p:sp>
        <p:nvSpPr>
          <p:cNvPr id="22" name="Text 20"/>
          <p:cNvSpPr/>
          <p:nvPr/>
        </p:nvSpPr>
        <p:spPr>
          <a:xfrm>
            <a:off x="6263640" y="3611880"/>
            <a:ext cx="2359152" cy="1097280"/>
          </a:xfrm>
          <a:prstGeom prst="rect">
            <a:avLst/>
          </a:prstGeom>
          <a:noFill/>
          <a:ln/>
        </p:spPr>
        <p:txBody>
          <a:bodyPr wrap="square" rtlCol="0" anchor="t"/>
          <a:lstStyle/>
          <a:p>
            <a:pPr indent="0" marL="0">
              <a:buNone/>
            </a:pPr>
            <a:r>
              <a:rPr lang="en-US" sz="1400" b="1" dirty="0">
                <a:solidFill>
                  <a:srgbClr val="E8A33D"/>
                </a:solidFill>
                <a:latin typeface="Yu Gothic UI" pitchFamily="34" charset="0"/>
                <a:ea typeface="Yu Gothic UI" pitchFamily="34" charset="-122"/>
                <a:cs typeface="Yu Gothic UI" pitchFamily="34" charset="-120"/>
              </a:rPr>
              <a:t>💡  </a:t>
            </a:r>
            <a:pPr indent="0" marL="0">
              <a:buNone/>
            </a:pPr>
            <a:r>
              <a:rPr lang="en-US" sz="1300" dirty="0">
                <a:solidFill>
                  <a:srgbClr val="1A1A1A"/>
                </a:solidFill>
                <a:latin typeface="Yu Gothic UI" pitchFamily="34" charset="0"/>
                <a:ea typeface="Yu Gothic UI" pitchFamily="34" charset="-122"/>
                <a:cs typeface="Yu Gothic UI" pitchFamily="34" charset="-120"/>
              </a:rPr>
              <a:t>「AIの誤情報を止める最後の砦=人の目」を口頭確認</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3A5F"/>
        </a:solidFill>
      </p:bgPr>
    </p:bg>
    <p:spTree>
      <p:nvGrpSpPr>
        <p:cNvPr id="1" name=""/>
        <p:cNvGrpSpPr/>
        <p:nvPr/>
      </p:nvGrpSpPr>
      <p:grpSpPr>
        <a:xfrm>
          <a:off x="0" y="0"/>
          <a:ext cx="0" cy="0"/>
          <a:chOff x="0" y="0"/>
          <a:chExt cx="0" cy="0"/>
        </a:xfrm>
      </p:grpSpPr>
      <p:sp>
        <p:nvSpPr>
          <p:cNvPr id="2" name="Text 0"/>
          <p:cNvSpPr/>
          <p:nvPr/>
        </p:nvSpPr>
        <p:spPr>
          <a:xfrm>
            <a:off x="457200" y="365760"/>
            <a:ext cx="8229600" cy="777240"/>
          </a:xfrm>
          <a:prstGeom prst="rect">
            <a:avLst/>
          </a:prstGeom>
          <a:noFill/>
          <a:ln/>
        </p:spPr>
        <p:txBody>
          <a:bodyPr wrap="square" rtlCol="0" anchor="ctr"/>
          <a:lstStyle/>
          <a:p>
            <a:pPr indent="0" marL="0">
              <a:buNone/>
            </a:pPr>
            <a:r>
              <a:rPr lang="en-US" sz="3200" b="1" dirty="0">
                <a:solidFill>
                  <a:srgbClr val="FFFFFF"/>
                </a:solidFill>
                <a:latin typeface="Yu Gothic UI Semibold" pitchFamily="34" charset="0"/>
                <a:ea typeface="Yu Gothic UI Semibold" pitchFamily="34" charset="-122"/>
                <a:cs typeface="Yu Gothic UI Semibold" pitchFamily="34" charset="-120"/>
              </a:rPr>
              <a:t>今日の持ち帰り</a:t>
            </a:r>
            <a:endParaRPr lang="en-US" sz="3200" dirty="0"/>
          </a:p>
        </p:txBody>
      </p:sp>
      <p:sp>
        <p:nvSpPr>
          <p:cNvPr id="3" name="Shape 1"/>
          <p:cNvSpPr/>
          <p:nvPr/>
        </p:nvSpPr>
        <p:spPr>
          <a:xfrm>
            <a:off x="457200" y="1188720"/>
            <a:ext cx="1371600" cy="54864"/>
          </a:xfrm>
          <a:prstGeom prst="rect">
            <a:avLst/>
          </a:prstGeom>
          <a:solidFill>
            <a:srgbClr val="E8A33D"/>
          </a:solidFill>
          <a:ln/>
        </p:spPr>
      </p:sp>
      <p:sp>
        <p:nvSpPr>
          <p:cNvPr id="4" name="Shape 2"/>
          <p:cNvSpPr/>
          <p:nvPr/>
        </p:nvSpPr>
        <p:spPr>
          <a:xfrm>
            <a:off x="457200" y="1554480"/>
            <a:ext cx="8229600" cy="1051560"/>
          </a:xfrm>
          <a:prstGeom prst="roundRect">
            <a:avLst>
              <a:gd name="adj" fmla="val 6957"/>
            </a:avLst>
          </a:prstGeom>
          <a:solidFill>
            <a:srgbClr val="2A4A75"/>
          </a:solidFill>
          <a:ln w="6350">
            <a:solidFill>
              <a:srgbClr val="0E7C86"/>
            </a:solidFill>
            <a:prstDash val="solid"/>
          </a:ln>
        </p:spPr>
      </p:sp>
      <p:sp>
        <p:nvSpPr>
          <p:cNvPr id="5" name="Text 3"/>
          <p:cNvSpPr/>
          <p:nvPr/>
        </p:nvSpPr>
        <p:spPr>
          <a:xfrm>
            <a:off x="658368" y="1719072"/>
            <a:ext cx="777240" cy="777240"/>
          </a:xfrm>
          <a:prstGeom prst="rect">
            <a:avLst/>
          </a:prstGeom>
          <a:noFill/>
          <a:ln/>
        </p:spPr>
        <p:txBody>
          <a:bodyPr wrap="square" rtlCol="0" anchor="ctr"/>
          <a:lstStyle/>
          <a:p>
            <a:pPr indent="0" marL="0">
              <a:buNone/>
            </a:pPr>
            <a:r>
              <a:rPr lang="en-US" sz="3400" b="1" dirty="0">
                <a:solidFill>
                  <a:srgbClr val="E8A33D"/>
                </a:solidFill>
                <a:latin typeface="Yu Gothic UI Semibold" pitchFamily="34" charset="0"/>
                <a:ea typeface="Yu Gothic UI Semibold" pitchFamily="34" charset="-122"/>
                <a:cs typeface="Yu Gothic UI Semibold" pitchFamily="34" charset="-120"/>
              </a:rPr>
              <a:t>01</a:t>
            </a:r>
            <a:endParaRPr lang="en-US" sz="3400" dirty="0"/>
          </a:p>
        </p:txBody>
      </p:sp>
      <p:sp>
        <p:nvSpPr>
          <p:cNvPr id="6" name="Text 4"/>
          <p:cNvSpPr/>
          <p:nvPr/>
        </p:nvSpPr>
        <p:spPr>
          <a:xfrm>
            <a:off x="1508760" y="1691640"/>
            <a:ext cx="6949440" cy="411480"/>
          </a:xfrm>
          <a:prstGeom prst="rect">
            <a:avLst/>
          </a:prstGeom>
          <a:noFill/>
          <a:ln/>
        </p:spPr>
        <p:txBody>
          <a:bodyPr wrap="square" rtlCol="0" anchor="ctr"/>
          <a:lstStyle/>
          <a:p>
            <a:pPr indent="0" marL="0">
              <a:buNone/>
            </a:pPr>
            <a:r>
              <a:rPr lang="en-US" sz="1800" b="1" dirty="0">
                <a:solidFill>
                  <a:srgbClr val="FFFFFF"/>
                </a:solidFill>
                <a:latin typeface="Yu Gothic UI Semibold" pitchFamily="34" charset="0"/>
                <a:ea typeface="Yu Gothic UI Semibold" pitchFamily="34" charset="-122"/>
                <a:cs typeface="Yu Gothic UI Semibold" pitchFamily="34" charset="-120"/>
              </a:rPr>
              <a:t>設計が先、AIは後</a:t>
            </a:r>
            <a:endParaRPr lang="en-US" sz="1800" dirty="0"/>
          </a:p>
        </p:txBody>
      </p:sp>
      <p:sp>
        <p:nvSpPr>
          <p:cNvPr id="7" name="Text 5"/>
          <p:cNvSpPr/>
          <p:nvPr/>
        </p:nvSpPr>
        <p:spPr>
          <a:xfrm>
            <a:off x="1508760" y="2121408"/>
            <a:ext cx="6949440" cy="457200"/>
          </a:xfrm>
          <a:prstGeom prst="rect">
            <a:avLst/>
          </a:prstGeom>
          <a:noFill/>
          <a:ln/>
        </p:spPr>
        <p:txBody>
          <a:bodyPr wrap="square" rtlCol="0" anchor="t"/>
          <a:lstStyle/>
          <a:p>
            <a:pPr indent="0" marL="0">
              <a:buNone/>
            </a:pPr>
            <a:r>
              <a:rPr lang="en-US" sz="1300" dirty="0">
                <a:solidFill>
                  <a:srgbClr val="E6ECF3"/>
                </a:solidFill>
                <a:latin typeface="Yu Gothic UI" pitchFamily="34" charset="0"/>
                <a:ea typeface="Yu Gothic UI" pitchFamily="34" charset="-122"/>
                <a:cs typeface="Yu Gothic UI" pitchFamily="34" charset="-120"/>
              </a:rPr>
              <a:t>判断基準を設計スプシで決めてから実装に入ると、AI出力の良し悪しを判定できる。</a:t>
            </a:r>
            <a:endParaRPr lang="en-US" sz="1300" dirty="0"/>
          </a:p>
        </p:txBody>
      </p:sp>
      <p:sp>
        <p:nvSpPr>
          <p:cNvPr id="8" name="Shape 6"/>
          <p:cNvSpPr/>
          <p:nvPr/>
        </p:nvSpPr>
        <p:spPr>
          <a:xfrm>
            <a:off x="457200" y="2807208"/>
            <a:ext cx="8229600" cy="1051560"/>
          </a:xfrm>
          <a:prstGeom prst="roundRect">
            <a:avLst>
              <a:gd name="adj" fmla="val 6957"/>
            </a:avLst>
          </a:prstGeom>
          <a:solidFill>
            <a:srgbClr val="2A4A75"/>
          </a:solidFill>
          <a:ln w="6350">
            <a:solidFill>
              <a:srgbClr val="0E7C86"/>
            </a:solidFill>
            <a:prstDash val="solid"/>
          </a:ln>
        </p:spPr>
      </p:sp>
      <p:sp>
        <p:nvSpPr>
          <p:cNvPr id="9" name="Text 7"/>
          <p:cNvSpPr/>
          <p:nvPr/>
        </p:nvSpPr>
        <p:spPr>
          <a:xfrm>
            <a:off x="658368" y="2971800"/>
            <a:ext cx="777240" cy="777240"/>
          </a:xfrm>
          <a:prstGeom prst="rect">
            <a:avLst/>
          </a:prstGeom>
          <a:noFill/>
          <a:ln/>
        </p:spPr>
        <p:txBody>
          <a:bodyPr wrap="square" rtlCol="0" anchor="ctr"/>
          <a:lstStyle/>
          <a:p>
            <a:pPr indent="0" marL="0">
              <a:buNone/>
            </a:pPr>
            <a:r>
              <a:rPr lang="en-US" sz="3400" b="1" dirty="0">
                <a:solidFill>
                  <a:srgbClr val="E8A33D"/>
                </a:solidFill>
                <a:latin typeface="Yu Gothic UI Semibold" pitchFamily="34" charset="0"/>
                <a:ea typeface="Yu Gothic UI Semibold" pitchFamily="34" charset="-122"/>
                <a:cs typeface="Yu Gothic UI Semibold" pitchFamily="34" charset="-120"/>
              </a:rPr>
              <a:t>02</a:t>
            </a:r>
            <a:endParaRPr lang="en-US" sz="3400" dirty="0"/>
          </a:p>
        </p:txBody>
      </p:sp>
      <p:sp>
        <p:nvSpPr>
          <p:cNvPr id="10" name="Text 8"/>
          <p:cNvSpPr/>
          <p:nvPr/>
        </p:nvSpPr>
        <p:spPr>
          <a:xfrm>
            <a:off x="1508760" y="2944368"/>
            <a:ext cx="6949440" cy="411480"/>
          </a:xfrm>
          <a:prstGeom prst="rect">
            <a:avLst/>
          </a:prstGeom>
          <a:noFill/>
          <a:ln/>
        </p:spPr>
        <p:txBody>
          <a:bodyPr wrap="square" rtlCol="0" anchor="ctr"/>
          <a:lstStyle/>
          <a:p>
            <a:pPr indent="0" marL="0">
              <a:buNone/>
            </a:pPr>
            <a:r>
              <a:rPr lang="en-US" sz="1800" b="1" dirty="0">
                <a:solidFill>
                  <a:srgbClr val="FFFFFF"/>
                </a:solidFill>
                <a:latin typeface="Yu Gothic UI Semibold" pitchFamily="34" charset="0"/>
                <a:ea typeface="Yu Gothic UI Semibold" pitchFamily="34" charset="-122"/>
                <a:cs typeface="Yu Gothic UI Semibold" pitchFamily="34" charset="-120"/>
              </a:rPr>
              <a:t>ホワイトリスト+出典で信頼性</a:t>
            </a:r>
            <a:endParaRPr lang="en-US" sz="1800" dirty="0"/>
          </a:p>
        </p:txBody>
      </p:sp>
      <p:sp>
        <p:nvSpPr>
          <p:cNvPr id="11" name="Text 9"/>
          <p:cNvSpPr/>
          <p:nvPr/>
        </p:nvSpPr>
        <p:spPr>
          <a:xfrm>
            <a:off x="1508760" y="3374136"/>
            <a:ext cx="6949440" cy="457200"/>
          </a:xfrm>
          <a:prstGeom prst="rect">
            <a:avLst/>
          </a:prstGeom>
          <a:noFill/>
          <a:ln/>
        </p:spPr>
        <p:txBody>
          <a:bodyPr wrap="square" rtlCol="0" anchor="t"/>
          <a:lstStyle/>
          <a:p>
            <a:pPr indent="0" marL="0">
              <a:buNone/>
            </a:pPr>
            <a:r>
              <a:rPr lang="en-US" sz="1300" dirty="0">
                <a:solidFill>
                  <a:srgbClr val="E6ECF3"/>
                </a:solidFill>
                <a:latin typeface="Yu Gothic UI" pitchFamily="34" charset="0"/>
                <a:ea typeface="Yu Gothic UI" pitchFamily="34" charset="-122"/>
                <a:cs typeface="Yu Gothic UI" pitchFamily="34" charset="-120"/>
              </a:rPr>
              <a:t>公的機関限定+URL必須の縛りが、"届けていい情報" と "危ない情報" を分ける。</a:t>
            </a:r>
            <a:endParaRPr lang="en-US" sz="1300" dirty="0"/>
          </a:p>
        </p:txBody>
      </p:sp>
      <p:sp>
        <p:nvSpPr>
          <p:cNvPr id="12" name="Shape 10"/>
          <p:cNvSpPr/>
          <p:nvPr/>
        </p:nvSpPr>
        <p:spPr>
          <a:xfrm>
            <a:off x="457200" y="4059936"/>
            <a:ext cx="8229600" cy="1051560"/>
          </a:xfrm>
          <a:prstGeom prst="roundRect">
            <a:avLst>
              <a:gd name="adj" fmla="val 6957"/>
            </a:avLst>
          </a:prstGeom>
          <a:solidFill>
            <a:srgbClr val="2A4A75"/>
          </a:solidFill>
          <a:ln w="6350">
            <a:solidFill>
              <a:srgbClr val="0E7C86"/>
            </a:solidFill>
            <a:prstDash val="solid"/>
          </a:ln>
        </p:spPr>
      </p:sp>
      <p:sp>
        <p:nvSpPr>
          <p:cNvPr id="13" name="Text 11"/>
          <p:cNvSpPr/>
          <p:nvPr/>
        </p:nvSpPr>
        <p:spPr>
          <a:xfrm>
            <a:off x="658368" y="4224528"/>
            <a:ext cx="777240" cy="777240"/>
          </a:xfrm>
          <a:prstGeom prst="rect">
            <a:avLst/>
          </a:prstGeom>
          <a:noFill/>
          <a:ln/>
        </p:spPr>
        <p:txBody>
          <a:bodyPr wrap="square" rtlCol="0" anchor="ctr"/>
          <a:lstStyle/>
          <a:p>
            <a:pPr indent="0" marL="0">
              <a:buNone/>
            </a:pPr>
            <a:r>
              <a:rPr lang="en-US" sz="3400" b="1" dirty="0">
                <a:solidFill>
                  <a:srgbClr val="E8A33D"/>
                </a:solidFill>
                <a:latin typeface="Yu Gothic UI Semibold" pitchFamily="34" charset="0"/>
                <a:ea typeface="Yu Gothic UI Semibold" pitchFamily="34" charset="-122"/>
                <a:cs typeface="Yu Gothic UI Semibold" pitchFamily="34" charset="-120"/>
              </a:rPr>
              <a:t>03</a:t>
            </a:r>
            <a:endParaRPr lang="en-US" sz="3400" dirty="0"/>
          </a:p>
        </p:txBody>
      </p:sp>
      <p:sp>
        <p:nvSpPr>
          <p:cNvPr id="14" name="Text 12"/>
          <p:cNvSpPr/>
          <p:nvPr/>
        </p:nvSpPr>
        <p:spPr>
          <a:xfrm>
            <a:off x="1508760" y="4197096"/>
            <a:ext cx="6949440" cy="411480"/>
          </a:xfrm>
          <a:prstGeom prst="rect">
            <a:avLst/>
          </a:prstGeom>
          <a:noFill/>
          <a:ln/>
        </p:spPr>
        <p:txBody>
          <a:bodyPr wrap="square" rtlCol="0" anchor="ctr"/>
          <a:lstStyle/>
          <a:p>
            <a:pPr indent="0" marL="0">
              <a:buNone/>
            </a:pPr>
            <a:r>
              <a:rPr lang="en-US" sz="1800" b="1" dirty="0">
                <a:solidFill>
                  <a:srgbClr val="FFFFFF"/>
                </a:solidFill>
                <a:latin typeface="Yu Gothic UI Semibold" pitchFamily="34" charset="0"/>
                <a:ea typeface="Yu Gothic UI Semibold" pitchFamily="34" charset="-122"/>
                <a:cs typeface="Yu Gothic UI Semibold" pitchFamily="34" charset="-120"/>
              </a:rPr>
              <a:t>応用編はLINE配信に接続</a:t>
            </a:r>
            <a:endParaRPr lang="en-US" sz="1800" dirty="0"/>
          </a:p>
        </p:txBody>
      </p:sp>
      <p:sp>
        <p:nvSpPr>
          <p:cNvPr id="15" name="Text 13"/>
          <p:cNvSpPr/>
          <p:nvPr/>
        </p:nvSpPr>
        <p:spPr>
          <a:xfrm>
            <a:off x="1508760" y="4626864"/>
            <a:ext cx="6949440" cy="457200"/>
          </a:xfrm>
          <a:prstGeom prst="rect">
            <a:avLst/>
          </a:prstGeom>
          <a:noFill/>
          <a:ln/>
        </p:spPr>
        <p:txBody>
          <a:bodyPr wrap="square" rtlCol="0" anchor="t"/>
          <a:lstStyle/>
          <a:p>
            <a:pPr indent="0" marL="0">
              <a:buNone/>
            </a:pPr>
            <a:r>
              <a:rPr lang="en-US" sz="1300" dirty="0">
                <a:solidFill>
                  <a:srgbClr val="E6ECF3"/>
                </a:solidFill>
                <a:latin typeface="Yu Gothic UI" pitchFamily="34" charset="0"/>
                <a:ea typeface="Yu Gothic UI" pitchFamily="34" charset="-122"/>
                <a:cs typeface="Yu Gothic UI" pitchFamily="34" charset="-120"/>
              </a:rPr>
              <a:t>集めた原稿をOK判定→broadcast配信までを次の3時間で完成させる。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2026-07-05T17:36:10Z</dcterms:created>
  <dcterms:modified xsi:type="dcterms:W3CDTF">2026-07-05T17:36:10Z</dcterms:modified>
</cp:coreProperties>
</file>