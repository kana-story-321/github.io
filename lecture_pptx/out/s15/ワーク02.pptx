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NG/要確認 テンプレと運用設計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迷いやすいケースを「迷わない仕組み」に変える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学習目標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417320"/>
            <a:ext cx="2468880" cy="73152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1264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 ケーステンプレ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1264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断り方+代替案 のセットを10ケース分作る。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4612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337560" y="1417320"/>
            <a:ext cx="2468880" cy="73152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344728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4728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 マニュアル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44728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確認項目とエスカレ手順をマニュアル化。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080760" y="141732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72200" y="1417320"/>
            <a:ext cx="2468880" cy="73152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6281928" y="1600200"/>
            <a:ext cx="914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81928" y="2286000"/>
            <a:ext cx="224942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自分の判断軸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281928" y="3017520"/>
            <a:ext cx="2249424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コードなしで判断基準を明文化する。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STEP1: 抑えておきたい用語と仕様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0E7C86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417320"/>
            <a:ext cx="1979676" cy="338328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493776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NG ケース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30352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引受不可と判定するケース。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顧客への伝え方が重要。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2510028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0028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E8A33D"/>
          </a:solidFill>
          <a:ln/>
        </p:spPr>
      </p:sp>
      <p:sp>
        <p:nvSpPr>
          <p:cNvPr id="11" name="Shape 9"/>
          <p:cNvSpPr/>
          <p:nvPr/>
        </p:nvSpPr>
        <p:spPr>
          <a:xfrm>
            <a:off x="2510028" y="1417320"/>
            <a:ext cx="1979676" cy="338328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2" name="Text 10"/>
          <p:cNvSpPr/>
          <p:nvPr/>
        </p:nvSpPr>
        <p:spPr>
          <a:xfrm>
            <a:off x="2638044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代替案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674620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引受不可でも提示できる別商品/別プラン/別社。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654296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54296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1F3A5F"/>
          </a:solidFill>
          <a:ln/>
        </p:spPr>
      </p:sp>
      <p:sp>
        <p:nvSpPr>
          <p:cNvPr id="16" name="Shape 14"/>
          <p:cNvSpPr/>
          <p:nvPr/>
        </p:nvSpPr>
        <p:spPr>
          <a:xfrm>
            <a:off x="4654296" y="1417320"/>
            <a:ext cx="1979676" cy="338328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4782312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要確認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18888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判断保留して追加情報を集めるケース。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798564" y="1188720"/>
            <a:ext cx="1979676" cy="3017520"/>
          </a:xfrm>
          <a:prstGeom prst="roundRect">
            <a:avLst>
              <a:gd name="adj" fmla="val 4619"/>
            </a:avLst>
          </a:prstGeom>
          <a:solidFill>
            <a:srgbClr val="FFFFFF"/>
          </a:solidFill>
          <a:ln w="19050">
            <a:solidFill>
              <a:srgbClr val="7C5F8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8564" y="1188720"/>
            <a:ext cx="1979676" cy="566928"/>
          </a:xfrm>
          <a:prstGeom prst="roundRect">
            <a:avLst>
              <a:gd name="adj" fmla="val 16129"/>
            </a:avLst>
          </a:prstGeom>
          <a:solidFill>
            <a:srgbClr val="7C5F8A"/>
          </a:solidFill>
          <a:ln/>
        </p:spPr>
      </p:sp>
      <p:sp>
        <p:nvSpPr>
          <p:cNvPr id="21" name="Shape 19"/>
          <p:cNvSpPr/>
          <p:nvPr/>
        </p:nvSpPr>
        <p:spPr>
          <a:xfrm>
            <a:off x="6798564" y="1417320"/>
            <a:ext cx="1979676" cy="338328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22" name="Text 20"/>
          <p:cNvSpPr/>
          <p:nvPr/>
        </p:nvSpPr>
        <p:spPr>
          <a:xfrm>
            <a:off x="6926580" y="1280160"/>
            <a:ext cx="17236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対応マニュアル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963156" y="1938528"/>
            <a:ext cx="1650492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ケース別の対応手順をまとめた業務文書。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365760" y="4389120"/>
            <a:ext cx="841248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冷たくなりがちなので注意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代替案: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顧客満足を保つ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対応スピードが鍵   </a:t>
            </a:r>
            <a:pPr indent="0" marL="0">
              <a:buNone/>
            </a:pPr>
            <a:r>
              <a:rPr lang="en-US" sz="11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※ </a:t>
            </a:r>
            <a:pPr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対応マニュアル: </a:t>
            </a:r>
            <a:pPr indent="0" marL="0">
              <a:buNone/>
            </a:pPr>
            <a:r>
              <a:rPr lang="en-US" sz="11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新人教育の核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ケースの説明が毎回手作業で時間がかかる。テンプレ化して即対応可能に。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に「NG ケース×顧客への説明文+代替案」依頼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法令準拠の表現か確認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感情に寄り添う冒頭文を必須に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社内チェック後に運用版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 ケース10件を選定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各ケースの顧客への説明文を AI で作成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代替案を必ず1つ提示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冷たくならない表現で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NGケース対応テンプレ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温度感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冷たくならず、顧客に寄り添う表現か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声に出して読み、嫌な気持ちにならないか確認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代替案の具体性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「他をご検討ください」で終わっていないか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具体的な商品名/別社/別プランを提示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法令準拠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不適切表現がないか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社内コンプラ部門に1度チェック依頼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11480" y="1005840"/>
            <a:ext cx="4160520" cy="1783080"/>
          </a:xfrm>
          <a:prstGeom prst="roundRect">
            <a:avLst>
              <a:gd name="adj" fmla="val 410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1480" y="1005840"/>
            <a:ext cx="91440" cy="178308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6" name="Text 4"/>
          <p:cNvSpPr/>
          <p:nvPr/>
        </p:nvSpPr>
        <p:spPr>
          <a:xfrm>
            <a:off x="61264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📍 シチュエーション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9224" y="1536192"/>
            <a:ext cx="370332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要確認ケースで対応に迷い、エスカレーションが遅れる。マニュアル化で即対応に。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2880360"/>
            <a:ext cx="4160520" cy="2011680"/>
          </a:xfrm>
          <a:prstGeom prst="roundRect">
            <a:avLst>
              <a:gd name="adj" fmla="val 3636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" y="2880360"/>
            <a:ext cx="91440" cy="201168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12648" y="297180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💭 プロンプトのヒント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9224" y="3410712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Gemini に「要確認ケース対応マニュアル」を依頼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確認項目は具体的に(年齢/職業/既往歴 等)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エスカレ先と緊急度を明記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所要時間で見積もり感を共有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663440" y="1005840"/>
            <a:ext cx="4160520" cy="3886200"/>
          </a:xfrm>
          <a:prstGeom prst="roundRect">
            <a:avLst>
              <a:gd name="adj" fmla="val 1882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663440" y="1005840"/>
            <a:ext cx="91440" cy="3886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14" name="Text 12"/>
          <p:cNvSpPr/>
          <p:nvPr/>
        </p:nvSpPr>
        <p:spPr>
          <a:xfrm>
            <a:off x="4864608" y="1097280"/>
            <a:ext cx="384962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🎯 AIに作ってもらいたいもの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01184" y="1536192"/>
            <a:ext cx="370332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要確認ケース10件を選定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各ケースの確認項目をリスト化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エスカレーション基準と緊急度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対応の所要時間目安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要確認 対応マニュアル化 — 観点別チェック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プロンプトをさらにブラッシュアップ — 3観点でセルフチェック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0E7C8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325880"/>
            <a:ext cx="2651760" cy="4572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53949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A. 確認項目の具体性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9436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何を聞けば判断できるかが明確か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「健康状態」だけでなく「○○の既往歴」まで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24612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E8A33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325880"/>
            <a:ext cx="2651760" cy="45720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3" name="Text 11"/>
          <p:cNvSpPr/>
          <p:nvPr/>
        </p:nvSpPr>
        <p:spPr>
          <a:xfrm>
            <a:off x="337413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B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42900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B. 緊急度の判定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いつまでに対応するべきかが分かるか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2900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緊急/通常/低 で3段階に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080760" y="1325880"/>
            <a:ext cx="2651760" cy="3474720"/>
          </a:xfrm>
          <a:prstGeom prst="roundRect">
            <a:avLst>
              <a:gd name="adj" fmla="val 3448"/>
            </a:avLst>
          </a:prstGeom>
          <a:solidFill>
            <a:srgbClr val="F4F6F9"/>
          </a:solidFill>
          <a:ln w="15240">
            <a:solidFill>
              <a:srgbClr val="7C5F8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80760" y="1325880"/>
            <a:ext cx="2651760" cy="457200"/>
          </a:xfrm>
          <a:prstGeom prst="rect">
            <a:avLst/>
          </a:prstGeom>
          <a:solidFill>
            <a:srgbClr val="7C5F8A"/>
          </a:solidFill>
          <a:ln/>
        </p:spPr>
      </p:sp>
      <p:sp>
        <p:nvSpPr>
          <p:cNvPr id="19" name="Text 17"/>
          <p:cNvSpPr/>
          <p:nvPr/>
        </p:nvSpPr>
        <p:spPr>
          <a:xfrm>
            <a:off x="6208776" y="1380744"/>
            <a:ext cx="23957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観点 C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263640" y="1892808"/>
            <a:ext cx="23591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C. 対応所要時間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514600"/>
            <a:ext cx="235915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✓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初心者でも見積もれる時間が書かれているか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263640" y="3611880"/>
            <a:ext cx="235915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💡  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「○分〜○時間」で幅を持たせる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今日の持ち帰り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371600" cy="54864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554480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71907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迷わない仕組み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508760" y="2121408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テンプレとマニュアルで、迷いの時間がゼロに。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07208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971800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508760" y="2944368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顧客対応の品質UP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508760" y="3374136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NGでも代替案で、顧客満足を保てる。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059936"/>
            <a:ext cx="8229600" cy="1051560"/>
          </a:xfrm>
          <a:prstGeom prst="roundRect">
            <a:avLst>
              <a:gd name="adj" fmla="val 6957"/>
            </a:avLst>
          </a:prstGeom>
          <a:solidFill>
            <a:srgbClr val="2A4A75"/>
          </a:solidFill>
          <a:ln w="6350">
            <a:solidFill>
              <a:srgbClr val="0E7C8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4224528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03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1508760" y="4197096"/>
            <a:ext cx="6949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次回は Gem 化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4626864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CF3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これらを Gem に組み込み、判定+対応を一体化。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2026-07-16T08:35:00Z</dcterms:created>
  <dcterms:modified xsi:type="dcterms:W3CDTF">2026-07-16T08:35:00Z</dcterms:modified>
</cp:coreProperties>
</file>