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2194560"/>
            <a:ext cx="9144000" cy="4572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1188720"/>
            <a:ext cx="8046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新人教育用 AI ロープレ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548640" y="2331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900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新人が自走で営業力を磨ける、AI 顧客との練習環境</a:t>
            </a:r>
            <a:endParaRPr lang="en-US" sz="1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学習目標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417320"/>
            <a:ext cx="2468880" cy="73152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61264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顧客憑依AI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1264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顧客役 AI を3パターン用意。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324612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37560" y="1417320"/>
            <a:ext cx="2468880" cy="73152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1" name="Text 9"/>
          <p:cNvSpPr/>
          <p:nvPr/>
        </p:nvSpPr>
        <p:spPr>
          <a:xfrm>
            <a:off x="344728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000" dirty="0"/>
          </a:p>
        </p:txBody>
      </p:sp>
      <p:sp>
        <p:nvSpPr>
          <p:cNvPr id="12" name="Text 10"/>
          <p:cNvSpPr/>
          <p:nvPr/>
        </p:nvSpPr>
        <p:spPr>
          <a:xfrm>
            <a:off x="344728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ロープレフィードバック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344728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会話履歴から改善ポイントを返すAI。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080760" y="1417320"/>
            <a:ext cx="2651760" cy="292608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172200" y="1417320"/>
            <a:ext cx="2468880" cy="73152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6" name="Text 14"/>
          <p:cNvSpPr/>
          <p:nvPr/>
        </p:nvSpPr>
        <p:spPr>
          <a:xfrm>
            <a:off x="6281928" y="1600200"/>
            <a:ext cx="914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6281928" y="2286000"/>
            <a:ext cx="2249424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成功事例集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6281928" y="3017520"/>
            <a:ext cx="2249424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組織共有できる成功事例集を作る。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STEP1: 抑えておきたい用語と仕様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0E7C8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0E7C86"/>
          </a:solidFill>
          <a:ln/>
        </p:spPr>
      </p:sp>
      <p:sp>
        <p:nvSpPr>
          <p:cNvPr id="6" name="Shape 4"/>
          <p:cNvSpPr/>
          <p:nvPr/>
        </p:nvSpPr>
        <p:spPr>
          <a:xfrm>
            <a:off x="365760" y="1417320"/>
            <a:ext cx="1979676" cy="338328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493776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顧客憑依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530352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が特定の顧客像を演じる手法。リアル感のある練習が可能。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2510028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E8A33D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510028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E8A33D"/>
          </a:solidFill>
          <a:ln/>
        </p:spPr>
      </p:sp>
      <p:sp>
        <p:nvSpPr>
          <p:cNvPr id="11" name="Shape 9"/>
          <p:cNvSpPr/>
          <p:nvPr/>
        </p:nvSpPr>
        <p:spPr>
          <a:xfrm>
            <a:off x="2510028" y="1417320"/>
            <a:ext cx="1979676" cy="338328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2" name="Text 10"/>
          <p:cNvSpPr/>
          <p:nvPr/>
        </p:nvSpPr>
        <p:spPr>
          <a:xfrm>
            <a:off x="2638044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ロープレ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2674620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ロールプレイング。相手役を立てて実戦練習する研修手法。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4654296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1F3A5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654296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1F3A5F"/>
          </a:solidFill>
          <a:ln/>
        </p:spPr>
      </p:sp>
      <p:sp>
        <p:nvSpPr>
          <p:cNvPr id="16" name="Shape 14"/>
          <p:cNvSpPr/>
          <p:nvPr/>
        </p:nvSpPr>
        <p:spPr>
          <a:xfrm>
            <a:off x="4654296" y="1417320"/>
            <a:ext cx="1979676" cy="338328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17" name="Text 15"/>
          <p:cNvSpPr/>
          <p:nvPr/>
        </p:nvSpPr>
        <p:spPr>
          <a:xfrm>
            <a:off x="4782312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会話履歴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4818888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ロープレ中の発言記録。分析の元データ。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798564" y="1188720"/>
            <a:ext cx="1979676" cy="2468880"/>
          </a:xfrm>
          <a:prstGeom prst="roundRect">
            <a:avLst>
              <a:gd name="adj" fmla="val 4619"/>
            </a:avLst>
          </a:prstGeom>
          <a:solidFill>
            <a:srgbClr val="FFFFFF"/>
          </a:solidFill>
          <a:ln w="19050">
            <a:solidFill>
              <a:srgbClr val="7C5F8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798564" y="1188720"/>
            <a:ext cx="1979676" cy="566928"/>
          </a:xfrm>
          <a:prstGeom prst="roundRect">
            <a:avLst>
              <a:gd name="adj" fmla="val 16129"/>
            </a:avLst>
          </a:prstGeom>
          <a:solidFill>
            <a:srgbClr val="7C5F8A"/>
          </a:solidFill>
          <a:ln/>
        </p:spPr>
      </p:sp>
      <p:sp>
        <p:nvSpPr>
          <p:cNvPr id="21" name="Shape 19"/>
          <p:cNvSpPr/>
          <p:nvPr/>
        </p:nvSpPr>
        <p:spPr>
          <a:xfrm>
            <a:off x="6798564" y="1417320"/>
            <a:ext cx="1979676" cy="338328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22" name="Text 20"/>
          <p:cNvSpPr/>
          <p:nvPr/>
        </p:nvSpPr>
        <p:spPr>
          <a:xfrm>
            <a:off x="6926580" y="1280160"/>
            <a:ext cx="1723644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成功事例集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963156" y="1901952"/>
            <a:ext cx="1650492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組織で共有する勝ちパターン集。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65760" y="3931920"/>
            <a:ext cx="841248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顧客憑依: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プロンプト次第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ロープレ: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営業職の基本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会話履歴: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保存設定必須   </a:t>
            </a:r>
            <a:pPr indent="0" marL="0">
              <a:buNone/>
            </a:pPr>
            <a:r>
              <a:rPr lang="en-US" sz="11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※ </a:t>
            </a:r>
            <a:pPr indent="0" marL="0">
              <a:buNone/>
            </a:pPr>
            <a:r>
              <a:rPr lang="en-US" sz="1100" b="1" dirty="0">
                <a:solidFill>
                  <a:srgbClr val="1F3A5F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成功事例集: </a:t>
            </a:r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新人教育の核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顧客憑依 AI ロープレ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新人ロープレの相手をするのに時間がかかる。AI が顧客役を演じれば自走で練習可能。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顧客属性ごとの設定を整理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Gem で3パターン作成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ロープレ中の発言を記録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1回30分以内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顧客属性 3パターン(慎重/即決/比較好き)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各属性の Gem を作成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会話履歴を保存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新人で実際にロープレ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演習1 顧客憑依 AI ロープレ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属性のリアル感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本当にいそうな顧客か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実在の顧客モデルから作る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会話の自然さ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質問の連投ではなく対話になるか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プロンプトで「対話的に」と指示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記録の自動化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会話履歴が自動保存される設計か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スプシに記録ボタン用意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ロープレフィードバック+成功事例集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1005840"/>
            <a:ext cx="4160520" cy="1783080"/>
          </a:xfrm>
          <a:prstGeom prst="roundRect">
            <a:avLst>
              <a:gd name="adj" fmla="val 4103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11480" y="1005840"/>
            <a:ext cx="91440" cy="1783080"/>
          </a:xfrm>
          <a:prstGeom prst="rect">
            <a:avLst/>
          </a:prstGeom>
          <a:solidFill>
            <a:srgbClr val="1F3A5F"/>
          </a:solidFill>
          <a:ln/>
        </p:spPr>
      </p:sp>
      <p:sp>
        <p:nvSpPr>
          <p:cNvPr id="6" name="Text 4"/>
          <p:cNvSpPr/>
          <p:nvPr/>
        </p:nvSpPr>
        <p:spPr>
          <a:xfrm>
            <a:off x="61264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📍 シチュエーション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9224" y="1536192"/>
            <a:ext cx="3703320" cy="11612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ロープレ後の振り返りが感覚的。AI で具体的なフィードバック+成功事例集の整備。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411480" y="2880360"/>
            <a:ext cx="4160520" cy="2011680"/>
          </a:xfrm>
          <a:prstGeom prst="roundRect">
            <a:avLst>
              <a:gd name="adj" fmla="val 3636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11480" y="2880360"/>
            <a:ext cx="91440" cy="201168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0" name="Text 8"/>
          <p:cNvSpPr/>
          <p:nvPr/>
        </p:nvSpPr>
        <p:spPr>
          <a:xfrm>
            <a:off x="612648" y="297180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💭 プロンプトのヒント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9224" y="3410712"/>
            <a:ext cx="3703320" cy="138988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Gemini に「フィードバックGem」依頼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成功事例集はテンプレ統一(顧客属性/切り出し/決め手/学び)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PDF で配布しやすく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社内で「使いやすさ」をヒアリング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663440" y="1005840"/>
            <a:ext cx="4160520" cy="3886200"/>
          </a:xfrm>
          <a:prstGeom prst="roundRect">
            <a:avLst>
              <a:gd name="adj" fmla="val 1882"/>
            </a:avLst>
          </a:prstGeom>
          <a:solidFill>
            <a:srgbClr val="F4F6F9"/>
          </a:solidFill>
          <a:ln w="6350">
            <a:solidFill>
              <a:srgbClr val="D7DCE3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63440" y="1005840"/>
            <a:ext cx="91440" cy="3886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14" name="Text 12"/>
          <p:cNvSpPr/>
          <p:nvPr/>
        </p:nvSpPr>
        <p:spPr>
          <a:xfrm>
            <a:off x="4864608" y="1097280"/>
            <a:ext cx="3849624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E7C86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🎯 AIに作ってもらいたいもの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901184" y="1536192"/>
            <a:ext cx="3703320" cy="326440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会話履歴を入力 → 良かった点+改善点+次回アクション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成功事例10件を集めてテンプレ化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PDF で社内共有</a:t>
            </a:r>
            <a:endParaRPr lang="en-US" sz="1400" dirty="0"/>
          </a:p>
          <a:p>
            <a:pPr marL="342900" indent="-342900">
              <a:spcAft>
                <a:spcPts val="400"/>
              </a:spcAft>
              <a:buSzPct val="100000"/>
              <a:buChar char="●"/>
            </a:pPr>
            <a:r>
              <a:rPr lang="en-US" sz="14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新人と共有</a:t>
            </a:r>
            <a:endParaRPr lang="en-US" sz="1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3" name="Text 1"/>
          <p:cNvSpPr/>
          <p:nvPr/>
        </p:nvSpPr>
        <p:spPr>
          <a:xfrm>
            <a:off x="411480" y="201168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演習2 ロープレフィードバック+成功事例集 — 観点別チェック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411480" y="804672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プロンプトをさらにブラッシュアップ — 3観点でセルフチェック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41148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0E7C8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325880"/>
            <a:ext cx="2651760" cy="457200"/>
          </a:xfrm>
          <a:prstGeom prst="rect">
            <a:avLst/>
          </a:prstGeom>
          <a:solidFill>
            <a:srgbClr val="0E7C86"/>
          </a:solidFill>
          <a:ln/>
        </p:spPr>
      </p:sp>
      <p:sp>
        <p:nvSpPr>
          <p:cNvPr id="7" name="Text 5"/>
          <p:cNvSpPr/>
          <p:nvPr/>
        </p:nvSpPr>
        <p:spPr>
          <a:xfrm>
            <a:off x="53949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A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59436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A. 褒めの先行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59436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まず良かった点から伝えるか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9436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心の余裕を作る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E8A33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246120" y="1325880"/>
            <a:ext cx="2651760" cy="457200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13" name="Text 11"/>
          <p:cNvSpPr/>
          <p:nvPr/>
        </p:nvSpPr>
        <p:spPr>
          <a:xfrm>
            <a:off x="337413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B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B. 事例の代表性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42900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頻出ケースを網羅しているか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42900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社内アンケートで選定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080760" y="1325880"/>
            <a:ext cx="2651760" cy="3474720"/>
          </a:xfrm>
          <a:prstGeom prst="roundRect">
            <a:avLst>
              <a:gd name="adj" fmla="val 3448"/>
            </a:avLst>
          </a:prstGeom>
          <a:solidFill>
            <a:srgbClr val="F4F6F9"/>
          </a:solidFill>
          <a:ln w="15240">
            <a:solidFill>
              <a:srgbClr val="7C5F8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080760" y="1325880"/>
            <a:ext cx="2651760" cy="457200"/>
          </a:xfrm>
          <a:prstGeom prst="rect">
            <a:avLst/>
          </a:prstGeom>
          <a:solidFill>
            <a:srgbClr val="7C5F8A"/>
          </a:solidFill>
          <a:ln/>
        </p:spPr>
      </p:sp>
      <p:sp>
        <p:nvSpPr>
          <p:cNvPr id="19" name="Text 17"/>
          <p:cNvSpPr/>
          <p:nvPr/>
        </p:nvSpPr>
        <p:spPr>
          <a:xfrm>
            <a:off x="6208776" y="1380744"/>
            <a:ext cx="2395728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観点 C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263640" y="1892808"/>
            <a:ext cx="2359152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F3A5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C. テンプレ統一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263640" y="2514600"/>
            <a:ext cx="2359152" cy="1051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0E7C86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✓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事例集全体で同じ形式か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6263640" y="3611880"/>
            <a:ext cx="2359152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E8A33D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💡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統一フォーマット必須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F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6576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今日の持ち帰り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188720"/>
            <a:ext cx="1371600" cy="54864"/>
          </a:xfrm>
          <a:prstGeom prst="rect">
            <a:avLst/>
          </a:prstGeom>
          <a:solidFill>
            <a:srgbClr val="E8A33D"/>
          </a:solidFill>
          <a:ln/>
        </p:spPr>
      </p:sp>
      <p:sp>
        <p:nvSpPr>
          <p:cNvPr id="4" name="Shape 2"/>
          <p:cNvSpPr/>
          <p:nvPr/>
        </p:nvSpPr>
        <p:spPr>
          <a:xfrm>
            <a:off x="457200" y="1554480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8368" y="1719072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01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1508760" y="1691640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自走で練習可能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508760" y="2121408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ロープレで新人が時間制約なく練習。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57200" y="2807208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8368" y="2971800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02</a:t>
            </a:r>
            <a:endParaRPr lang="en-US" sz="3400" dirty="0"/>
          </a:p>
        </p:txBody>
      </p:sp>
      <p:sp>
        <p:nvSpPr>
          <p:cNvPr id="10" name="Text 8"/>
          <p:cNvSpPr/>
          <p:nvPr/>
        </p:nvSpPr>
        <p:spPr>
          <a:xfrm>
            <a:off x="1508760" y="2944368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フィードバックも仕組みに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508760" y="3374136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AI でレビュー、講師の時間を解放。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" y="4059936"/>
            <a:ext cx="8229600" cy="1051560"/>
          </a:xfrm>
          <a:prstGeom prst="roundRect">
            <a:avLst>
              <a:gd name="adj" fmla="val 6957"/>
            </a:avLst>
          </a:prstGeom>
          <a:solidFill>
            <a:srgbClr val="2A4A75"/>
          </a:solidFill>
          <a:ln w="6350">
            <a:solidFill>
              <a:srgbClr val="0E7C8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8368" y="4224528"/>
            <a:ext cx="77724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E8A33D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03</a:t>
            </a:r>
            <a:endParaRPr lang="en-US" sz="3400" dirty="0"/>
          </a:p>
        </p:txBody>
      </p:sp>
      <p:sp>
        <p:nvSpPr>
          <p:cNvPr id="14" name="Text 12"/>
          <p:cNvSpPr/>
          <p:nvPr/>
        </p:nvSpPr>
        <p:spPr>
          <a:xfrm>
            <a:off x="1508760" y="4197096"/>
            <a:ext cx="6949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Yu Gothic UI Semibold" pitchFamily="34" charset="0"/>
                <a:ea typeface="Yu Gothic UI Semibold" pitchFamily="34" charset="-122"/>
                <a:cs typeface="Yu Gothic UI Semibold" pitchFamily="34" charset="-120"/>
              </a:rPr>
              <a:t>次は総合演習へ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1508760" y="4626864"/>
            <a:ext cx="69494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E6ECF3"/>
                </a:solidFill>
                <a:latin typeface="Yu Gothic UI" pitchFamily="34" charset="0"/>
                <a:ea typeface="Yu Gothic UI" pitchFamily="34" charset="-122"/>
                <a:cs typeface="Yu Gothic UI" pitchFamily="34" charset="-120"/>
              </a:rPr>
              <a:t>全て統合して自分の業務に適用する。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2026-06-20T15:47:45Z</dcterms:created>
  <dcterms:modified xsi:type="dcterms:W3CDTF">2026-06-20T15:47:45Z</dcterms:modified>
</cp:coreProperties>
</file>