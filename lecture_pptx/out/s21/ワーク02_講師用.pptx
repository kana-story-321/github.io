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194560"/>
            <a:ext cx="9144000" cy="457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188720"/>
            <a:ext cx="80467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新人教育用 AI ロープレ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新人が自走で営業力を磨ける、AI 顧客との練習環境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411480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【講師用 解答・指導ポイント】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演習1 顧客憑依 AI ロープレ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保険営業ロープレ用の顧客役 Gem を3パターン作って。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・属性1: 慎重派(40代男性/比較重視)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・属性2: 即決派(30代女性/直感型)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・属性3: 比較好き(50代夫婦/データ重視)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・対話的に応答(質問は1回1問)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・5往復程度で1ロープレ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・3パターンの顧客役Gem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・新人で実際にロープレ確認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・属性は実在モデルから。架空だと違和感ある。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・「質問の連投」をAIがやりがち。プロンプトで対話的に指示。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・1ロープレは30分以内。長いと集中切れる。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201168"/>
            <a:ext cx="8412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演習2 ロープレフィードバック+成功事例集 — 解答・指導ポイント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11480" y="804672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💬 解答例プロンプト / 📝 想定アウトプット例 / 🧭 回答へ導くポイント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11480" y="1234440"/>
            <a:ext cx="8321040" cy="1645920"/>
          </a:xfrm>
          <a:prstGeom prst="roundRect">
            <a:avLst>
              <a:gd name="adj" fmla="val 4444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1234440"/>
            <a:ext cx="91440" cy="1645920"/>
          </a:xfrm>
          <a:prstGeom prst="rect">
            <a:avLst/>
          </a:prstGeom>
          <a:solidFill>
            <a:srgbClr val="0E7C86"/>
          </a:solidFill>
          <a:ln/>
        </p:spPr>
      </p:sp>
      <p:sp>
        <p:nvSpPr>
          <p:cNvPr id="7" name="Text 5"/>
          <p:cNvSpPr/>
          <p:nvPr/>
        </p:nvSpPr>
        <p:spPr>
          <a:xfrm>
            <a:off x="612648" y="132588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7C86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💬 解答例プロンプト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9224" y="1764792"/>
            <a:ext cx="7863840" cy="1024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【貼り付け用】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ロープレ会話履歴を入力に、フィードバックを返すGem を作って。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・出力: 良かった点3つ → 改善点3つ → 次回アクション3つ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・成功事例集(添付)と照合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・新人向けに優しめのトーン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1480" y="2971800"/>
            <a:ext cx="8321040" cy="1005840"/>
          </a:xfrm>
          <a:prstGeom prst="roundRect">
            <a:avLst>
              <a:gd name="adj" fmla="val 7273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1480" y="2971800"/>
            <a:ext cx="91440" cy="1005840"/>
          </a:xfrm>
          <a:prstGeom prst="rect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" y="306324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A33D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📝 想定アウトプット例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" y="350215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・フィードバックGem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・成功事例集10件(統一テンプレ)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1480" y="4069080"/>
            <a:ext cx="8321040" cy="914400"/>
          </a:xfrm>
          <a:prstGeom prst="roundRect">
            <a:avLst>
              <a:gd name="adj" fmla="val 8000"/>
            </a:avLst>
          </a:prstGeom>
          <a:solidFill>
            <a:srgbClr val="F4F6F9"/>
          </a:solidFill>
          <a:ln w="6350">
            <a:solidFill>
              <a:srgbClr val="D7DC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1480" y="4069080"/>
            <a:ext cx="91440" cy="914400"/>
          </a:xfrm>
          <a:prstGeom prst="rect">
            <a:avLst/>
          </a:prstGeom>
          <a:solidFill>
            <a:srgbClr val="1F3A5F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" y="4160520"/>
            <a:ext cx="801014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A5F"/>
                </a:solidFill>
                <a:latin typeface="Yu Gothic UI Semibold" pitchFamily="34" charset="0"/>
                <a:ea typeface="Yu Gothic UI Semibold" pitchFamily="34" charset="-122"/>
                <a:cs typeface="Yu Gothic UI Semibold" pitchFamily="34" charset="-120"/>
              </a:rPr>
              <a:t>🧭 回答へ導くポイント・注意点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9224" y="4599432"/>
            <a:ext cx="786384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・新人向けトーンを強調。指摘ばかりだと萎縮する。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・成功事例の選定基準を明確化。「組織で再現可能か」が指標。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A1A1A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・PDF配布より、社内ポータル掲載が継続的更新しやすい。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2026-06-20T15:47:45Z</dcterms:created>
  <dcterms:modified xsi:type="dcterms:W3CDTF">2026-06-20T15:47:45Z</dcterms:modified>
</cp:coreProperties>
</file>