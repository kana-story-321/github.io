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2194560"/>
            <a:ext cx="9144000" cy="45720"/>
          </a:xfrm>
          <a:prstGeom prst="rect">
            <a:avLst/>
          </a:prstGeom>
          <a:solidFill>
            <a:srgbClr val="0E7C86"/>
          </a:solidFill>
          <a:ln/>
        </p:spPr>
      </p:sp>
      <p:sp>
        <p:nvSpPr>
          <p:cNvPr id="3" name="Text 1"/>
          <p:cNvSpPr/>
          <p:nvPr/>
        </p:nvSpPr>
        <p:spPr>
          <a:xfrm>
            <a:off x="548640" y="1188720"/>
            <a:ext cx="8046720" cy="960120"/>
          </a:xfrm>
          <a:prstGeom prst="rect">
            <a:avLst/>
          </a:prstGeom>
          <a:noFill/>
          <a:ln/>
        </p:spPr>
        <p:txBody>
          <a:bodyPr wrap="square" rtlCol="0" anchor="ctr"/>
          <a:lstStyle/>
          <a:p>
            <a:pPr algn="l" indent="0" marL="0">
              <a:buNone/>
            </a:pPr>
            <a:r>
              <a:rPr lang="en-US" sz="3800" b="1" dirty="0">
                <a:solidFill>
                  <a:srgbClr val="FFFFFF"/>
                </a:solidFill>
                <a:latin typeface="Yu Gothic UI Semibold" pitchFamily="34" charset="0"/>
                <a:ea typeface="Yu Gothic UI Semibold" pitchFamily="34" charset="-122"/>
                <a:cs typeface="Yu Gothic UI Semibold" pitchFamily="34" charset="-120"/>
              </a:rPr>
              <a:t>LINE リッチメニュー × GAS チャットボット</a:t>
            </a:r>
            <a:endParaRPr lang="en-US" sz="3800" dirty="0"/>
          </a:p>
        </p:txBody>
      </p:sp>
      <p:sp>
        <p:nvSpPr>
          <p:cNvPr id="4" name="Text 2"/>
          <p:cNvSpPr/>
          <p:nvPr/>
        </p:nvSpPr>
        <p:spPr>
          <a:xfrm>
            <a:off x="548640" y="2331720"/>
            <a:ext cx="8046720" cy="640080"/>
          </a:xfrm>
          <a:prstGeom prst="rect">
            <a:avLst/>
          </a:prstGeom>
          <a:noFill/>
          <a:ln/>
        </p:spPr>
        <p:txBody>
          <a:bodyPr wrap="square" rtlCol="0" anchor="ctr"/>
          <a:lstStyle/>
          <a:p>
            <a:pPr algn="l" indent="0" marL="0">
              <a:buNone/>
            </a:pPr>
            <a:r>
              <a:rPr lang="en-US" sz="1900" dirty="0">
                <a:solidFill>
                  <a:srgbClr val="E8A33D"/>
                </a:solidFill>
                <a:latin typeface="Yu Gothic UI" pitchFamily="34" charset="0"/>
                <a:ea typeface="Yu Gothic UI" pitchFamily="34" charset="-122"/>
                <a:cs typeface="Yu Gothic UI" pitchFamily="34" charset="-120"/>
              </a:rPr>
              <a:t>保険相談の入口を24時間動かす、自作チャットボットを完成させる</a:t>
            </a:r>
            <a:endParaRPr lang="en-US" sz="1900" dirty="0"/>
          </a:p>
        </p:txBody>
      </p:sp>
      <p:sp>
        <p:nvSpPr>
          <p:cNvPr id="5" name="Text 3"/>
          <p:cNvSpPr/>
          <p:nvPr/>
        </p:nvSpPr>
        <p:spPr>
          <a:xfrm>
            <a:off x="548640" y="4114800"/>
            <a:ext cx="8046720" cy="411480"/>
          </a:xfrm>
          <a:prstGeom prst="rect">
            <a:avLst/>
          </a:prstGeom>
          <a:noFill/>
          <a:ln/>
        </p:spPr>
        <p:txBody>
          <a:bodyPr wrap="square" rtlCol="0" anchor="ctr"/>
          <a:lstStyle/>
          <a:p>
            <a:pPr indent="0" marL="0">
              <a:buNone/>
            </a:pPr>
            <a:r>
              <a:rPr lang="en-US" sz="1700" b="1" dirty="0">
                <a:solidFill>
                  <a:srgbClr val="E8A33D"/>
                </a:solidFill>
                <a:latin typeface="Yu Gothic UI" pitchFamily="34" charset="0"/>
                <a:ea typeface="Yu Gothic UI" pitchFamily="34" charset="-122"/>
                <a:cs typeface="Yu Gothic UI" pitchFamily="34" charset="-120"/>
              </a:rPr>
              <a:t>【講師用 解答・指導ポイント】</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演習1 チャットボットの動線を設計 — 解答・指導ポイント</a:t>
            </a:r>
            <a:endParaRPr lang="en-US" sz="2600" dirty="0"/>
          </a:p>
        </p:txBody>
      </p:sp>
      <p:sp>
        <p:nvSpPr>
          <p:cNvPr id="4" name="Text 2"/>
          <p:cNvSpPr/>
          <p:nvPr/>
        </p:nvSpPr>
        <p:spPr>
          <a:xfrm>
            <a:off x="411480" y="804672"/>
            <a:ext cx="8412480" cy="365760"/>
          </a:xfrm>
          <a:prstGeom prst="rect">
            <a:avLst/>
          </a:prstGeom>
          <a:noFill/>
          <a:ln/>
        </p:spPr>
        <p:txBody>
          <a:bodyPr wrap="square" rtlCol="0" anchor="ctr"/>
          <a:lstStyle/>
          <a:p>
            <a:pPr indent="0" marL="0">
              <a:buNone/>
            </a:pPr>
            <a:r>
              <a:rPr lang="en-US" sz="1500" i="1" dirty="0">
                <a:solidFill>
                  <a:srgbClr val="555555"/>
                </a:solidFill>
                <a:latin typeface="Yu Gothic UI" pitchFamily="34" charset="0"/>
                <a:ea typeface="Yu Gothic UI" pitchFamily="34" charset="-122"/>
                <a:cs typeface="Yu Gothic UI" pitchFamily="34" charset="-120"/>
              </a:rPr>
              <a:t>💬 解答例プロンプト / 📝 想定アウトプット例 / 🧭 回答へ導くポイント</a:t>
            </a:r>
            <a:endParaRPr lang="en-US" sz="1500" dirty="0"/>
          </a:p>
        </p:txBody>
      </p:sp>
      <p:sp>
        <p:nvSpPr>
          <p:cNvPr id="5" name="Shape 3"/>
          <p:cNvSpPr/>
          <p:nvPr/>
        </p:nvSpPr>
        <p:spPr>
          <a:xfrm>
            <a:off x="411480" y="1234440"/>
            <a:ext cx="8321040" cy="1645920"/>
          </a:xfrm>
          <a:prstGeom prst="roundRect">
            <a:avLst>
              <a:gd name="adj" fmla="val 4444"/>
            </a:avLst>
          </a:prstGeom>
          <a:solidFill>
            <a:srgbClr val="F4F6F9"/>
          </a:solidFill>
          <a:ln w="6350">
            <a:solidFill>
              <a:srgbClr val="D7DCE3"/>
            </a:solidFill>
            <a:prstDash val="solid"/>
          </a:ln>
        </p:spPr>
      </p:sp>
      <p:sp>
        <p:nvSpPr>
          <p:cNvPr id="6" name="Shape 4"/>
          <p:cNvSpPr/>
          <p:nvPr/>
        </p:nvSpPr>
        <p:spPr>
          <a:xfrm>
            <a:off x="411480" y="1234440"/>
            <a:ext cx="91440" cy="1645920"/>
          </a:xfrm>
          <a:prstGeom prst="rect">
            <a:avLst/>
          </a:prstGeom>
          <a:solidFill>
            <a:srgbClr val="0E7C86"/>
          </a:solidFill>
          <a:ln/>
        </p:spPr>
      </p:sp>
      <p:sp>
        <p:nvSpPr>
          <p:cNvPr id="7" name="Text 5"/>
          <p:cNvSpPr/>
          <p:nvPr/>
        </p:nvSpPr>
        <p:spPr>
          <a:xfrm>
            <a:off x="612648" y="1325880"/>
            <a:ext cx="8010144" cy="384048"/>
          </a:xfrm>
          <a:prstGeom prst="rect">
            <a:avLst/>
          </a:prstGeom>
          <a:noFill/>
          <a:ln/>
        </p:spPr>
        <p:txBody>
          <a:bodyPr wrap="square" rtlCol="0" anchor="ctr"/>
          <a:lstStyle/>
          <a:p>
            <a:pPr indent="0" marL="0">
              <a:buNone/>
            </a:pPr>
            <a:r>
              <a:rPr lang="en-US" sz="1600" b="1" dirty="0">
                <a:solidFill>
                  <a:srgbClr val="0E7C86"/>
                </a:solidFill>
                <a:latin typeface="Yu Gothic UI Semibold" pitchFamily="34" charset="0"/>
                <a:ea typeface="Yu Gothic UI Semibold" pitchFamily="34" charset="-122"/>
                <a:cs typeface="Yu Gothic UI Semibold" pitchFamily="34" charset="-120"/>
              </a:rPr>
              <a:t>💬 解答例プロンプト</a:t>
            </a:r>
            <a:endParaRPr lang="en-US" sz="1600" dirty="0"/>
          </a:p>
        </p:txBody>
      </p:sp>
      <p:sp>
        <p:nvSpPr>
          <p:cNvPr id="8" name="Text 6"/>
          <p:cNvSpPr/>
          <p:nvPr/>
        </p:nvSpPr>
        <p:spPr>
          <a:xfrm>
            <a:off x="649224" y="1764792"/>
            <a:ext cx="7863840" cy="102412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【貼り付け用】</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保険営業の LINE 公式アカウントに設置するチャットボットの動線を設計してください。</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・リッチメニュー6ボタン: (例) 保険の種類/資料請求/相談予約/よくある質問/お客様の声/プロフィール</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・各ボタンをタップした時の最初の返答</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・3往復までの会話フロー</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・最終ゴール(予約/資料DL/相談員引き渡し) を明示</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選択肢は3つまで。難しい相談は「担当者に繋ぐ」で終わる。</a:t>
            </a:r>
            <a:endParaRPr lang="en-US" sz="1400" dirty="0"/>
          </a:p>
        </p:txBody>
      </p:sp>
      <p:sp>
        <p:nvSpPr>
          <p:cNvPr id="9" name="Shape 7"/>
          <p:cNvSpPr/>
          <p:nvPr/>
        </p:nvSpPr>
        <p:spPr>
          <a:xfrm>
            <a:off x="411480" y="2971800"/>
            <a:ext cx="8321040" cy="1005840"/>
          </a:xfrm>
          <a:prstGeom prst="roundRect">
            <a:avLst>
              <a:gd name="adj" fmla="val 7273"/>
            </a:avLst>
          </a:prstGeom>
          <a:solidFill>
            <a:srgbClr val="F4F6F9"/>
          </a:solidFill>
          <a:ln w="6350">
            <a:solidFill>
              <a:srgbClr val="D7DCE3"/>
            </a:solidFill>
            <a:prstDash val="solid"/>
          </a:ln>
        </p:spPr>
      </p:sp>
      <p:sp>
        <p:nvSpPr>
          <p:cNvPr id="10" name="Shape 8"/>
          <p:cNvSpPr/>
          <p:nvPr/>
        </p:nvSpPr>
        <p:spPr>
          <a:xfrm>
            <a:off x="411480" y="2971800"/>
            <a:ext cx="91440" cy="1005840"/>
          </a:xfrm>
          <a:prstGeom prst="rect">
            <a:avLst/>
          </a:prstGeom>
          <a:solidFill>
            <a:srgbClr val="E8A33D"/>
          </a:solidFill>
          <a:ln/>
        </p:spPr>
      </p:sp>
      <p:sp>
        <p:nvSpPr>
          <p:cNvPr id="11" name="Text 9"/>
          <p:cNvSpPr/>
          <p:nvPr/>
        </p:nvSpPr>
        <p:spPr>
          <a:xfrm>
            <a:off x="612648" y="3063240"/>
            <a:ext cx="8010144" cy="384048"/>
          </a:xfrm>
          <a:prstGeom prst="rect">
            <a:avLst/>
          </a:prstGeom>
          <a:noFill/>
          <a:ln/>
        </p:spPr>
        <p:txBody>
          <a:bodyPr wrap="square" rtlCol="0" anchor="ctr"/>
          <a:lstStyle/>
          <a:p>
            <a:pPr indent="0" marL="0">
              <a:buNone/>
            </a:pPr>
            <a:r>
              <a:rPr lang="en-US" sz="1600" b="1" dirty="0">
                <a:solidFill>
                  <a:srgbClr val="E8A33D"/>
                </a:solidFill>
                <a:latin typeface="Yu Gothic UI Semibold" pitchFamily="34" charset="0"/>
                <a:ea typeface="Yu Gothic UI Semibold" pitchFamily="34" charset="-122"/>
                <a:cs typeface="Yu Gothic UI Semibold" pitchFamily="34" charset="-120"/>
              </a:rPr>
              <a:t>📝 想定アウトプット例</a:t>
            </a:r>
            <a:endParaRPr lang="en-US" sz="1600" dirty="0"/>
          </a:p>
        </p:txBody>
      </p:sp>
      <p:sp>
        <p:nvSpPr>
          <p:cNvPr id="12" name="Text 10"/>
          <p:cNvSpPr/>
          <p:nvPr/>
        </p:nvSpPr>
        <p:spPr>
          <a:xfrm>
            <a:off x="649224" y="3502152"/>
            <a:ext cx="7863840" cy="38404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・6ボタン × 動線設計表</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・最初の返答テキスト x 6</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・分岐フロー図(3往復まで)</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・ゴール別カウント</a:t>
            </a:r>
            <a:endParaRPr lang="en-US" sz="1400" dirty="0"/>
          </a:p>
        </p:txBody>
      </p:sp>
      <p:sp>
        <p:nvSpPr>
          <p:cNvPr id="13" name="Shape 11"/>
          <p:cNvSpPr/>
          <p:nvPr/>
        </p:nvSpPr>
        <p:spPr>
          <a:xfrm>
            <a:off x="411480" y="4069080"/>
            <a:ext cx="8321040" cy="914400"/>
          </a:xfrm>
          <a:prstGeom prst="roundRect">
            <a:avLst>
              <a:gd name="adj" fmla="val 8000"/>
            </a:avLst>
          </a:prstGeom>
          <a:solidFill>
            <a:srgbClr val="F4F6F9"/>
          </a:solidFill>
          <a:ln w="6350">
            <a:solidFill>
              <a:srgbClr val="D7DCE3"/>
            </a:solidFill>
            <a:prstDash val="solid"/>
          </a:ln>
        </p:spPr>
      </p:sp>
      <p:sp>
        <p:nvSpPr>
          <p:cNvPr id="14" name="Shape 12"/>
          <p:cNvSpPr/>
          <p:nvPr/>
        </p:nvSpPr>
        <p:spPr>
          <a:xfrm>
            <a:off x="411480" y="4069080"/>
            <a:ext cx="91440" cy="914400"/>
          </a:xfrm>
          <a:prstGeom prst="rect">
            <a:avLst/>
          </a:prstGeom>
          <a:solidFill>
            <a:srgbClr val="1F3A5F"/>
          </a:solidFill>
          <a:ln/>
        </p:spPr>
      </p:sp>
      <p:sp>
        <p:nvSpPr>
          <p:cNvPr id="15" name="Text 13"/>
          <p:cNvSpPr/>
          <p:nvPr/>
        </p:nvSpPr>
        <p:spPr>
          <a:xfrm>
            <a:off x="612648" y="4160520"/>
            <a:ext cx="8010144" cy="384048"/>
          </a:xfrm>
          <a:prstGeom prst="rect">
            <a:avLst/>
          </a:prstGeom>
          <a:noFill/>
          <a:ln/>
        </p:spPr>
        <p:txBody>
          <a:bodyPr wrap="square" rtlCol="0" anchor="ctr"/>
          <a:lstStyle/>
          <a:p>
            <a:pPr indent="0" marL="0">
              <a:buNone/>
            </a:pPr>
            <a:r>
              <a:rPr lang="en-US" sz="1600" b="1" dirty="0">
                <a:solidFill>
                  <a:srgbClr val="1F3A5F"/>
                </a:solidFill>
                <a:latin typeface="Yu Gothic UI Semibold" pitchFamily="34" charset="0"/>
                <a:ea typeface="Yu Gothic UI Semibold" pitchFamily="34" charset="-122"/>
                <a:cs typeface="Yu Gothic UI Semibold" pitchFamily="34" charset="-120"/>
              </a:rPr>
              <a:t>🧭 回答へ導くポイント・注意点</a:t>
            </a:r>
            <a:endParaRPr lang="en-US" sz="1600" dirty="0"/>
          </a:p>
        </p:txBody>
      </p:sp>
      <p:sp>
        <p:nvSpPr>
          <p:cNvPr id="16" name="Text 14"/>
          <p:cNvSpPr/>
          <p:nvPr/>
        </p:nvSpPr>
        <p:spPr>
          <a:xfrm>
            <a:off x="649224" y="4599432"/>
            <a:ext cx="7863840" cy="29260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・「全部AIで答える」設計になりがち。人に繋ぐ境界線を必ず決めさせる。</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・選択肢の数を4→3にする指導が重要。多いと押されない。</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・設計を「スプシに保存」まで徹底、これが次の演習の仕様書になる。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演習2 GASでチャットボットを構築+リッチメニューに接続 — 解答・指導ポイント</a:t>
            </a:r>
            <a:endParaRPr lang="en-US" sz="2600" dirty="0"/>
          </a:p>
        </p:txBody>
      </p:sp>
      <p:sp>
        <p:nvSpPr>
          <p:cNvPr id="4" name="Text 2"/>
          <p:cNvSpPr/>
          <p:nvPr/>
        </p:nvSpPr>
        <p:spPr>
          <a:xfrm>
            <a:off x="411480" y="804672"/>
            <a:ext cx="8412480" cy="365760"/>
          </a:xfrm>
          <a:prstGeom prst="rect">
            <a:avLst/>
          </a:prstGeom>
          <a:noFill/>
          <a:ln/>
        </p:spPr>
        <p:txBody>
          <a:bodyPr wrap="square" rtlCol="0" anchor="ctr"/>
          <a:lstStyle/>
          <a:p>
            <a:pPr indent="0" marL="0">
              <a:buNone/>
            </a:pPr>
            <a:r>
              <a:rPr lang="en-US" sz="1500" i="1" dirty="0">
                <a:solidFill>
                  <a:srgbClr val="555555"/>
                </a:solidFill>
                <a:latin typeface="Yu Gothic UI" pitchFamily="34" charset="0"/>
                <a:ea typeface="Yu Gothic UI" pitchFamily="34" charset="-122"/>
                <a:cs typeface="Yu Gothic UI" pitchFamily="34" charset="-120"/>
              </a:rPr>
              <a:t>💬 解答例プロンプト / 📝 想定アウトプット例 / 🧭 回答へ導くポイント</a:t>
            </a:r>
            <a:endParaRPr lang="en-US" sz="1500" dirty="0"/>
          </a:p>
        </p:txBody>
      </p:sp>
      <p:sp>
        <p:nvSpPr>
          <p:cNvPr id="5" name="Shape 3"/>
          <p:cNvSpPr/>
          <p:nvPr/>
        </p:nvSpPr>
        <p:spPr>
          <a:xfrm>
            <a:off x="411480" y="1234440"/>
            <a:ext cx="8321040" cy="1645920"/>
          </a:xfrm>
          <a:prstGeom prst="roundRect">
            <a:avLst>
              <a:gd name="adj" fmla="val 4444"/>
            </a:avLst>
          </a:prstGeom>
          <a:solidFill>
            <a:srgbClr val="F4F6F9"/>
          </a:solidFill>
          <a:ln w="6350">
            <a:solidFill>
              <a:srgbClr val="D7DCE3"/>
            </a:solidFill>
            <a:prstDash val="solid"/>
          </a:ln>
        </p:spPr>
      </p:sp>
      <p:sp>
        <p:nvSpPr>
          <p:cNvPr id="6" name="Shape 4"/>
          <p:cNvSpPr/>
          <p:nvPr/>
        </p:nvSpPr>
        <p:spPr>
          <a:xfrm>
            <a:off x="411480" y="1234440"/>
            <a:ext cx="91440" cy="1645920"/>
          </a:xfrm>
          <a:prstGeom prst="rect">
            <a:avLst/>
          </a:prstGeom>
          <a:solidFill>
            <a:srgbClr val="0E7C86"/>
          </a:solidFill>
          <a:ln/>
        </p:spPr>
      </p:sp>
      <p:sp>
        <p:nvSpPr>
          <p:cNvPr id="7" name="Text 5"/>
          <p:cNvSpPr/>
          <p:nvPr/>
        </p:nvSpPr>
        <p:spPr>
          <a:xfrm>
            <a:off x="612648" y="1325880"/>
            <a:ext cx="8010144" cy="384048"/>
          </a:xfrm>
          <a:prstGeom prst="rect">
            <a:avLst/>
          </a:prstGeom>
          <a:noFill/>
          <a:ln/>
        </p:spPr>
        <p:txBody>
          <a:bodyPr wrap="square" rtlCol="0" anchor="ctr"/>
          <a:lstStyle/>
          <a:p>
            <a:pPr indent="0" marL="0">
              <a:buNone/>
            </a:pPr>
            <a:r>
              <a:rPr lang="en-US" sz="1600" b="1" dirty="0">
                <a:solidFill>
                  <a:srgbClr val="0E7C86"/>
                </a:solidFill>
                <a:latin typeface="Yu Gothic UI Semibold" pitchFamily="34" charset="0"/>
                <a:ea typeface="Yu Gothic UI Semibold" pitchFamily="34" charset="-122"/>
                <a:cs typeface="Yu Gothic UI Semibold" pitchFamily="34" charset="-120"/>
              </a:rPr>
              <a:t>💬 解答例プロンプト</a:t>
            </a:r>
            <a:endParaRPr lang="en-US" sz="1600" dirty="0"/>
          </a:p>
        </p:txBody>
      </p:sp>
      <p:sp>
        <p:nvSpPr>
          <p:cNvPr id="8" name="Text 6"/>
          <p:cNvSpPr/>
          <p:nvPr/>
        </p:nvSpPr>
        <p:spPr>
          <a:xfrm>
            <a:off x="649224" y="1764792"/>
            <a:ext cx="7863840" cy="102412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【貼り付け用】</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LINE 公式アカウントのチャットボットを Google Apps Script で作ってください。</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・仕様: doPost で Webhook を受け、以下のポストバックに応答</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  - postback=type_life → 生命保険の説明を返信</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  - postback=doc_request → 資料請求フォームURLを返信</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  - postback=book_meeting → 予約URLを返信</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  - postback=faq → よくある質問リストを返信</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・チャネルアクセストークンはスクリプトプロパティ CHANNEL_TOKEN から取得</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・想定外の入力には「担当者が確認します、少々お待ちください」と返答</a:t>
            </a:r>
            <a:endParaRPr lang="en-US" sz="1400" dirty="0"/>
          </a:p>
        </p:txBody>
      </p:sp>
      <p:sp>
        <p:nvSpPr>
          <p:cNvPr id="9" name="Shape 7"/>
          <p:cNvSpPr/>
          <p:nvPr/>
        </p:nvSpPr>
        <p:spPr>
          <a:xfrm>
            <a:off x="411480" y="2971800"/>
            <a:ext cx="8321040" cy="1005840"/>
          </a:xfrm>
          <a:prstGeom prst="roundRect">
            <a:avLst>
              <a:gd name="adj" fmla="val 7273"/>
            </a:avLst>
          </a:prstGeom>
          <a:solidFill>
            <a:srgbClr val="F4F6F9"/>
          </a:solidFill>
          <a:ln w="6350">
            <a:solidFill>
              <a:srgbClr val="D7DCE3"/>
            </a:solidFill>
            <a:prstDash val="solid"/>
          </a:ln>
        </p:spPr>
      </p:sp>
      <p:sp>
        <p:nvSpPr>
          <p:cNvPr id="10" name="Shape 8"/>
          <p:cNvSpPr/>
          <p:nvPr/>
        </p:nvSpPr>
        <p:spPr>
          <a:xfrm>
            <a:off x="411480" y="2971800"/>
            <a:ext cx="91440" cy="1005840"/>
          </a:xfrm>
          <a:prstGeom prst="rect">
            <a:avLst/>
          </a:prstGeom>
          <a:solidFill>
            <a:srgbClr val="E8A33D"/>
          </a:solidFill>
          <a:ln/>
        </p:spPr>
      </p:sp>
      <p:sp>
        <p:nvSpPr>
          <p:cNvPr id="11" name="Text 9"/>
          <p:cNvSpPr/>
          <p:nvPr/>
        </p:nvSpPr>
        <p:spPr>
          <a:xfrm>
            <a:off x="612648" y="3063240"/>
            <a:ext cx="8010144" cy="384048"/>
          </a:xfrm>
          <a:prstGeom prst="rect">
            <a:avLst/>
          </a:prstGeom>
          <a:noFill/>
          <a:ln/>
        </p:spPr>
        <p:txBody>
          <a:bodyPr wrap="square" rtlCol="0" anchor="ctr"/>
          <a:lstStyle/>
          <a:p>
            <a:pPr indent="0" marL="0">
              <a:buNone/>
            </a:pPr>
            <a:r>
              <a:rPr lang="en-US" sz="1600" b="1" dirty="0">
                <a:solidFill>
                  <a:srgbClr val="E8A33D"/>
                </a:solidFill>
                <a:latin typeface="Yu Gothic UI Semibold" pitchFamily="34" charset="0"/>
                <a:ea typeface="Yu Gothic UI Semibold" pitchFamily="34" charset="-122"/>
                <a:cs typeface="Yu Gothic UI Semibold" pitchFamily="34" charset="-120"/>
              </a:rPr>
              <a:t>📝 想定アウトプット例</a:t>
            </a:r>
            <a:endParaRPr lang="en-US" sz="1600" dirty="0"/>
          </a:p>
        </p:txBody>
      </p:sp>
      <p:sp>
        <p:nvSpPr>
          <p:cNvPr id="12" name="Text 10"/>
          <p:cNvSpPr/>
          <p:nvPr/>
        </p:nvSpPr>
        <p:spPr>
          <a:xfrm>
            <a:off x="649224" y="3502152"/>
            <a:ext cx="7863840" cy="38404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・GAS コード(doPost + 返信関数)</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・スクリプトプロパティ設定手順</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・デプロイ→Webhook 登録→リッチメニュー接続 の全手順</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・実機テストで応答確認</a:t>
            </a:r>
            <a:endParaRPr lang="en-US" sz="1400" dirty="0"/>
          </a:p>
        </p:txBody>
      </p:sp>
      <p:sp>
        <p:nvSpPr>
          <p:cNvPr id="13" name="Shape 11"/>
          <p:cNvSpPr/>
          <p:nvPr/>
        </p:nvSpPr>
        <p:spPr>
          <a:xfrm>
            <a:off x="411480" y="4069080"/>
            <a:ext cx="8321040" cy="914400"/>
          </a:xfrm>
          <a:prstGeom prst="roundRect">
            <a:avLst>
              <a:gd name="adj" fmla="val 8000"/>
            </a:avLst>
          </a:prstGeom>
          <a:solidFill>
            <a:srgbClr val="F4F6F9"/>
          </a:solidFill>
          <a:ln w="6350">
            <a:solidFill>
              <a:srgbClr val="D7DCE3"/>
            </a:solidFill>
            <a:prstDash val="solid"/>
          </a:ln>
        </p:spPr>
      </p:sp>
      <p:sp>
        <p:nvSpPr>
          <p:cNvPr id="14" name="Shape 12"/>
          <p:cNvSpPr/>
          <p:nvPr/>
        </p:nvSpPr>
        <p:spPr>
          <a:xfrm>
            <a:off x="411480" y="4069080"/>
            <a:ext cx="91440" cy="914400"/>
          </a:xfrm>
          <a:prstGeom prst="rect">
            <a:avLst/>
          </a:prstGeom>
          <a:solidFill>
            <a:srgbClr val="1F3A5F"/>
          </a:solidFill>
          <a:ln/>
        </p:spPr>
      </p:sp>
      <p:sp>
        <p:nvSpPr>
          <p:cNvPr id="15" name="Text 13"/>
          <p:cNvSpPr/>
          <p:nvPr/>
        </p:nvSpPr>
        <p:spPr>
          <a:xfrm>
            <a:off x="612648" y="4160520"/>
            <a:ext cx="8010144" cy="384048"/>
          </a:xfrm>
          <a:prstGeom prst="rect">
            <a:avLst/>
          </a:prstGeom>
          <a:noFill/>
          <a:ln/>
        </p:spPr>
        <p:txBody>
          <a:bodyPr wrap="square" rtlCol="0" anchor="ctr"/>
          <a:lstStyle/>
          <a:p>
            <a:pPr indent="0" marL="0">
              <a:buNone/>
            </a:pPr>
            <a:r>
              <a:rPr lang="en-US" sz="1600" b="1" dirty="0">
                <a:solidFill>
                  <a:srgbClr val="1F3A5F"/>
                </a:solidFill>
                <a:latin typeface="Yu Gothic UI Semibold" pitchFamily="34" charset="0"/>
                <a:ea typeface="Yu Gothic UI Semibold" pitchFamily="34" charset="-122"/>
                <a:cs typeface="Yu Gothic UI Semibold" pitchFamily="34" charset="-120"/>
              </a:rPr>
              <a:t>🧭 回答へ導くポイント・注意点</a:t>
            </a:r>
            <a:endParaRPr lang="en-US" sz="1600" dirty="0"/>
          </a:p>
        </p:txBody>
      </p:sp>
      <p:sp>
        <p:nvSpPr>
          <p:cNvPr id="16" name="Text 14"/>
          <p:cNvSpPr/>
          <p:nvPr/>
        </p:nvSpPr>
        <p:spPr>
          <a:xfrm>
            <a:off x="649224" y="4599432"/>
            <a:ext cx="7863840" cy="29260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・トークン漏洩防止を必ず口頭確認。スクリプトプロパティ以外NG。</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・「ウェブアプリとしてデプロイ」の権限設定(全員)を必ず。ここで詰まる生徒多数。</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・LINE Developers の Webhook URL 登録忘れが最頻出ミス。チェックリスト化。</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・else 節(想定外入力)を書いていない生徒に注意。無応答=沈黙は最悪UX。</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2026-07-03T02:18:57Z</dcterms:created>
  <dcterms:modified xsi:type="dcterms:W3CDTF">2026-07-03T02:18:57Z</dcterms:modified>
</cp:coreProperties>
</file>