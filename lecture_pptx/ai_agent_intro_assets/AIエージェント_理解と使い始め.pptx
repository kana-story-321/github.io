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E8A33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AIエージェント 単元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自分で考えて動く AI ─ 新しいステージへ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従来の生成AI との違いを理解 → 有料プランで試したくなる状態へ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41148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今日は "触らずに理解する" 回、実際の体験は各自の有料プラン契約でお願いします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今日はこう進めます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"触らない" けど、理解して興味を持てる 60〜90分の予定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868680"/>
          </a:xfrm>
          <a:prstGeom prst="roundRect">
            <a:avLst>
              <a:gd name="adj" fmla="val 8421"/>
            </a:avLst>
          </a:prstGeom>
          <a:solidFill>
            <a:srgbClr val="F4F6F9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17320"/>
            <a:ext cx="1005840" cy="502920"/>
          </a:xfrm>
          <a:prstGeom prst="roundRect">
            <a:avLst>
              <a:gd name="adj" fmla="val 10909"/>
            </a:avLst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1732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① 知る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91640" y="13258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AIエージェント とは何か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91640" y="1673352"/>
            <a:ext cx="5029200" cy="338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従来の生成AI(Gemini/ChatGPT)と何が違うか、比較で理解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0" y="14630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20分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11480" y="2194560"/>
            <a:ext cx="8321040" cy="868680"/>
          </a:xfrm>
          <a:prstGeom prst="roundRect">
            <a:avLst>
              <a:gd name="adj" fmla="val 8421"/>
            </a:avLst>
          </a:prstGeom>
          <a:solidFill>
            <a:srgbClr val="F4F6F9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377440"/>
            <a:ext cx="1005840" cy="502920"/>
          </a:xfrm>
          <a:prstGeom prst="roundRect">
            <a:avLst>
              <a:gd name="adj" fmla="val 10909"/>
            </a:avLst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37744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② 想像する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691640" y="2286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できることを具体的にイメージ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91640" y="2633472"/>
            <a:ext cx="5029200" cy="338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保険業界での活用例、実際の動きを見て "使ってみたい" を作る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0" y="24231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25分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11480" y="3154680"/>
            <a:ext cx="8321040" cy="868680"/>
          </a:xfrm>
          <a:prstGeom prst="roundRect">
            <a:avLst>
              <a:gd name="adj" fmla="val 8421"/>
            </a:avLst>
          </a:prstGeom>
          <a:solidFill>
            <a:srgbClr val="F4F6F9"/>
          </a:solidFill>
          <a:ln w="19050">
            <a:solidFill>
              <a:srgbClr val="7C5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337560"/>
            <a:ext cx="1005840" cy="502920"/>
          </a:xfrm>
          <a:prstGeom prst="roundRect">
            <a:avLst>
              <a:gd name="adj" fmla="val 10909"/>
            </a:avLst>
          </a:prstGeom>
          <a:solidFill>
            <a:srgbClr val="7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3375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③ 選ぶ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691640" y="32461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主要ツール と 料金の紹介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691640" y="3593592"/>
            <a:ext cx="5029200" cy="338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Claude Code / Codex / Devin 等、自分に合うものを選ぶ視点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0" y="33832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5F8A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15分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11480" y="4114800"/>
            <a:ext cx="8321040" cy="868680"/>
          </a:xfrm>
          <a:prstGeom prst="roundRect">
            <a:avLst>
              <a:gd name="adj" fmla="val 8421"/>
            </a:avLst>
          </a:prstGeom>
          <a:solidFill>
            <a:srgbClr val="F4F6F9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297680"/>
            <a:ext cx="1005840" cy="502920"/>
          </a:xfrm>
          <a:prstGeom prst="roundRect">
            <a:avLst>
              <a:gd name="adj" fmla="val 10909"/>
            </a:avLst>
          </a:prstGeom>
          <a:solidFill>
            <a:srgbClr val="1F3A5F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29768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④ 始める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691640" y="4206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興味を持ったら、次の一歩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691640" y="4553712"/>
            <a:ext cx="5029200" cy="338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有料プラン契約 → 触ってみる の "最初の3ステップ"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72400" y="43434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10分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411480" y="4663440"/>
            <a:ext cx="8321040" cy="384048"/>
          </a:xfrm>
          <a:prstGeom prst="roundRect">
            <a:avLst>
              <a:gd name="adj" fmla="val 14286"/>
            </a:avLst>
          </a:prstGeom>
          <a:solidFill>
            <a:srgbClr val="E8A33D"/>
          </a:solidFill>
          <a:ln/>
        </p:spPr>
      </p:sp>
      <p:sp>
        <p:nvSpPr>
          <p:cNvPr id="30" name="Text 28"/>
          <p:cNvSpPr/>
          <p:nvPr/>
        </p:nvSpPr>
        <p:spPr>
          <a:xfrm>
            <a:off x="411480" y="466344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★ AIエージェントは "触ってみないと本当の凄さは分からない" 分野、今日は "触りたくなる" が目標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AIエージェント とは?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一言で言うと「自分で考えて 複数のことを 順にやってくれる AI」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25400">
            <a:solidFill>
              <a:srgbClr val="7C5F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075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5F8A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■ 定義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618488"/>
            <a:ext cx="79552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「目標」を伝えると、AI が自分で ①計画を立て → ②必要なツール(ファイル操作/コマンド実行/Web検索/API)を使い → ③結果を見て判断 → ④次の行動を決める、を繰り返して 目標達成まで走る AI システム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237744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25400">
            <a:solidFill>
              <a:srgbClr val="0E7C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5146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11480" y="338328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目標志向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94360" y="38404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「〇〇を作って」と伝えるだけ。細かい手順の指示は不要。AI が自分で分解して進める。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237744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25400">
            <a:solidFill>
              <a:srgbClr val="E8A3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25146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🛠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3246120" y="338328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ツール活用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429000" y="38404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ファイルを読み書き、コマンドを実行、Web を検索、API を叩く — 手のように使う。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80760" y="237744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25400">
            <a:solidFill>
              <a:srgbClr val="7C5F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25146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7C5F8A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🔁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6080760" y="338328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C5F8A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自己修正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263640" y="38404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エラーが出たら 原因を考えて修正 → 再実行。上手くいくまで自分で試行錯誤する。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従来の生成AI と 何が違う?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同じ "AI" でも、動き方が根本的に違います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4023360" cy="3657600"/>
          </a:xfrm>
          <a:prstGeom prst="roundRect">
            <a:avLst>
              <a:gd name="adj" fmla="val 2500"/>
            </a:avLst>
          </a:prstGeom>
          <a:solidFill>
            <a:srgbClr val="E6F4EA"/>
          </a:solidFill>
          <a:ln w="2540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4023360" cy="6858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801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 従来の生成AI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161848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3E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(Gemini / ChatGPT 等)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1031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動き方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313432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質問1つに答え1つ、1往復で終わる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2642616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ユーザーの役割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2852928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毎ターン、次の指示を出す必要あり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318211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できること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3392424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文章生成・要約・翻訳・コード生成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372160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できないこと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3931920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自分でファイルを開く・保存する・実行する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426110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例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" y="4471416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「メール文を書いて」→ メール文が返る(送信は自分で)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1234440"/>
            <a:ext cx="4023360" cy="3657600"/>
          </a:xfrm>
          <a:prstGeom prst="roundRect">
            <a:avLst>
              <a:gd name="adj" fmla="val 2500"/>
            </a:avLst>
          </a:prstGeom>
          <a:solidFill>
            <a:srgbClr val="F3E5F5"/>
          </a:solidFill>
          <a:ln w="25400">
            <a:solidFill>
              <a:srgbClr val="7C5F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1234440"/>
            <a:ext cx="4023360" cy="68580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12801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🤖  AIエージェント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846320" y="161848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3E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(Claude Code / Codex / Devin 等)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92040" y="21031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5F8A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動き方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92040" y="2313432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目標を伝えると 数十ステップを 自動で連続実行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92040" y="2642616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5F8A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ユーザーの役割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92040" y="2852928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目標を伝える + 途中で承認、あとは待つ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92040" y="318211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5F8A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できること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92040" y="3392424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ファイル操作・コマンド実行・Web検索・API 呼出 も自分で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92040" y="372160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5F8A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得意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92040" y="3931920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複雑タスクの完遂、繰り返し作業の自動化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92040" y="426110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5F8A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例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92040" y="4471416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「テスト全部通してPR作って」→ 実行〜PR作成まで自動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AIエージェント "だから" できること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従来の生成AI では 人が間に入って手動でやるしかなかった作業を、AI が自動で完結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F4F6F9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💻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371600" y="14173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複雑なコード開発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リポジトリ全体を理解 → 機能追加・バグ修正 → テスト実行 → PR作成 まで一気通貫。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従来: 1ステップずつコピペ / エージェント: "この機能追加して" で完了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23444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F4F6F9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🔍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5669280" y="14173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深いリサーチ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37760" y="21945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複数のWebサイトを横断 → 情報を統合 → レポートに整理 まで自動。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従来: 検索→読む→まとめる を手動 / エージェント: "〇〇について調べて" で完了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306324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F4F6F9"/>
          </a:solidFill>
          <a:ln w="19050">
            <a:solidFill>
              <a:srgbClr val="7C5F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2004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7C5F8A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🔄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1371600" y="32461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繰り返し作業の自動化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40233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100件のデータを 1件ずつ処理、100件のPDFを 1件ずつ要約 等。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従来: 1つ1つ人が実行 / エージェント: "全部やって" で完了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306324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F4F6F9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32004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🌐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5669280" y="32461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複数ツールの連携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937760" y="40233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スプシから情報取得 → API 呼び出し → 結果を別スプシに記録 の 一連の流れ。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従来: それぞれのツールで手動 / エージェント: 全部繋げて自動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保険業界での 活用イメージ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"うちの業界で どう使える?" を6パターンで想像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2682240" cy="1714500"/>
          </a:xfrm>
          <a:prstGeom prst="roundRect">
            <a:avLst>
              <a:gd name="adj" fmla="val 4267"/>
            </a:avLst>
          </a:prstGeom>
          <a:solidFill>
            <a:srgbClr val="F4F6F9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2682240" cy="38404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52728"/>
            <a:ext cx="2499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🔧  議事録AI を "設計から実装まで" 一気に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709928"/>
            <a:ext cx="2407920" cy="11475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「議事録の自動化ツール作って」→ 数十分でスプシ+GAS+テストまで完成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30880" y="1234440"/>
            <a:ext cx="2682240" cy="1714500"/>
          </a:xfrm>
          <a:prstGeom prst="roundRect">
            <a:avLst>
              <a:gd name="adj" fmla="val 4267"/>
            </a:avLst>
          </a:prstGeom>
          <a:solidFill>
            <a:srgbClr val="F4F6F9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30880" y="1234440"/>
            <a:ext cx="2682240" cy="38404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3322320" y="1252728"/>
            <a:ext cx="2499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📞  過去商談録音50件を横断分析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68040" y="1709928"/>
            <a:ext cx="2407920" cy="11475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「50件から "成約パターン" を抽出して」→ 共通点を整理してレポート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50280" y="1234440"/>
            <a:ext cx="2682240" cy="1714500"/>
          </a:xfrm>
          <a:prstGeom prst="roundRect">
            <a:avLst>
              <a:gd name="adj" fmla="val 4267"/>
            </a:avLst>
          </a:prstGeom>
          <a:solidFill>
            <a:srgbClr val="F4F6F9"/>
          </a:solidFill>
          <a:ln w="19050">
            <a:solidFill>
              <a:srgbClr val="7C5F8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50280" y="1234440"/>
            <a:ext cx="2682240" cy="384048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5" name="Text 13"/>
          <p:cNvSpPr/>
          <p:nvPr/>
        </p:nvSpPr>
        <p:spPr>
          <a:xfrm>
            <a:off x="6141720" y="1252728"/>
            <a:ext cx="2499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👥  顧客カルテ 100件を自動グループ化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87440" y="1709928"/>
            <a:ext cx="2407920" cy="11475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「同じ悩みの顧客を分類して」→ 属性・要望・課題別にグループ化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3086100"/>
            <a:ext cx="2682240" cy="1714500"/>
          </a:xfrm>
          <a:prstGeom prst="roundRect">
            <a:avLst>
              <a:gd name="adj" fmla="val 4267"/>
            </a:avLst>
          </a:prstGeom>
          <a:solidFill>
            <a:srgbClr val="F4F6F9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3086100"/>
            <a:ext cx="2682240" cy="384048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104388"/>
            <a:ext cx="2499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📄  各社商品PDF 数百枚 を横断調査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561588"/>
            <a:ext cx="2407920" cy="11475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「うちの顧客層に向く商品を発掘」→ 全PDFを読んで比較表を作成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30880" y="3086100"/>
            <a:ext cx="2682240" cy="1714500"/>
          </a:xfrm>
          <a:prstGeom prst="roundRect">
            <a:avLst>
              <a:gd name="adj" fmla="val 4267"/>
            </a:avLst>
          </a:prstGeom>
          <a:solidFill>
            <a:srgbClr val="F4F6F9"/>
          </a:solidFill>
          <a:ln w="19050">
            <a:solidFill>
              <a:srgbClr val="C76B7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30880" y="3086100"/>
            <a:ext cx="2682240" cy="384048"/>
          </a:xfrm>
          <a:prstGeom prst="rect">
            <a:avLst/>
          </a:prstGeom>
          <a:solidFill>
            <a:srgbClr val="C76B7A"/>
          </a:solidFill>
          <a:ln/>
        </p:spPr>
      </p:sp>
      <p:sp>
        <p:nvSpPr>
          <p:cNvPr id="23" name="Text 21"/>
          <p:cNvSpPr/>
          <p:nvPr/>
        </p:nvSpPr>
        <p:spPr>
          <a:xfrm>
            <a:off x="3322320" y="3104388"/>
            <a:ext cx="2499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📧  メール返信の下書き 一括作成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68040" y="3561588"/>
            <a:ext cx="2407920" cy="11475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「今週の未返信メール30件、下書き作って」→ 全部作って一覧提示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50280" y="3086100"/>
            <a:ext cx="2682240" cy="1714500"/>
          </a:xfrm>
          <a:prstGeom prst="roundRect">
            <a:avLst>
              <a:gd name="adj" fmla="val 4267"/>
            </a:avLst>
          </a:prstGeom>
          <a:solidFill>
            <a:srgbClr val="F4F6F9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50280" y="3086100"/>
            <a:ext cx="2682240" cy="38404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7" name="Text 25"/>
          <p:cNvSpPr/>
          <p:nvPr/>
        </p:nvSpPr>
        <p:spPr>
          <a:xfrm>
            <a:off x="6141720" y="3104388"/>
            <a:ext cx="2499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📊  週次営業レポート の完全自動化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87440" y="3561588"/>
            <a:ext cx="2407920" cy="11475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「今週の営業データから レポート作ってメール送って」→ 全自動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主要な AIエージェント ツール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2026年 現在 実際に使える主要ツール、それぞれの特徴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2682240" cy="1714500"/>
          </a:xfrm>
          <a:prstGeom prst="roundRect">
            <a:avLst>
              <a:gd name="adj" fmla="val 4267"/>
            </a:avLst>
          </a:prstGeom>
          <a:solidFill>
            <a:srgbClr val="F4F6F9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258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💻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560" y="1307592"/>
            <a:ext cx="195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Claude Code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600200"/>
            <a:ext cx="195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Anthropic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2407920" cy="937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コード開発特化。CLI/Web/IDE。ファイル操作・コマンド実行が得意。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30880" y="1234440"/>
            <a:ext cx="2682240" cy="1714500"/>
          </a:xfrm>
          <a:prstGeom prst="roundRect">
            <a:avLst>
              <a:gd name="adj" fmla="val 4267"/>
            </a:avLst>
          </a:prstGeom>
          <a:solidFill>
            <a:srgbClr val="F4F6F9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22320" y="13258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⚡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870960" y="1307592"/>
            <a:ext cx="195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Codex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70960" y="1600200"/>
            <a:ext cx="195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OpenAI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68040" y="1920240"/>
            <a:ext cx="2407920" cy="937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コード生成+実行の万能型。ChatGPT に統合、Webからも使える。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50280" y="1234440"/>
            <a:ext cx="2682240" cy="1714500"/>
          </a:xfrm>
          <a:prstGeom prst="roundRect">
            <a:avLst>
              <a:gd name="adj" fmla="val 4267"/>
            </a:avLst>
          </a:prstGeom>
          <a:solidFill>
            <a:srgbClr val="F4F6F9"/>
          </a:solidFill>
          <a:ln w="19050">
            <a:solidFill>
              <a:srgbClr val="7C5F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41720" y="13258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C5F8A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🧑‍💻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690360" y="1307592"/>
            <a:ext cx="195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5F8A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Devin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90360" y="1600200"/>
            <a:ext cx="195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Cognition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187440" y="1920240"/>
            <a:ext cx="2407920" cy="937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"自律的なソフトウェアエンジニア" を謳う。長時間タスクに強い。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3086100"/>
            <a:ext cx="2682240" cy="1714500"/>
          </a:xfrm>
          <a:prstGeom prst="roundRect">
            <a:avLst>
              <a:gd name="adj" fmla="val 4267"/>
            </a:avLst>
          </a:prstGeom>
          <a:solidFill>
            <a:srgbClr val="F4F6F9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1775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✏️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51560" y="3159252"/>
            <a:ext cx="195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Cursor Agent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51560" y="3451860"/>
            <a:ext cx="195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Cursor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3771900"/>
            <a:ext cx="2407920" cy="937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エディタ内で動くエージェント。開発者に人気、対話しながら作る。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30880" y="3086100"/>
            <a:ext cx="2682240" cy="1714500"/>
          </a:xfrm>
          <a:prstGeom prst="roundRect">
            <a:avLst>
              <a:gd name="adj" fmla="val 4267"/>
            </a:avLst>
          </a:prstGeom>
          <a:solidFill>
            <a:srgbClr val="F4F6F9"/>
          </a:solidFill>
          <a:ln w="19050">
            <a:solidFill>
              <a:srgbClr val="C76B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22320" y="31775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76B7A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🔧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870960" y="3159252"/>
            <a:ext cx="195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6B7A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GitHub Copilot Workspace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870960" y="3451860"/>
            <a:ext cx="195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GitHub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368040" y="3771900"/>
            <a:ext cx="2407920" cy="937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リポジトリ全体を対象にしたタスク遂行。既存 Copilot の進化版。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50280" y="3086100"/>
            <a:ext cx="2682240" cy="1714500"/>
          </a:xfrm>
          <a:prstGeom prst="roundRect">
            <a:avLst>
              <a:gd name="adj" fmla="val 4267"/>
            </a:avLst>
          </a:prstGeom>
          <a:solidFill>
            <a:srgbClr val="F4F6F9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41720" y="31775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🌐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690360" y="3159252"/>
            <a:ext cx="195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その他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690360" y="3451860"/>
            <a:ext cx="195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Google Jules / Amazon Q Developer 等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187440" y="3771900"/>
            <a:ext cx="2407920" cy="937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各社が2025-2026で次々参入。数ヶ月で選択肢が変わる激動の分野。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料金の目安 と 使い始めの窓口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"無料でお試し" はほぼ無い分野、月$20〜 が入口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4023360" cy="2103120"/>
          </a:xfrm>
          <a:prstGeom prst="roundRect">
            <a:avLst>
              <a:gd name="adj" fmla="val 3478"/>
            </a:avLst>
          </a:prstGeom>
          <a:solidFill>
            <a:srgbClr val="E6F4EA"/>
          </a:solidFill>
          <a:ln w="2540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4023360" cy="502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344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💵 入口価格帯(月 $20 前後)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892808"/>
            <a:ext cx="35661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ChatGPT Plus ($20/月) → Codex 使える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Claude Pro ($20/月) → Claude Code 使える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Cursor Pro ($20/月) → エディタ内エージェント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この価格帯で "触ってみる" は十分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234440"/>
            <a:ext cx="4023360" cy="2103120"/>
          </a:xfrm>
          <a:prstGeom prst="roundRect">
            <a:avLst>
              <a:gd name="adj" fmla="val 3478"/>
            </a:avLst>
          </a:prstGeom>
          <a:solidFill>
            <a:srgbClr val="FFF3E0"/>
          </a:solidFill>
          <a:ln w="2540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1234440"/>
            <a:ext cx="4023360" cy="50292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2344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💰 本格活用価格帯(月 $100〜)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892808"/>
            <a:ext cx="35661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Claude Max ($100/月) → 使用制限が大幅緩和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ChatGPT Pro ($200/月) → 高性能モデル使い放題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Devin ($500/月〜) → 自律作業の本格版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継続業務に組み込むならここから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3520440"/>
            <a:ext cx="8321040" cy="1188720"/>
          </a:xfrm>
          <a:prstGeom prst="roundRect">
            <a:avLst>
              <a:gd name="adj" fmla="val 6154"/>
            </a:avLst>
          </a:prstGeom>
          <a:solidFill>
            <a:srgbClr val="7C5F8A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6118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💡 まず何から?の おすすめ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" y="3977640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● コードを扱う人 → Claude Code(Pro $20/月)or Codex(ChatGPT Plus $20/月)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● コードは書かないけど試したい → ChatGPT Plus で "GPT-5 Agent" 機能を触る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● チーム導入検討 → まず1人が Pro を試して 1ヶ月体験、良ければチーム展開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興味を持ったら、次の 3ステップ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今日から明日、1週間、1ヶ月 の "始め方"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2590800" cy="2834640"/>
          </a:xfrm>
          <a:prstGeom prst="roundRect">
            <a:avLst>
              <a:gd name="adj" fmla="val 3529"/>
            </a:avLst>
          </a:prstGeom>
          <a:solidFill>
            <a:srgbClr val="F4F6F9"/>
          </a:solidFill>
          <a:ln w="2540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45920"/>
            <a:ext cx="1950720" cy="457200"/>
          </a:xfrm>
          <a:prstGeom prst="roundRect">
            <a:avLst>
              <a:gd name="adj" fmla="val 12000"/>
            </a:avLst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45920"/>
            <a:ext cx="195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Day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76072" y="2240280"/>
            <a:ext cx="22616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選んで契約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12648" y="2788920"/>
            <a:ext cx="218846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● Claude Pro or ChatGPT Plus を月$20で契約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● クレカ登録+すぐに使える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● 契約は毎月切替可、まず1ヶ月試す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76600" y="1417320"/>
            <a:ext cx="2590800" cy="2834640"/>
          </a:xfrm>
          <a:prstGeom prst="roundRect">
            <a:avLst>
              <a:gd name="adj" fmla="val 3529"/>
            </a:avLst>
          </a:prstGeom>
          <a:solidFill>
            <a:srgbClr val="F4F6F9"/>
          </a:solidFill>
          <a:ln w="25400">
            <a:solidFill>
              <a:srgbClr val="E8A3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96640" y="1645920"/>
            <a:ext cx="1950720" cy="457200"/>
          </a:xfrm>
          <a:prstGeom prst="roundRect">
            <a:avLst>
              <a:gd name="adj" fmla="val 12000"/>
            </a:avLst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3596640" y="1645920"/>
            <a:ext cx="195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1週間目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41192" y="2240280"/>
            <a:ext cx="22616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簡単な作業を試す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477768" y="2788920"/>
            <a:ext cx="218846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● 「このスプシから〇〇集計して」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● 「このメール30件返信下書き作って」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● "頼んで待つ" 感覚を体験、驚くと同時に限界も見える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41720" y="1417320"/>
            <a:ext cx="2590800" cy="2834640"/>
          </a:xfrm>
          <a:prstGeom prst="roundRect">
            <a:avLst>
              <a:gd name="adj" fmla="val 3529"/>
            </a:avLst>
          </a:prstGeom>
          <a:solidFill>
            <a:srgbClr val="F4F6F9"/>
          </a:solidFill>
          <a:ln w="25400">
            <a:solidFill>
              <a:srgbClr val="7C5F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61760" y="1645920"/>
            <a:ext cx="1950720" cy="457200"/>
          </a:xfrm>
          <a:prstGeom prst="roundRect">
            <a:avLst>
              <a:gd name="adj" fmla="val 12000"/>
            </a:avLst>
          </a:prstGeom>
          <a:solidFill>
            <a:srgbClr val="7C5F8A"/>
          </a:solidFill>
          <a:ln/>
        </p:spPr>
      </p:sp>
      <p:sp>
        <p:nvSpPr>
          <p:cNvPr id="17" name="Text 15"/>
          <p:cNvSpPr/>
          <p:nvPr/>
        </p:nvSpPr>
        <p:spPr>
          <a:xfrm>
            <a:off x="6461760" y="1645920"/>
            <a:ext cx="195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1ヶ月目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6312" y="2240280"/>
            <a:ext cx="22616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継続業務に組込み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342888" y="2788920"/>
            <a:ext cx="218846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● 週次レポート作成を任せる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● コード開発の一部を任せる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● 元が取れれば継続、微妙なら解約 or 別ツール検討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触る前に 知っておく 3つの注意点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"自律的" だからこそ気をつけたいポイント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4023360" cy="3566160"/>
          </a:xfrm>
          <a:prstGeom prst="roundRect">
            <a:avLst>
              <a:gd name="adj" fmla="val 2564"/>
            </a:avLst>
          </a:prstGeom>
          <a:solidFill>
            <a:srgbClr val="FDECEA"/>
          </a:solidFill>
          <a:ln w="25400">
            <a:solidFill>
              <a:srgbClr val="C76B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4023360" cy="502920"/>
          </a:xfrm>
          <a:prstGeom prst="rect">
            <a:avLst/>
          </a:prstGeom>
          <a:solidFill>
            <a:srgbClr val="C76B7A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23444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⚠️ 注意点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1892808"/>
            <a:ext cx="3730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6B7A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1. コスト管理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2240280"/>
            <a:ext cx="37307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従量課金のツールもあり、放置すると数万円/月 に。月次で使用量確認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" y="2852928"/>
            <a:ext cx="3730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6B7A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2. セキュリティ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" y="3200400"/>
            <a:ext cx="37307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ファイル操作・コマンド実行が可能。顧客情報を含むデータで使う時は 情シスと事前調整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" y="3813048"/>
            <a:ext cx="3730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6B7A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3. 監視が必要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6928" y="4160520"/>
            <a:ext cx="37307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"自律的" = 予期せぬ行動もあり得る、初回は必ず横で見る、承認ステップを入れる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1234440"/>
            <a:ext cx="4023360" cy="3566160"/>
          </a:xfrm>
          <a:prstGeom prst="roundRect">
            <a:avLst>
              <a:gd name="adj" fmla="val 2564"/>
            </a:avLst>
          </a:prstGeom>
          <a:solidFill>
            <a:srgbClr val="E6F4EA"/>
          </a:solidFill>
          <a:ln w="25400">
            <a:solidFill>
              <a:srgbClr val="0E7C8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9160" y="1234440"/>
            <a:ext cx="4023360" cy="502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6" name="Text 14"/>
          <p:cNvSpPr/>
          <p:nvPr/>
        </p:nvSpPr>
        <p:spPr>
          <a:xfrm>
            <a:off x="4709160" y="123444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✅ 対策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64608" y="1892808"/>
            <a:ext cx="3730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1. 使用量アラート設定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64608" y="2240280"/>
            <a:ext cx="37307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各サービスに使用量アラート機能あり、月$50 で通知など設定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64608" y="2852928"/>
            <a:ext cx="3730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2. サンドボックス環境で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64608" y="3200400"/>
            <a:ext cx="37307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本番データは触らず、テスト用フォルダで練習してから本業務へ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64608" y="3813048"/>
            <a:ext cx="3730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3. 承認モード活用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64608" y="4160520"/>
            <a:ext cx="37307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「重要な操作の前に確認する」設定で、途中の判断を人が見て承認できる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今日の持ち帰り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AIエージェント = "次の時代のAI"、触った人が優位に立つ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109728" cy="100584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44168"/>
            <a:ext cx="8001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AIエージェント = "自分で動く" AI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1737360"/>
            <a:ext cx="8001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従来AI: 質問→回答 の1往復 / エージェント: 目標→自律実行 で完遂まで。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22860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286000"/>
            <a:ext cx="109728" cy="10058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395728"/>
            <a:ext cx="8001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触らないと本当の凄さは分からない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2788920"/>
            <a:ext cx="8001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説明を聞くだけでは半分の理解、月$20 の投資で 実際に触ってみるのが最短。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333756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19050">
            <a:solidFill>
              <a:srgbClr val="7C5F8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3337560"/>
            <a:ext cx="109728" cy="100584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447288"/>
            <a:ext cx="8001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まず1ヶ月、Claude Code か Codex を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3840480"/>
            <a:ext cx="8001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ChatGPT Plus / Claude Pro($20/月)で 十分体験できる。合わなければ解約OK。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" y="438912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4389120"/>
            <a:ext cx="109728" cy="100584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4498848"/>
            <a:ext cx="8001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触った経験が 数年後の差になる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5800" y="4892040"/>
            <a:ext cx="8001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AIエージェントは 2026-2027 で業務標準になる見込み、今のうちに触っておく価値大。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2026-07-30T11:54:13Z</dcterms:created>
  <dcterms:modified xsi:type="dcterms:W3CDTF">2026-07-30T11:54:13Z</dcterms:modified>
</cp:coreProperties>
</file>